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9" Type="http://schemas.openxmlformats.org/officeDocument/2006/relationships/viewProps" Target="viewProps.xml" /><Relationship Id="rId8" Type="http://schemas.openxmlformats.org/officeDocument/2006/relationships/presProps" Target="presProps.xml" /><Relationship Id="rId1" Type="http://schemas.openxmlformats.org/officeDocument/2006/relationships/slideMaster" Target="slideMasters/slideMaster1.xml" /><Relationship Id="rId11" Type="http://schemas.openxmlformats.org/officeDocument/2006/relationships/tableStyles" Target="tableStyles.xml" /><Relationship Id="rId1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medium.com/@ritusantra/population-v-s-sample-f17c40967257" TargetMode="External" /><Relationship Id="rId2" Type="http://schemas.openxmlformats.org/officeDocument/2006/relationships/image" Target="../media/image1.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jp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osit.co/download/rstudio-desktop/" TargetMode="Externa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Introduction to Biostatistics and R</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Lecture 1</a:t>
            </a:r>
            <a:br/>
            <a:br/>
            <a:r>
              <a:rPr/>
              <a:t>Miguel Fudolig</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Outline</a:t>
            </a:r>
          </a:p>
        </p:txBody>
      </p:sp>
      <p:sp>
        <p:nvSpPr>
          <p:cNvPr id="3" name="Content Placeholder 2"/>
          <p:cNvSpPr>
            <a:spLocks noGrp="1"/>
          </p:cNvSpPr>
          <p:nvPr>
            <p:ph idx="1"/>
          </p:nvPr>
        </p:nvSpPr>
        <p:spPr/>
        <p:txBody>
          <a:bodyPr/>
          <a:lstStyle/>
          <a:p>
            <a:pPr lvl="0"/>
            <a:r>
              <a:rPr/>
              <a:t>Introduction to Biostatistics</a:t>
            </a:r>
          </a:p>
          <a:p>
            <a:pPr lvl="0"/>
            <a:r>
              <a:rPr/>
              <a:t>Introduction to </a:t>
            </a:r>
            <a:r>
              <a:rPr>
                <a:latin typeface="Courier"/>
              </a:rPr>
              <a:t>R</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Introduction to Biostatistics</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spcBef>
                    <a:spcPts val="3000"/>
                  </a:spcBef>
                  <a:buNone/>
                </a:pPr>
                <a:r>
                  <a:rPr b="1" i="1"/>
                  <a:t>Datafication</a:t>
                </a:r>
              </a:p>
              <a:p>
                <a:pPr lvl="0" indent="0" marL="0">
                  <a:buNone/>
                </a:pPr>
                <a:r>
                  <a:rPr/>
                  <a:t>The field of statistics has grown in recent years primarily due to the </a:t>
                </a:r>
                <a:r>
                  <a:rPr i="1"/>
                  <a:t>datafication</a:t>
                </a:r>
                <a:r>
                  <a:rPr/>
                  <a:t> of the world.</a:t>
                </a:r>
              </a:p>
              <a:p>
                <a:pPr lvl="0" indent="0" marL="1270000">
                  <a:buNone/>
                </a:pPr>
                <a:r>
                  <a:rPr sz="2000" b="1"/>
                  <a:t>Important</a:t>
                </a:r>
              </a:p>
              <a:p>
                <a:pPr lvl="0" indent="0" marL="1270000">
                  <a:buNone/>
                </a:pPr>
                <a:r>
                  <a:rPr sz="2000"/>
                  <a:t>98% of all stored information is digital. Collected data is increasing even at this very moment.</a:t>
                </a:r>
              </a:p>
              <a:p>
                <a:pPr lvl="0" indent="0" marL="0">
                  <a:spcBef>
                    <a:spcPts val="3000"/>
                  </a:spcBef>
                  <a:buNone/>
                </a:pPr>
                <a:r>
                  <a:rPr b="1"/>
                  <a:t>Why statistics?</a:t>
                </a:r>
              </a:p>
              <a:p>
                <a:pPr lvl="0" indent="0" marL="1270000">
                  <a:buNone/>
                </a:pPr>
                <a:r>
                  <a:rPr sz="2000" b="1"/>
                  <a:t>Statistics</a:t>
                </a:r>
              </a:p>
              <a:p>
                <a:pPr lvl="0" indent="0" marL="1270000">
                  <a:buNone/>
                </a:pPr>
                <a:r>
                  <a:rPr sz="2000"/>
                  <a:t>Statistics is a field of study concerned with:</a:t>
                </a:r>
              </a:p>
              <a:p>
                <a:pPr lvl="0"/>
                <a:r>
                  <a:rPr sz="2000"/>
                  <a:t>The collection, organization, summarization, and analysis of data</a:t>
                </a:r>
              </a:p>
              <a:p>
                <a:pPr lvl="0"/>
                <a:r>
                  <a:rPr sz="2000"/>
                  <a:t>The drawing of inferences about a body of data when only a part of the data is observed.</a:t>
                </a:r>
              </a:p>
              <a:p>
                <a:pPr lvl="0" indent="0" marL="0">
                  <a:buNone/>
                </a:pPr>
                <a:r>
                  <a:rPr/>
                  <a:t>Data </a:t>
                </a:r>
                <a14:m>
                  <m:oMath xmlns:m="http://schemas.openxmlformats.org/officeDocument/2006/math">
                    <m:r>
                      <m:rPr>
                        <m:sty m:val="p"/>
                      </m:rPr>
                      <m:t>→</m:t>
                    </m:r>
                  </m:oMath>
                </a14:m>
                <a:r>
                  <a:rPr/>
                  <a:t> Numbers </a:t>
                </a:r>
                <a14:m>
                  <m:oMath xmlns:m="http://schemas.openxmlformats.org/officeDocument/2006/math">
                    <m:r>
                      <m:rPr>
                        <m:sty m:val="p"/>
                      </m:rPr>
                      <m:t>→</m:t>
                    </m:r>
                  </m:oMath>
                </a14:m>
                <a:r>
                  <a:rPr/>
                  <a:t> Information </a:t>
                </a:r>
                <a14:m>
                  <m:oMath xmlns:m="http://schemas.openxmlformats.org/officeDocument/2006/math">
                    <m:r>
                      <m:rPr>
                        <m:sty m:val="p"/>
                      </m:rPr>
                      <m:t>→</m:t>
                    </m:r>
                  </m:oMath>
                </a14:m>
                <a:r>
                  <a:rPr/>
                  <a:t> Investigation </a:t>
                </a:r>
                <a14:m>
                  <m:oMath xmlns:m="http://schemas.openxmlformats.org/officeDocument/2006/math">
                    <m:r>
                      <m:rPr>
                        <m:sty m:val="p"/>
                      </m:rPr>
                      <m:t>→</m:t>
                    </m:r>
                  </m:oMath>
                </a14:m>
                <a:r>
                  <a:rPr/>
                  <a:t> Communication</a:t>
                </a:r>
              </a:p>
              <a:p>
                <a:pPr lvl="0" indent="0" marL="0">
                  <a:spcBef>
                    <a:spcPts val="3000"/>
                  </a:spcBef>
                  <a:buNone/>
                </a:pPr>
                <a:r>
                  <a:rPr b="1"/>
                  <a:t>Statistical Thinking</a:t>
                </a:r>
              </a:p>
              <a:p>
                <a:pPr lvl="0" indent="0" marL="0">
                  <a:buNone/>
                </a:pPr>
                <a:r>
                  <a:rPr/>
                  <a:t>How is statistical thinking different from mathematical thinking?</a:t>
                </a:r>
              </a:p>
              <a:p>
                <a:pPr lvl="0" indent="0" marL="1270000">
                  <a:buNone/>
                </a:pPr>
                <a:r>
                  <a:rPr sz="2000" b="1"/>
                  <a:t>Statistical Thinking</a:t>
                </a:r>
              </a:p>
              <a:p>
                <a:pPr lvl="0" indent="0" marL="1270000">
                  <a:buNone/>
                </a:pPr>
                <a:r>
                  <a:rPr sz="2000"/>
                  <a:t>Statistical thinking involves understanding and analyzing data while accounting for uncertainty!</a:t>
                </a:r>
              </a:p>
              <a:p>
                <a:pPr lvl="0" indent="0" marL="0">
                  <a:spcBef>
                    <a:spcPts val="3000"/>
                  </a:spcBef>
                  <a:buNone/>
                </a:pPr>
                <a:r>
                  <a:rPr b="1"/>
                  <a:t>Activity</a:t>
                </a:r>
              </a:p>
              <a:p>
                <a:pPr lvl="0" indent="0" marL="0">
                  <a:buNone/>
                </a:pPr>
                <a:r>
                  <a:rPr/>
                  <a:t>Flip a coin 10 times. If you don’t have a coin, search “coin flip” on Google.</a:t>
                </a:r>
              </a:p>
              <a:p>
                <a:pPr lvl="0" indent="0" marL="1270000">
                  <a:buNone/>
                </a:pPr>
                <a:r>
                  <a:rPr sz="2000" b="1"/>
                  <a:t>Note</a:t>
                </a:r>
              </a:p>
              <a:p>
                <a:pPr lvl="0" indent="0" marL="1270000">
                  <a:buNone/>
                </a:pPr>
                <a:r>
                  <a:rPr sz="2000"/>
                  <a:t>How many times did you get heads? Do you think the coin you flipped was fair?</a:t>
                </a:r>
              </a:p>
              <a:p>
                <a:pPr lvl="0" indent="0" marL="0">
                  <a:spcBef>
                    <a:spcPts val="3000"/>
                  </a:spcBef>
                  <a:buNone/>
                </a:pPr>
                <a:r>
                  <a:rPr b="1"/>
                  <a:t>Extensions of Statistics</a:t>
                </a:r>
              </a:p>
              <a:p>
                <a:pPr lvl="0" indent="0" marL="0">
                  <a:spcBef>
                    <a:spcPts val="3000"/>
                  </a:spcBef>
                  <a:buNone/>
                </a:pPr>
                <a:r>
                  <a:rPr b="1"/>
                  <a:t>Biostatistics</a:t>
                </a:r>
              </a:p>
              <a:p>
                <a:pPr lvl="0" indent="0" marL="0">
                  <a:buNone/>
                </a:pPr>
                <a:r>
                  <a:rPr/>
                  <a:t>Biostatistics involves applying statistical concepts to data from the biological sciences, health sciences, and medicine.</a:t>
                </a:r>
              </a:p>
              <a:p>
                <a:pPr lvl="0" indent="0" marL="0">
                  <a:spcBef>
                    <a:spcPts val="3000"/>
                  </a:spcBef>
                  <a:buNone/>
                </a:pPr>
                <a:r>
                  <a:rPr b="1"/>
                  <a:t>Data Science</a:t>
                </a:r>
              </a:p>
              <a:p>
                <a:pPr lvl="0" indent="0" marL="0">
                  <a:buNone/>
                </a:pPr>
                <a:r>
                  <a:rPr/>
                  <a:t>Data science is the study of how to extract useful information from data using quantitative methods and theories from many fields. The field focuses on large data sets that were not originally designed or collected to address the question of interest.</a:t>
                </a:r>
              </a:p>
              <a:p>
                <a:pPr lvl="0" indent="0" marL="0">
                  <a:spcBef>
                    <a:spcPts val="3000"/>
                  </a:spcBef>
                  <a:buNone/>
                </a:pPr>
                <a:r>
                  <a:rPr b="1"/>
                  <a:t>Sources of Data</a:t>
                </a:r>
              </a:p>
              <a:p>
                <a:pPr lvl="0" indent="0" marL="0">
                  <a:buNone/>
                </a:pPr>
                <a:r>
                  <a:rPr/>
                  <a:t>Available data usually come from the following sources:</a:t>
                </a:r>
              </a:p>
              <a:p>
                <a:pPr lvl="0"/>
                <a:r>
                  <a:rPr/>
                  <a:t>Records</a:t>
                </a:r>
              </a:p>
              <a:p>
                <a:pPr lvl="0"/>
                <a:r>
                  <a:rPr/>
                  <a:t>Surveys</a:t>
                </a:r>
              </a:p>
              <a:p>
                <a:pPr lvl="0"/>
                <a:r>
                  <a:rPr/>
                  <a:t>Experiments</a:t>
                </a:r>
              </a:p>
              <a:p>
                <a:pPr lvl="0"/>
                <a:r>
                  <a:rPr/>
                  <a:t>Data Banks</a:t>
                </a:r>
              </a:p>
              <a:p>
                <a:pPr lvl="0"/>
                <a:r>
                  <a:rPr/>
                  <a:t>Prior Literature</a:t>
                </a:r>
              </a:p>
              <a:p>
                <a:pPr lvl="0" indent="0" marL="0">
                  <a:spcBef>
                    <a:spcPts val="3000"/>
                  </a:spcBef>
                  <a:buNone/>
                </a:pPr>
                <a:r>
                  <a:rPr b="1"/>
                  <a:t>Categories of Statistics</a:t>
                </a:r>
              </a:p>
              <a:p>
                <a:pPr lvl="0" indent="0" marL="0">
                  <a:spcBef>
                    <a:spcPts val="3000"/>
                  </a:spcBef>
                  <a:buNone/>
                </a:pPr>
                <a:r>
                  <a:rPr b="1"/>
                  <a:t>Descriptive Statistics</a:t>
                </a:r>
              </a:p>
              <a:p>
                <a:pPr lvl="0" indent="0" marL="0">
                  <a:buNone/>
                </a:pPr>
                <a:r>
                  <a:rPr/>
                  <a:t>Descriptive statistics are used to describe properties of complex sets of numbers. Summary statistics are a good example of descriptive statistics.</a:t>
                </a:r>
              </a:p>
              <a:p>
                <a:pPr lvl="0" indent="0" marL="0">
                  <a:spcBef>
                    <a:spcPts val="3000"/>
                  </a:spcBef>
                  <a:buNone/>
                </a:pPr>
                <a:r>
                  <a:rPr b="1"/>
                  <a:t>Inferential Statistics</a:t>
                </a:r>
              </a:p>
              <a:p>
                <a:pPr lvl="0" indent="0" marL="0">
                  <a:buNone/>
                </a:pPr>
                <a:r>
                  <a:rPr/>
                  <a:t>Inferential statistics are used to infer information from a smaller group (sample) to a more general group (population).</a:t>
                </a:r>
              </a:p>
              <a:p>
                <a:pPr lvl="0" indent="0" marL="0">
                  <a:spcBef>
                    <a:spcPts val="3000"/>
                  </a:spcBef>
                  <a:buNone/>
                </a:pPr>
                <a:r>
                  <a:rPr b="1"/>
                  <a:t>Random Variables</a:t>
                </a:r>
              </a:p>
              <a:p>
                <a:pPr lvl="0" indent="0" marL="0">
                  <a:buNone/>
                </a:pPr>
                <a:r>
                  <a:rPr/>
                  <a:t>Random variables have values obtained arise as a result of chance factors, so that they cannot be exactly predicted in advance. Values of random variables resulting from measurement procedures are referred to as </a:t>
                </a:r>
                <a:r>
                  <a:rPr i="1"/>
                  <a:t>observations/measurements</a:t>
                </a:r>
                <a:r>
                  <a:rPr/>
                  <a:t>.</a:t>
                </a:r>
              </a:p>
              <a:p>
                <a:pPr lvl="0" indent="0" marL="1270000">
                  <a:buNone/>
                </a:pPr>
                <a:r>
                  <a:rPr sz="2000" b="1"/>
                  <a:t>Note</a:t>
                </a:r>
              </a:p>
              <a:p>
                <a:pPr lvl="0" indent="0" marL="1270000">
                  <a:buNone/>
                </a:pPr>
                <a:r>
                  <a:rPr sz="2000"/>
                  <a:t>Random variables could be classified as qualitative or quantitative.</a:t>
                </a:r>
              </a:p>
              <a:p>
                <a:pPr lvl="0" indent="0" marL="0">
                  <a:spcBef>
                    <a:spcPts val="3000"/>
                  </a:spcBef>
                  <a:buNone/>
                </a:pPr>
                <a:r>
                  <a:rPr b="1"/>
                  <a:t>Random Variable Types</a:t>
                </a:r>
              </a:p>
              <a:p>
                <a:pPr lvl="0" indent="0" marL="0">
                  <a:spcBef>
                    <a:spcPts val="3000"/>
                  </a:spcBef>
                  <a:buNone/>
                </a:pPr>
                <a:r>
                  <a:rPr b="1"/>
                  <a:t>Quantitative Variables</a:t>
                </a:r>
              </a:p>
              <a:p>
                <a:pPr lvl="0" indent="0" marL="0">
                  <a:buNone/>
                </a:pPr>
                <a:r>
                  <a:rPr/>
                  <a:t>Quantitative variables are variables that can be measured or characterized with a numerical value.</a:t>
                </a:r>
              </a:p>
              <a:p>
                <a:pPr lvl="0" indent="0" marL="1270000">
                  <a:buNone/>
                </a:pPr>
                <a:r>
                  <a:rPr sz="2000" b="1"/>
                  <a:t>Discrete Random Variables</a:t>
                </a:r>
              </a:p>
              <a:p>
                <a:pPr lvl="0" indent="0" marL="1270000">
                  <a:buNone/>
                </a:pPr>
                <a:r>
                  <a:rPr sz="2000"/>
                  <a:t>A </a:t>
                </a:r>
                <a:r>
                  <a:rPr sz="2000" b="1"/>
                  <a:t>discrete variable</a:t>
                </a:r>
                <a:r>
                  <a:rPr sz="2000"/>
                  <a:t> is characterized by gaps or interruptions in the values that it can assume.</a:t>
                </a:r>
              </a:p>
              <a:p>
                <a:pPr lvl="0" indent="0" marL="1270000">
                  <a:buNone/>
                </a:pPr>
                <a:r>
                  <a:rPr sz="2000"/>
                  <a:t>Example: Customer counts at Cafe Rio, Number of missing teeth, Likert Scale scores</a:t>
                </a:r>
              </a:p>
              <a:p>
                <a:pPr lvl="0" indent="0" marL="1270000">
                  <a:buNone/>
                </a:pPr>
                <a:r>
                  <a:rPr sz="2000" b="1"/>
                  <a:t>Continuous Random Variables</a:t>
                </a:r>
              </a:p>
              <a:p>
                <a:pPr lvl="0" indent="0" marL="1270000">
                  <a:buNone/>
                </a:pPr>
                <a:r>
                  <a:rPr sz="2000"/>
                  <a:t>A </a:t>
                </a:r>
                <a:r>
                  <a:rPr sz="2000" b="1"/>
                  <a:t>continuous variable</a:t>
                </a:r>
                <a:r>
                  <a:rPr sz="2000"/>
                  <a:t> is characterized by gaps or interruptions in the values that it can assume.</a:t>
                </a:r>
              </a:p>
              <a:p>
                <a:pPr lvl="0" indent="0" marL="1270000">
                  <a:buNone/>
                </a:pPr>
                <a:r>
                  <a:rPr sz="2000"/>
                  <a:t>Example: Speed, Weight, Time</a:t>
                </a:r>
              </a:p>
              <a:p>
                <a:pPr lvl="0" indent="0" marL="0">
                  <a:spcBef>
                    <a:spcPts val="3000"/>
                  </a:spcBef>
                  <a:buNone/>
                </a:pPr>
                <a:r>
                  <a:rPr b="1"/>
                  <a:t>Qualitative Variables</a:t>
                </a:r>
              </a:p>
              <a:p>
                <a:pPr lvl="0" indent="0" marL="0">
                  <a:buNone/>
                </a:pPr>
                <a:r>
                  <a:rPr/>
                  <a:t>Qualitative variables cannot be measured numerically, but can be described categorically. Discrete and qualitative variables are also known as </a:t>
                </a:r>
                <a:r>
                  <a:rPr i="1"/>
                  <a:t>categorical variables</a:t>
                </a:r>
                <a:r>
                  <a:rPr/>
                  <a:t>.</a:t>
                </a:r>
              </a:p>
              <a:p>
                <a:pPr lvl="0" indent="0" marL="0">
                  <a:spcBef>
                    <a:spcPts val="3000"/>
                  </a:spcBef>
                  <a:buNone/>
                </a:pPr>
                <a:r>
                  <a:rPr b="1"/>
                  <a:t>Data Types</a:t>
                </a:r>
              </a:p>
              <a:p>
                <a:pPr lvl="0" indent="0" marL="0">
                  <a:spcBef>
                    <a:spcPts val="3000"/>
                  </a:spcBef>
                  <a:buNone/>
                </a:pPr>
                <a:r>
                  <a:rPr b="1"/>
                  <a:t>Nominal Data</a:t>
                </a:r>
              </a:p>
              <a:p>
                <a:pPr lvl="0" indent="0" marL="0">
                  <a:buNone/>
                </a:pPr>
                <a:r>
                  <a:rPr/>
                  <a:t>As the name implies, nominal data consist of “naming” observations or classifying them into various mutually exclusive and collectively exhaustive categories.</a:t>
                </a:r>
              </a:p>
              <a:p>
                <a:pPr lvl="0" indent="0" marL="0">
                  <a:buNone/>
                </a:pPr>
                <a:r>
                  <a:rPr/>
                  <a:t>Examples: Assigned sex at birth (male,female); HHS Regions (HHS Regions 1-10)</a:t>
                </a:r>
              </a:p>
              <a:p>
                <a:pPr lvl="0" indent="0" marL="1270000">
                  <a:buNone/>
                </a:pPr>
                <a:r>
                  <a:rPr sz="2000" b="1"/>
                  <a:t>Important</a:t>
                </a:r>
              </a:p>
              <a:p>
                <a:pPr lvl="0" indent="0" marL="1270000">
                  <a:buNone/>
                </a:pPr>
                <a:r>
                  <a:rPr sz="2000"/>
                  <a:t>Nominal data are typically qualitative in nature and does not account for any ordering in variable levels.</a:t>
                </a:r>
              </a:p>
              <a:p>
                <a:pPr lvl="0" indent="0" marL="0">
                  <a:spcBef>
                    <a:spcPts val="3000"/>
                  </a:spcBef>
                  <a:buNone/>
                </a:pPr>
                <a:r>
                  <a:rPr b="1"/>
                  <a:t>Ordinal Data</a:t>
                </a:r>
              </a:p>
              <a:p>
                <a:pPr lvl="0" indent="0" marL="0">
                  <a:buNone/>
                </a:pPr>
                <a:r>
                  <a:rPr/>
                  <a:t>Ordinal data are for variables with values with inherent ordering.</a:t>
                </a:r>
              </a:p>
              <a:p>
                <a:pPr lvl="0" indent="0" marL="0">
                  <a:buNone/>
                </a:pPr>
                <a:r>
                  <a:rPr/>
                  <a:t>Examples: Shirt size (Small, Medium, Large, XL); Socioeconomic status (Low, Medium, High)</a:t>
                </a:r>
              </a:p>
              <a:p>
                <a:pPr lvl="0" indent="0" marL="1270000">
                  <a:buNone/>
                </a:pPr>
                <a:r>
                  <a:rPr sz="2000" b="1"/>
                  <a:t>Important</a:t>
                </a:r>
              </a:p>
              <a:p>
                <a:pPr lvl="0" indent="0" marL="1270000">
                  <a:buNone/>
                </a:pPr>
                <a:r>
                  <a:rPr sz="2000"/>
                  <a:t>Ordinal data can include discrete variables and some qualitative variables.</a:t>
                </a:r>
              </a:p>
              <a:p>
                <a:pPr lvl="0" indent="0" marL="0">
                  <a:spcBef>
                    <a:spcPts val="3000"/>
                  </a:spcBef>
                  <a:buNone/>
                </a:pPr>
                <a:r>
                  <a:rPr b="1"/>
                  <a:t>Interval Data</a:t>
                </a:r>
              </a:p>
              <a:p>
                <a:pPr lvl="0" indent="0" marL="0">
                  <a:buNone/>
                </a:pPr>
                <a:r>
                  <a:rPr/>
                  <a:t>Interval data includes measurements that can be ordered and a distance metric can be defined between two measurements. Interval scales have equal intervals between values with arbitrary zero points.</a:t>
                </a:r>
              </a:p>
              <a:p>
                <a:pPr lvl="0" indent="0" marL="0">
                  <a:buNone/>
                </a:pPr>
                <a:r>
                  <a:rPr/>
                  <a:t>Examples: Temperature, IQ</a:t>
                </a:r>
              </a:p>
              <a:p>
                <a:pPr lvl="0" indent="0" marL="0">
                  <a:spcBef>
                    <a:spcPts val="3000"/>
                  </a:spcBef>
                  <a:buNone/>
                </a:pPr>
                <a:r>
                  <a:rPr b="1"/>
                  <a:t>Ratio Data</a:t>
                </a:r>
              </a:p>
              <a:p>
                <a:pPr lvl="0" indent="0" marL="0">
                  <a:buNone/>
                </a:pPr>
                <a:r>
                  <a:rPr/>
                  <a:t>Ratio data is similar to interval data, but with an absolute zero measurement defined as the “absence” of the variable being measured.</a:t>
                </a:r>
              </a:p>
              <a:p>
                <a:pPr lvl="0" indent="0" marL="0">
                  <a:buNone/>
                </a:pPr>
                <a:r>
                  <a:rPr/>
                  <a:t>Examples: Weight, Height</a:t>
                </a:r>
              </a:p>
              <a:p>
                <a:pPr lvl="0" indent="0" marL="0">
                  <a:spcBef>
                    <a:spcPts val="3000"/>
                  </a:spcBef>
                  <a:buNone/>
                </a:pPr>
                <a:r>
                  <a:rPr b="1"/>
                  <a:t>Exercise</a:t>
                </a:r>
              </a:p>
              <a:p>
                <a:pPr lvl="0" indent="0" marL="0">
                  <a:spcBef>
                    <a:spcPts val="3000"/>
                  </a:spcBef>
                  <a:buNone/>
                </a:pPr>
                <a:r>
                  <a:rPr b="1"/>
                  <a:t>Question</a:t>
                </a:r>
              </a:p>
              <a:p>
                <a:pPr lvl="0" indent="0" marL="0">
                  <a:buNone/>
                </a:pPr>
                <a:r>
                  <a:rPr/>
                  <a:t>Identify the type of data/variable for the following:</a:t>
                </a:r>
              </a:p>
              <a:p>
                <a:pPr lvl="0"/>
                <a:r>
                  <a:rPr/>
                  <a:t>BMI</a:t>
                </a:r>
              </a:p>
              <a:p>
                <a:pPr lvl="0"/>
                <a:r>
                  <a:rPr/>
                  <a:t>Satisfaction Scale (Unsatisfied, Moderately Satisfied, Satisfied, Very Satisfied)</a:t>
                </a:r>
              </a:p>
              <a:p>
                <a:pPr lvl="0"/>
                <a:r>
                  <a:rPr/>
                  <a:t>Eye Color</a:t>
                </a:r>
              </a:p>
              <a:p>
                <a:pPr lvl="0"/>
                <a:r>
                  <a:rPr/>
                  <a:t>Credit Rating</a:t>
                </a:r>
              </a:p>
              <a:p>
                <a:pPr lvl="0" indent="0" marL="0">
                  <a:spcBef>
                    <a:spcPts val="3000"/>
                  </a:spcBef>
                  <a:buNone/>
                </a:pPr>
                <a:r>
                  <a:rPr b="1"/>
                  <a:t>Answers</a:t>
                </a:r>
              </a:p>
              <a:p>
                <a:pPr lvl="0"/>
                <a:r>
                  <a:rPr/>
                  <a:t>BMI (</a:t>
                </a:r>
                <a:r>
                  <a:rPr b="1"/>
                  <a:t>ratio</a:t>
                </a:r>
                <a:r>
                  <a:rPr/>
                  <a:t>)</a:t>
                </a:r>
              </a:p>
              <a:p>
                <a:pPr lvl="0"/>
                <a:r>
                  <a:rPr/>
                  <a:t>Satisfaction Scale (Unsatisfied, Moderately Satisfied, Satisfied, Very Satisfied) (</a:t>
                </a:r>
                <a:r>
                  <a:rPr b="1"/>
                  <a:t>ordinal</a:t>
                </a:r>
                <a:r>
                  <a:rPr/>
                  <a:t>)</a:t>
                </a:r>
              </a:p>
              <a:p>
                <a:pPr lvl="0"/>
                <a:r>
                  <a:rPr/>
                  <a:t>Eye Color (</a:t>
                </a:r>
                <a:r>
                  <a:rPr b="1"/>
                  <a:t>nominal</a:t>
                </a:r>
                <a:r>
                  <a:rPr/>
                  <a:t>)</a:t>
                </a:r>
              </a:p>
              <a:p>
                <a:pPr lvl="0"/>
                <a:r>
                  <a:rPr/>
                  <a:t>Credit Score (</a:t>
                </a:r>
                <a:r>
                  <a:rPr b="1"/>
                  <a:t>interval</a:t>
                </a:r>
                <a:r>
                  <a:rPr/>
                  <a:t>)</a:t>
                </a:r>
              </a:p>
              <a:p>
                <a:pPr lvl="0" indent="0" marL="0">
                  <a:spcBef>
                    <a:spcPts val="3000"/>
                  </a:spcBef>
                  <a:buNone/>
                </a:pPr>
                <a:r>
                  <a:rPr b="1"/>
                  <a:t>Population vs. Sample</a:t>
                </a:r>
              </a:p>
              <a:p>
                <a:pPr lvl="0" indent="0" marL="1270000">
                  <a:buNone/>
                </a:pPr>
                <a:r>
                  <a:rPr sz="2000" b="1"/>
                  <a:t>Population</a:t>
                </a:r>
              </a:p>
              <a:p>
                <a:pPr lvl="0" indent="0" marL="1270000">
                  <a:buNone/>
                </a:pPr>
                <a:r>
                  <a:rPr sz="2000"/>
                  <a:t>A population is the largest collection of entities for which we have an interest at a particular time. Measurements of some variable from these entities would generate a population of values for that variable.</a:t>
                </a:r>
              </a:p>
              <a:p>
                <a:pPr lvl="0" indent="0" marL="1270000">
                  <a:buNone/>
                </a:pPr>
                <a:r>
                  <a:rPr sz="2000"/>
                  <a:t>An exact value calculated from a population is referred to as a </a:t>
                </a:r>
                <a:r>
                  <a:rPr sz="2000" b="1"/>
                  <a:t>parameter</a:t>
                </a:r>
                <a:r>
                  <a:rPr sz="2000"/>
                  <a:t>.</a:t>
                </a:r>
              </a:p>
              <a:p>
                <a:pPr lvl="0" indent="0" marL="1270000">
                  <a:buNone/>
                </a:pPr>
                <a:r>
                  <a:rPr sz="2000" b="1"/>
                  <a:t>Sample</a:t>
                </a:r>
              </a:p>
              <a:p>
                <a:pPr lvl="0" indent="0" marL="1270000">
                  <a:buNone/>
                </a:pPr>
                <a:r>
                  <a:rPr sz="2000"/>
                  <a:t>A sample is a part of the population.</a:t>
                </a:r>
              </a:p>
              <a:p>
                <a:pPr lvl="0" indent="0" marL="1270000">
                  <a:buNone/>
                </a:pPr>
                <a:r>
                  <a:rPr sz="2000"/>
                  <a:t>An exact value calculated from a sample is referred to as a </a:t>
                </a:r>
                <a:r>
                  <a:rPr sz="2000" b="1"/>
                  <a:t>statistic</a:t>
                </a:r>
                <a:r>
                  <a:rPr sz="2000"/>
                  <a:t>.</a:t>
                </a:r>
              </a:p>
              <a:p>
                <a:pPr lvl="0" indent="0" marL="0">
                  <a:spcBef>
                    <a:spcPts val="3000"/>
                  </a:spcBef>
                  <a:buNone/>
                </a:pPr>
                <a:r>
                  <a:rPr b="1"/>
                  <a:t>Population vs. Sample</a:t>
                </a:r>
              </a:p>
            </p:txBody>
          </p:sp>
        </mc:Choice>
      </mc:AlternateContent>
      <p:pic>
        <p:nvPicPr>
          <p:cNvPr descr="figs/1-sample.png" id="0" name="Picture 1"/>
          <p:cNvPicPr>
            <a:picLocks noGrp="1" noChangeAspect="1"/>
          </p:cNvPicPr>
          <p:nvPr/>
        </p:nvPicPr>
        <p:blipFill>
          <a:blip r:embed="rId2"/>
          <a:stretch>
            <a:fillRect/>
          </a:stretch>
        </p:blipFill>
        <p:spPr bwMode="auto">
          <a:xfrm>
            <a:off x="3568700" y="698500"/>
            <a:ext cx="5105400" cy="28702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Taken from: </a:t>
            </a:r>
            <a:r>
              <a:rPr>
                <a:hlinkClick r:id="rId3"/>
              </a:rPr>
              <a:t>https://medium.com/@ritusantra/population-v-s-sample-f17c40967257</a:t>
            </a:r>
          </a:p>
        </p:txBody>
      </p:sp>
      <p:sp>
        <p:nvSpPr>
          <p:cNvPr id="3" name="Content Placeholder 2"/>
          <p:cNvSpPr>
            <a:spLocks noGrp="1"/>
          </p:cNvSpPr>
          <p:nvPr>
            <p:ph idx="1"/>
          </p:nvPr>
        </p:nvSpPr>
        <p:spPr/>
        <p:txBody>
          <a:bodyPr/>
          <a:lstStyle/>
          <a:p>
            <a:pPr lvl="0" indent="0" marL="0">
              <a:spcBef>
                <a:spcPts val="3000"/>
              </a:spcBef>
              <a:buNone/>
            </a:pPr>
            <a:r>
              <a:rPr b="1"/>
              <a:t>How to Sample</a:t>
            </a:r>
          </a:p>
          <a:p>
            <a:pPr lvl="0" indent="0" marL="0">
              <a:buNone/>
            </a:pPr>
            <a:r>
              <a:rPr/>
              <a:t>Sampling can be grouped into two broad categories: probability-based/random sampling and convenience sampling.</a:t>
            </a:r>
          </a:p>
          <a:p>
            <a:pPr lvl="0" indent="0" marL="0">
              <a:spcBef>
                <a:spcPts val="3000"/>
              </a:spcBef>
              <a:buNone/>
            </a:pPr>
            <a:r>
              <a:rPr b="1"/>
              <a:t>Random Samples</a:t>
            </a:r>
          </a:p>
          <a:p>
            <a:pPr lvl="0" indent="0" marL="0">
              <a:buNone/>
            </a:pPr>
            <a:r>
              <a:rPr/>
              <a:t>A sample is a random sample when the probability with which every respondent was sampled is known. These probabilities are not necessarily equal. Types of random sampling include:</a:t>
            </a:r>
          </a:p>
          <a:p>
            <a:pPr lvl="0"/>
            <a:r>
              <a:rPr/>
              <a:t>Simple random sampling</a:t>
            </a:r>
          </a:p>
          <a:p>
            <a:pPr lvl="0"/>
            <a:r>
              <a:rPr/>
              <a:t>Stratified random sampling</a:t>
            </a:r>
          </a:p>
          <a:p>
            <a:pPr lvl="0"/>
            <a:r>
              <a:rPr/>
              <a:t>Cluster sampling</a:t>
            </a:r>
          </a:p>
          <a:p>
            <a:pPr lvl="0" indent="0" marL="0">
              <a:spcBef>
                <a:spcPts val="3000"/>
              </a:spcBef>
              <a:buNone/>
            </a:pPr>
            <a:r>
              <a:rPr b="1"/>
              <a:t>Convenience Samples</a:t>
            </a:r>
          </a:p>
          <a:p>
            <a:pPr lvl="0" indent="0" marL="0">
              <a:buNone/>
            </a:pPr>
            <a:r>
              <a:rPr/>
              <a:t>A sample is a convenience sample when the respondents are selected based on ease of access or availability. This could be a potential source of bias.</a:t>
            </a:r>
          </a:p>
          <a:p>
            <a:pPr lvl="0" indent="0" marL="0">
              <a:spcBef>
                <a:spcPts val="3000"/>
              </a:spcBef>
              <a:buNone/>
            </a:pPr>
            <a:r>
              <a:rPr b="1"/>
              <a:t>Scientific Method</a:t>
            </a:r>
          </a:p>
          <a:p>
            <a:pPr lvl="0" indent="0" marL="0">
              <a:buNone/>
            </a:pPr>
            <a:r>
              <a:rPr/>
              <a:t>The scientific method is a process by which scientific information is collected, analyzed, and reported in order to produce unbiased and replicable results in an effort to provide an accurate representation of observable phenomena.</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figs/1-scimethod.jpg" id="0" name="Picture 1"/>
          <p:cNvPicPr>
            <a:picLocks noGrp="1" noChangeAspect="1"/>
          </p:cNvPicPr>
          <p:nvPr/>
        </p:nvPicPr>
        <p:blipFill>
          <a:blip r:embed="rId2"/>
          <a:stretch>
            <a:fillRect/>
          </a:stretch>
        </p:blipFill>
        <p:spPr bwMode="auto">
          <a:xfrm>
            <a:off x="2425700" y="1193800"/>
            <a:ext cx="4292600" cy="33909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Introduction to </a:t>
            </a:r>
            <a:r>
              <a:rPr>
                <a:latin typeface="Courier"/>
              </a:rPr>
              <a:t>R</a:t>
            </a:r>
          </a:p>
        </p:txBody>
      </p:sp>
      <p:sp>
        <p:nvSpPr>
          <p:cNvPr id="3" name="Content Placeholder 2"/>
          <p:cNvSpPr>
            <a:spLocks noGrp="1"/>
          </p:cNvSpPr>
          <p:nvPr>
            <p:ph idx="1"/>
          </p:nvPr>
        </p:nvSpPr>
        <p:spPr/>
        <p:txBody>
          <a:bodyPr/>
          <a:lstStyle/>
          <a:p>
            <a:pPr lvl="0" indent="0" marL="0">
              <a:spcBef>
                <a:spcPts val="3000"/>
              </a:spcBef>
              <a:buNone/>
            </a:pPr>
            <a:r>
              <a:rPr b="1"/>
              <a:t>Installation</a:t>
            </a:r>
          </a:p>
          <a:p>
            <a:pPr lvl="0" indent="0" marL="0">
              <a:buNone/>
            </a:pPr>
            <a:r>
              <a:rPr/>
              <a:t>You can install </a:t>
            </a:r>
            <a:r>
              <a:rPr>
                <a:latin typeface="Courier"/>
              </a:rPr>
              <a:t>R</a:t>
            </a:r>
            <a:r>
              <a:rPr/>
              <a:t> and </a:t>
            </a:r>
            <a:r>
              <a:rPr>
                <a:latin typeface="Courier"/>
              </a:rPr>
              <a:t>RStudio</a:t>
            </a:r>
            <a:r>
              <a:rPr/>
              <a:t> on your personal computers and laptops by following the instructions on this page: </a:t>
            </a:r>
            <a:r>
              <a:rPr>
                <a:hlinkClick r:id="rId2"/>
              </a:rPr>
              <a:t>https://posit.co/download/rstudio-desktop/</a:t>
            </a:r>
          </a:p>
          <a:p>
            <a:pPr lvl="0" indent="0" marL="0">
              <a:buNone/>
            </a:pPr>
            <a:r>
              <a:rPr>
                <a:latin typeface="Courier"/>
              </a:rPr>
              <a:t>RStudio</a:t>
            </a:r>
            <a:r>
              <a:rPr/>
              <a:t> is currently installed on the classroom computers.</a:t>
            </a:r>
          </a:p>
          <a:p>
            <a:pPr lvl="0" indent="0" marL="0">
              <a:spcBef>
                <a:spcPts val="3000"/>
              </a:spcBef>
              <a:buNone/>
            </a:pPr>
            <a:r>
              <a:rPr b="1"/>
              <a:t>Basic Programming Terminology</a:t>
            </a:r>
          </a:p>
          <a:p>
            <a:pPr lvl="0"/>
            <a:r>
              <a:rPr/>
              <a:t>Source Code: A text listing of commands to be compiled or assembled into an executable computer program.</a:t>
            </a:r>
          </a:p>
          <a:p>
            <a:pPr lvl="0"/>
            <a:r>
              <a:rPr/>
              <a:t>Running Code: The act of telling </a:t>
            </a:r>
            <a:r>
              <a:rPr>
                <a:latin typeface="Courier"/>
              </a:rPr>
              <a:t>R</a:t>
            </a:r>
            <a:r>
              <a:rPr/>
              <a:t> to perform an act by giving it commands through source code.</a:t>
            </a:r>
          </a:p>
          <a:p>
            <a:pPr lvl="0"/>
            <a:r>
              <a:rPr/>
              <a:t>Console Pane: Where </a:t>
            </a:r>
            <a:r>
              <a:rPr>
                <a:latin typeface="Courier"/>
              </a:rPr>
              <a:t>R</a:t>
            </a:r>
            <a:r>
              <a:rPr/>
              <a:t> commands are entered</a:t>
            </a:r>
          </a:p>
          <a:p>
            <a:pPr lvl="0" indent="0" marL="1270000">
              <a:buNone/>
            </a:pPr>
            <a:r>
              <a:rPr sz="2000" b="1"/>
              <a:t>Important</a:t>
            </a:r>
          </a:p>
          <a:p>
            <a:pPr lvl="0" indent="0" marL="1270000">
              <a:buNone/>
            </a:pPr>
            <a:r>
              <a:rPr sz="2000"/>
              <a:t>There are different types of programming data types such as integers, doubles/numerics, logicals, and characters.</a:t>
            </a:r>
          </a:p>
          <a:p>
            <a:pPr lvl="0"/>
            <a:r>
              <a:rPr sz="2000"/>
              <a:t>Integers (int) have values like -1,0,2</a:t>
            </a:r>
          </a:p>
          <a:p>
            <a:pPr lvl="0"/>
            <a:r>
              <a:rPr sz="2000"/>
              <a:t>Numerics (dbl, num) are numbers including integers and decimals,</a:t>
            </a:r>
          </a:p>
          <a:p>
            <a:pPr lvl="0"/>
            <a:r>
              <a:rPr sz="2000"/>
              <a:t>Logicals (logi) are either </a:t>
            </a:r>
            <a:r>
              <a:rPr sz="2000">
                <a:latin typeface="Courier"/>
              </a:rPr>
              <a:t>TRUE</a:t>
            </a:r>
            <a:r>
              <a:rPr sz="2000"/>
              <a:t> or </a:t>
            </a:r>
            <a:r>
              <a:rPr sz="2000">
                <a:latin typeface="Courier"/>
              </a:rPr>
              <a:t>FALSE</a:t>
            </a:r>
          </a:p>
          <a:p>
            <a:pPr lvl="0"/>
            <a:r>
              <a:rPr sz="2000"/>
              <a:t>Characters (chr)are text variables such as “Hello, World”, “Female”, “Yes”</a:t>
            </a:r>
          </a:p>
          <a:p>
            <a:pPr lvl="0" indent="0" marL="0">
              <a:spcBef>
                <a:spcPts val="3000"/>
              </a:spcBef>
              <a:buNone/>
            </a:pPr>
            <a:r>
              <a:rPr b="1"/>
              <a:t>Basic Programming Terminology</a:t>
            </a:r>
          </a:p>
          <a:p>
            <a:pPr lvl="0" indent="0" marL="0">
              <a:spcBef>
                <a:spcPts val="3000"/>
              </a:spcBef>
              <a:buNone/>
            </a:pPr>
            <a:r>
              <a:rPr b="1"/>
              <a:t>Vectors</a:t>
            </a:r>
          </a:p>
          <a:p>
            <a:pPr lvl="0" indent="0" marL="0">
              <a:buNone/>
            </a:pPr>
            <a:r>
              <a:rPr/>
              <a:t>Vectors are a series of values. These can be created using the </a:t>
            </a:r>
            <a:r>
              <a:rPr>
                <a:latin typeface="Courier"/>
              </a:rPr>
              <a:t>c()</a:t>
            </a:r>
            <a:r>
              <a:rPr/>
              <a:t> function, known as the combine/concatenate function.</a:t>
            </a:r>
          </a:p>
          <a:p>
            <a:pPr lvl="0" indent="0">
              <a:buNone/>
            </a:pPr>
            <a:r>
              <a:rPr>
                <a:latin typeface="Courier"/>
              </a:rPr>
              <a:t>[1] 1 2 3</a:t>
            </a:r>
          </a:p>
          <a:p>
            <a:pPr lvl="0" indent="0">
              <a:buNone/>
            </a:pPr>
            <a:r>
              <a:rPr>
                <a:latin typeface="Courier"/>
              </a:rPr>
              <a:t>[1] "A" "B" "C"</a:t>
            </a:r>
          </a:p>
          <a:p>
            <a:pPr lvl="0" indent="0" marL="0">
              <a:spcBef>
                <a:spcPts val="3000"/>
              </a:spcBef>
              <a:buNone/>
            </a:pPr>
            <a:r>
              <a:rPr b="1"/>
              <a:t>Variables</a:t>
            </a:r>
          </a:p>
          <a:p>
            <a:pPr lvl="0" indent="0" marL="0">
              <a:buNone/>
            </a:pPr>
            <a:r>
              <a:rPr/>
              <a:t>You can store different data types to variables using the </a:t>
            </a:r>
            <a:r>
              <a:rPr>
                <a:latin typeface="Courier"/>
              </a:rPr>
              <a:t>&lt;-</a:t>
            </a:r>
            <a:r>
              <a:rPr/>
              <a:t> sign.</a:t>
            </a:r>
          </a:p>
          <a:p>
            <a:pPr lvl="0" indent="0">
              <a:buNone/>
            </a:pPr>
            <a:r>
              <a:rPr>
                <a:latin typeface="Courier"/>
              </a:rPr>
              <a:t>[1] 1 2 3</a:t>
            </a:r>
          </a:p>
          <a:p>
            <a:pPr lvl="0" indent="0">
              <a:buNone/>
            </a:pPr>
            <a:r>
              <a:rPr>
                <a:latin typeface="Courier"/>
              </a:rPr>
              <a:t>[1] 3 4 5</a:t>
            </a:r>
          </a:p>
          <a:p>
            <a:pPr lvl="0" indent="0">
              <a:buNone/>
            </a:pPr>
            <a:r>
              <a:rPr>
                <a:latin typeface="Courier"/>
              </a:rPr>
              <a:t>[1] "A" "B" "C"</a:t>
            </a:r>
          </a:p>
          <a:p>
            <a:pPr lvl="0" indent="0" marL="0">
              <a:spcBef>
                <a:spcPts val="3000"/>
              </a:spcBef>
              <a:buNone/>
            </a:pPr>
            <a:r>
              <a:rPr b="1"/>
              <a:t>Factors</a:t>
            </a:r>
          </a:p>
          <a:p>
            <a:pPr lvl="0" indent="0" marL="0">
              <a:buNone/>
            </a:pPr>
            <a:r>
              <a:rPr/>
              <a:t>Categorical data are commonly represented in </a:t>
            </a:r>
            <a:r>
              <a:rPr>
                <a:latin typeface="Courier"/>
              </a:rPr>
              <a:t>R</a:t>
            </a:r>
            <a:r>
              <a:rPr/>
              <a:t> as factors.</a:t>
            </a:r>
          </a:p>
          <a:p>
            <a:pPr lvl="0" indent="0">
              <a:buNone/>
            </a:pPr>
            <a:r>
              <a:rPr>
                <a:latin typeface="Courier"/>
              </a:rPr>
              <a:t>[1] 18-39 40-59 60+  
Levels: 18-39 40-59 60+</a:t>
            </a:r>
          </a:p>
          <a:p>
            <a:pPr lvl="0" indent="0">
              <a:buNone/>
            </a:pPr>
            <a:r>
              <a:rPr>
                <a:latin typeface="Courier"/>
              </a:rPr>
              <a:t>[1] "Disagree"          "Strongly Disagree" "Agree"            
[4] "Neutral"           "Strongly Agree"   </a:t>
            </a:r>
          </a:p>
          <a:p>
            <a:pPr lvl="0" indent="0">
              <a:buNone/>
            </a:pPr>
            <a:r>
              <a:rPr>
                <a:latin typeface="Courier"/>
              </a:rPr>
              <a:t>[1] Disagree          Strongly Disagree Agree             Neutral          
[5] Strongly Agree   
Levels: Strongly Disagree Disagree Neutral Agree Strongly Agree</a:t>
            </a:r>
          </a:p>
          <a:p>
            <a:pPr lvl="0" indent="0" marL="0">
              <a:spcBef>
                <a:spcPts val="3000"/>
              </a:spcBef>
              <a:buNone/>
            </a:pPr>
            <a:r>
              <a:rPr b="1"/>
              <a:t>Basic Programming Technology</a:t>
            </a:r>
          </a:p>
          <a:p>
            <a:pPr lvl="0" indent="0" marL="0">
              <a:spcBef>
                <a:spcPts val="3000"/>
              </a:spcBef>
              <a:buNone/>
            </a:pPr>
            <a:r>
              <a:rPr b="1"/>
              <a:t>Data Frames</a:t>
            </a:r>
          </a:p>
          <a:p>
            <a:pPr lvl="0" indent="0" marL="0">
              <a:buNone/>
            </a:pPr>
            <a:r>
              <a:rPr/>
              <a:t>Data frames are rectangular spreadsheets. Data are typically imported as data frames.</a:t>
            </a:r>
          </a:p>
          <a:p>
            <a:pPr lvl="0" indent="0" marL="1270000">
              <a:buNone/>
            </a:pPr>
            <a:r>
              <a:rPr sz="2000" b="1"/>
              <a:t>Note</a:t>
            </a:r>
          </a:p>
          <a:p>
            <a:pPr lvl="0" indent="0" marL="1270000">
              <a:buNone/>
            </a:pPr>
            <a:r>
              <a:rPr sz="2000"/>
              <a:t>Rows correspond to observations and the columns correspond to variables.</a:t>
            </a:r>
          </a:p>
          <a:p>
            <a:pPr lvl="0" indent="0" marL="0">
              <a:buNone/>
            </a:pPr>
            <a:r>
              <a:rPr/>
              <a:t>Example:</a:t>
            </a:r>
          </a:p>
          <a:p>
            <a:pPr lvl="0" indent="0">
              <a:buNone/>
            </a:pPr>
            <a:r>
              <a:rPr>
                <a:latin typeface="Courier"/>
              </a:rPr>
              <a:t>                   mpg cyl disp  hp drat    wt  qsec vs am gear carb
Mazda RX4         21.0   6  160 110 3.90 2.620 16.46  0  1    4    4
Mazda RX4 Wag     21.0   6  160 110 3.90 2.875 17.02  0  1    4    4
Datsun 710        22.8   4  108  93 3.85 2.320 18.61  1  1    4    1
Hornet 4 Drive    21.4   6  258 110 3.08 3.215 19.44  1  0    3    1
Hornet Sportabout 18.7   8  360 175 3.15 3.440 17.02  0  0    3    2
Valiant           18.1   6  225 105 2.76 3.460 20.22  1  0    3    1</a:t>
            </a:r>
          </a:p>
          <a:p>
            <a:pPr lvl="0" indent="0" marL="0">
              <a:spcBef>
                <a:spcPts val="3000"/>
              </a:spcBef>
              <a:buNone/>
            </a:pPr>
            <a:r>
              <a:rPr b="1"/>
              <a:t>Conditionals</a:t>
            </a:r>
          </a:p>
          <a:p>
            <a:pPr lvl="0" indent="0" marL="0">
              <a:buNone/>
            </a:pPr>
            <a:r>
              <a:rPr/>
              <a:t>You can test for mathematical relations such as equality/inequality, resulting in a </a:t>
            </a:r>
            <a:r>
              <a:rPr>
                <a:latin typeface="Courier"/>
              </a:rPr>
              <a:t>TRUE</a:t>
            </a:r>
            <a:r>
              <a:rPr/>
              <a:t> or </a:t>
            </a:r>
            <a:r>
              <a:rPr>
                <a:latin typeface="Courier"/>
              </a:rPr>
              <a:t>FALSE</a:t>
            </a:r>
            <a:r>
              <a:rPr/>
              <a:t> value.</a:t>
            </a:r>
          </a:p>
          <a:p>
            <a:pPr lvl="0" indent="0">
              <a:buNone/>
            </a:pPr>
            <a:r>
              <a:rPr>
                <a:latin typeface="Courier"/>
              </a:rPr>
              <a:t>[1] TRUE</a:t>
            </a:r>
          </a:p>
          <a:p>
            <a:pPr lvl="0" indent="0">
              <a:buNone/>
            </a:pPr>
            <a:r>
              <a:rPr>
                <a:latin typeface="Courier"/>
              </a:rPr>
              <a:t>[1] FALSE</a:t>
            </a:r>
          </a:p>
          <a:p>
            <a:pPr lvl="0" indent="0">
              <a:buNone/>
            </a:pPr>
            <a:r>
              <a:rPr>
                <a:latin typeface="Courier"/>
              </a:rPr>
              <a:t>[1]  TRUE  TRUE FALSE FALSE FALSE</a:t>
            </a:r>
          </a:p>
          <a:p>
            <a:pPr lvl="0" indent="0" marL="0">
              <a:spcBef>
                <a:spcPts val="3000"/>
              </a:spcBef>
              <a:buNone/>
            </a:pPr>
            <a:r>
              <a:rPr b="1"/>
              <a:t>Functions</a:t>
            </a:r>
          </a:p>
          <a:p>
            <a:pPr lvl="0" indent="0" marL="0">
              <a:buNone/>
            </a:pPr>
            <a:r>
              <a:rPr/>
              <a:t>Functions are commands in </a:t>
            </a:r>
            <a:r>
              <a:rPr>
                <a:latin typeface="Courier"/>
              </a:rPr>
              <a:t>R</a:t>
            </a:r>
            <a:r>
              <a:rPr/>
              <a:t>. </a:t>
            </a:r>
            <a:r>
              <a:rPr>
                <a:latin typeface="Courier"/>
              </a:rPr>
              <a:t>c()</a:t>
            </a:r>
            <a:r>
              <a:rPr/>
              <a:t> is a function that combines different values. You can create a function or use functions built for </a:t>
            </a:r>
            <a:r>
              <a:rPr>
                <a:latin typeface="Courier"/>
              </a:rPr>
              <a:t>R</a:t>
            </a:r>
            <a:r>
              <a:rPr/>
              <a:t>.</a:t>
            </a:r>
          </a:p>
          <a:p>
            <a:pPr lvl="0" indent="0" marL="0">
              <a:buNone/>
            </a:pPr>
            <a:r>
              <a:rPr/>
              <a:t>Example: </a:t>
            </a:r>
            <a:r>
              <a:rPr>
                <a:latin typeface="Courier"/>
              </a:rPr>
              <a:t>seq()</a:t>
            </a:r>
            <a:r>
              <a:rPr/>
              <a:t> is a function that generates a sequence of numbers. The resulting sequence of numbers can be changed by changing the attributes of the function</a:t>
            </a:r>
          </a:p>
          <a:p>
            <a:pPr lvl="0" indent="0">
              <a:buNone/>
            </a:pPr>
            <a:r>
              <a:rPr>
                <a:latin typeface="Courier"/>
              </a:rPr>
              <a:t>[1] 1 2 3 4 5</a:t>
            </a:r>
          </a:p>
          <a:p>
            <a:pPr lvl="0" indent="0">
              <a:buNone/>
            </a:pPr>
            <a:r>
              <a:rPr>
                <a:latin typeface="Courier"/>
              </a:rPr>
              <a:t>[1] 1 3 5</a:t>
            </a:r>
          </a:p>
          <a:p>
            <a:pPr lvl="0" indent="0">
              <a:buNone/>
            </a:pPr>
            <a:r>
              <a:rPr>
                <a:latin typeface="Courier"/>
              </a:rPr>
              <a:t> [1] 1.000000 1.444444 1.888889 2.333333 2.777778 3.222222 3.666667 4.111111
 [9] 4.555556 5.000000</a:t>
            </a:r>
          </a:p>
          <a:p>
            <a:pPr lvl="0" indent="0" marL="0">
              <a:buNone/>
            </a:pPr>
            <a:r>
              <a:rPr/>
              <a:t>To learn more about what a specific </a:t>
            </a:r>
            <a:r>
              <a:rPr>
                <a:latin typeface="Courier"/>
              </a:rPr>
              <a:t>R</a:t>
            </a:r>
            <a:r>
              <a:rPr/>
              <a:t> function does, type </a:t>
            </a:r>
            <a:r>
              <a:rPr>
                <a:latin typeface="Courier"/>
              </a:rPr>
              <a:t>?function_name</a:t>
            </a:r>
            <a:r>
              <a:rPr/>
              <a:t> in the console. (Ex:</a:t>
            </a:r>
            <a:r>
              <a:rPr>
                <a:latin typeface="Courier"/>
              </a:rPr>
              <a:t>?seq</a:t>
            </a:r>
            <a:r>
              <a:rPr/>
              <a:t>, </a:t>
            </a:r>
            <a:r>
              <a:rPr>
                <a:latin typeface="Courier"/>
              </a:rPr>
              <a:t>?c</a:t>
            </a:r>
            <a:r>
              <a:rPr/>
              <a:t>)</a:t>
            </a:r>
          </a:p>
          <a:p>
            <a:pPr lvl="0" indent="0" marL="0">
              <a:spcBef>
                <a:spcPts val="3000"/>
              </a:spcBef>
              <a:buNone/>
            </a:pPr>
            <a:r>
              <a:rPr b="1"/>
              <a:t>Errors, Warnings, and Messages</a:t>
            </a:r>
          </a:p>
          <a:p>
            <a:pPr lvl="0" indent="0" marL="0">
              <a:spcBef>
                <a:spcPts val="3000"/>
              </a:spcBef>
              <a:buNone/>
            </a:pPr>
            <a:r>
              <a:rPr b="1"/>
              <a:t>Errors</a:t>
            </a:r>
          </a:p>
          <a:p>
            <a:pPr lvl="0" indent="0" marL="0">
              <a:buNone/>
            </a:pPr>
            <a:r>
              <a:rPr/>
              <a:t>When you input a legitimate error, </a:t>
            </a:r>
            <a:r>
              <a:rPr>
                <a:latin typeface="Courier"/>
              </a:rPr>
              <a:t>R</a:t>
            </a:r>
            <a:r>
              <a:rPr/>
              <a:t> will warn you using a sentence starting with “Error in” and includes a sentence explaining what went wrong.</a:t>
            </a:r>
          </a:p>
          <a:p>
            <a:pPr lvl="0" indent="0">
              <a:buNone/>
            </a:pPr>
            <a:r>
              <a:rPr>
                <a:latin typeface="Courier"/>
              </a:rPr>
              <a:t>Error in add(1, 2, 3): could not find function "add"</a:t>
            </a:r>
          </a:p>
          <a:p>
            <a:pPr lvl="0" indent="0">
              <a:buNone/>
            </a:pPr>
            <a:r>
              <a:rPr>
                <a:latin typeface="Courier"/>
              </a:rPr>
              <a:t>Error in c("A", "B") + 1: non-numeric argument to binary operator</a:t>
            </a:r>
          </a:p>
          <a:p>
            <a:pPr lvl="0" indent="0" marL="1270000">
              <a:buNone/>
            </a:pPr>
            <a:r>
              <a:rPr sz="2000" b="1"/>
              <a:t>Note</a:t>
            </a:r>
          </a:p>
          <a:p>
            <a:pPr lvl="0" indent="0" marL="1270000">
              <a:buNone/>
            </a:pPr>
            <a:r>
              <a:rPr sz="2000"/>
              <a:t>If the text starts with “Error”, figure out what’s causing it. Think of errors as a red traffic light: stop and assess for anything wrong in the code (missing parenthesis, adding characters to numbers, non-existent functions, etc.)</a:t>
            </a:r>
          </a:p>
          <a:p>
            <a:pPr lvl="0" indent="0" marL="1270000">
              <a:buNone/>
            </a:pPr>
            <a:r>
              <a:rPr sz="2000" b="1"/>
              <a:t>Important</a:t>
            </a:r>
          </a:p>
          <a:p>
            <a:pPr lvl="0" indent="0" marL="1270000">
              <a:buNone/>
            </a:pPr>
            <a:r>
              <a:rPr sz="2000"/>
              <a:t>Encountering errors in your code is normal even for an experienced coder. Don’t be afraid to review your code if you made an error! This process is called “debuggging”.</a:t>
            </a:r>
          </a:p>
          <a:p>
            <a:pPr lvl="0" indent="0" marL="0">
              <a:spcBef>
                <a:spcPts val="3000"/>
              </a:spcBef>
              <a:buNone/>
            </a:pPr>
            <a:r>
              <a:rPr b="1"/>
              <a:t>Warnings</a:t>
            </a:r>
          </a:p>
          <a:p>
            <a:pPr lvl="0" indent="0" marL="0">
              <a:buNone/>
            </a:pPr>
            <a:r>
              <a:rPr/>
              <a:t>When </a:t>
            </a:r>
            <a:r>
              <a:rPr>
                <a:latin typeface="Courier"/>
              </a:rPr>
              <a:t>R</a:t>
            </a:r>
            <a:r>
              <a:rPr/>
              <a:t> produces a warning, your code will still be implemented albeit with some caveats.</a:t>
            </a:r>
          </a:p>
          <a:p>
            <a:pPr lvl="0" indent="0" marL="0">
              <a:buNone/>
            </a:pPr>
          </a:p>
          <a:p>
            <a:pPr lvl="0" indent="0" marL="0">
              <a:buNone/>
            </a:pPr>
            <a:r>
              <a:rPr/>
              <a:t>The plot is displayed, but a warning was raised regarding a missing value. Note that the data frame </a:t>
            </a:r>
            <a:r>
              <a:rPr>
                <a:latin typeface="Courier"/>
              </a:rPr>
              <a:t>for_plotting</a:t>
            </a:r>
            <a:r>
              <a:rPr/>
              <a:t> has a missing value for </a:t>
            </a:r>
            <a:r>
              <a:rPr>
                <a:latin typeface="Courier"/>
              </a:rPr>
              <a:t>y</a:t>
            </a:r>
            <a:r>
              <a:rPr/>
              <a:t> denoted by </a:t>
            </a:r>
            <a:r>
              <a:rPr>
                <a:latin typeface="Courier"/>
              </a:rPr>
              <a:t>NA</a:t>
            </a:r>
            <a:r>
              <a:rPr/>
              <a:t>.</a:t>
            </a:r>
          </a:p>
          <a:p>
            <a:pPr lvl="0" indent="0" marL="0">
              <a:spcBef>
                <a:spcPts val="3000"/>
              </a:spcBef>
              <a:buNone/>
            </a:pPr>
            <a:r>
              <a:rPr b="1"/>
              <a:t>Messages</a:t>
            </a:r>
          </a:p>
          <a:p>
            <a:pPr lvl="0" indent="0" marL="0">
              <a:buNone/>
            </a:pPr>
            <a:r>
              <a:rPr/>
              <a:t>If the output text does not start with an error or a warning, it’s just a friendly message from </a:t>
            </a:r>
            <a:r>
              <a:rPr>
                <a:latin typeface="Courier"/>
              </a:rPr>
              <a:t>R</a:t>
            </a:r>
            <a:r>
              <a:rPr/>
              <a:t> telling you about the output. These messages are typically seen when loading </a:t>
            </a:r>
            <a:r>
              <a:rPr>
                <a:latin typeface="Courier"/>
              </a:rPr>
              <a:t>R</a:t>
            </a:r>
            <a:r>
              <a:rPr/>
              <a:t> packages or data sets from external sources.</a:t>
            </a:r>
          </a:p>
          <a:p>
            <a:pPr lvl="0" indent="0" marL="0">
              <a:spcBef>
                <a:spcPts val="3000"/>
              </a:spcBef>
              <a:buNone/>
            </a:pPr>
            <a:r>
              <a:rPr b="1">
                <a:latin typeface="Courier"/>
              </a:rPr>
              <a:t>R</a:t>
            </a:r>
            <a:r>
              <a:rPr b="1"/>
              <a:t> packages</a:t>
            </a:r>
          </a:p>
          <a:p>
            <a:pPr lvl="0" indent="0" marL="0">
              <a:buNone/>
            </a:pPr>
            <a:r>
              <a:rPr>
                <a:latin typeface="Courier"/>
              </a:rPr>
              <a:t>R</a:t>
            </a:r>
            <a:r>
              <a:rPr/>
              <a:t> packages extend the functionality of </a:t>
            </a:r>
            <a:r>
              <a:rPr>
                <a:latin typeface="Courier"/>
              </a:rPr>
              <a:t>R</a:t>
            </a:r>
            <a:r>
              <a:rPr/>
              <a:t> by providing additional functions, data, and documentation. These packages are written by </a:t>
            </a:r>
            <a:r>
              <a:rPr>
                <a:latin typeface="Courier"/>
              </a:rPr>
              <a:t>R</a:t>
            </a:r>
            <a:r>
              <a:rPr/>
              <a:t> users around the world and can be downloaded for free!</a:t>
            </a:r>
          </a:p>
          <a:p>
            <a:pPr lvl="0" indent="0" marL="1270000">
              <a:buNone/>
            </a:pPr>
            <a:r>
              <a:rPr sz="2000" b="1"/>
              <a:t>Note</a:t>
            </a:r>
          </a:p>
          <a:p>
            <a:pPr lvl="0" indent="0" marL="1270000">
              <a:buNone/>
            </a:pPr>
            <a:r>
              <a:rPr sz="2000"/>
              <a:t>Think of </a:t>
            </a:r>
            <a:r>
              <a:rPr sz="2000">
                <a:latin typeface="Courier"/>
              </a:rPr>
              <a:t>R</a:t>
            </a:r>
            <a:r>
              <a:rPr sz="2000"/>
              <a:t> as a new phone. </a:t>
            </a:r>
            <a:r>
              <a:rPr sz="2000">
                <a:latin typeface="Courier"/>
              </a:rPr>
              <a:t>R</a:t>
            </a:r>
            <a:r>
              <a:rPr sz="2000"/>
              <a:t> packages are apps that you can download to use your phone in many different ways.</a:t>
            </a:r>
          </a:p>
          <a:p>
            <a:pPr lvl="0" indent="0" marL="0">
              <a:spcBef>
                <a:spcPts val="3000"/>
              </a:spcBef>
              <a:buNone/>
            </a:pPr>
            <a:r>
              <a:rPr b="1"/>
              <a:t>Installing and Loading </a:t>
            </a:r>
            <a:r>
              <a:rPr b="1">
                <a:latin typeface="Courier"/>
              </a:rPr>
              <a:t>R</a:t>
            </a:r>
            <a:r>
              <a:rPr b="1"/>
              <a:t> Packages</a:t>
            </a:r>
          </a:p>
          <a:p>
            <a:pPr lvl="0" indent="0" marL="0">
              <a:buNone/>
            </a:pPr>
            <a:r>
              <a:rPr/>
              <a:t>Like apps on a phone, </a:t>
            </a:r>
            <a:r>
              <a:rPr>
                <a:latin typeface="Courier"/>
              </a:rPr>
              <a:t>R</a:t>
            </a:r>
            <a:r>
              <a:rPr/>
              <a:t> packages also need to be installed. These packages can be installed by running the following code snippet </a:t>
            </a:r>
            <a:r>
              <a:rPr>
                <a:latin typeface="Courier"/>
              </a:rPr>
              <a:t>install.packages("PackageName")</a:t>
            </a:r>
            <a:r>
              <a:rPr/>
              <a:t>. For example, to install the package </a:t>
            </a:r>
            <a:r>
              <a:rPr>
                <a:latin typeface="Courier"/>
              </a:rPr>
              <a:t>tidyverse</a:t>
            </a:r>
            <a:r>
              <a:rPr/>
              <a:t> used for data manipulation and cleaning, you can run the following code:</a:t>
            </a:r>
          </a:p>
          <a:p>
            <a:pPr lvl="0" indent="0">
              <a:buNone/>
            </a:pPr>
            <a:r>
              <a:rPr>
                <a:solidFill>
                  <a:srgbClr val="4758AB"/>
                </a:solidFill>
                <a:latin typeface="Courier"/>
              </a:rPr>
              <a:t>install.packages</a:t>
            </a:r>
            <a:r>
              <a:rPr>
                <a:solidFill>
                  <a:srgbClr val="003B4F"/>
                </a:solidFill>
                <a:latin typeface="Courier"/>
              </a:rPr>
              <a:t>(</a:t>
            </a:r>
            <a:r>
              <a:rPr>
                <a:solidFill>
                  <a:srgbClr val="20794D"/>
                </a:solidFill>
                <a:latin typeface="Courier"/>
              </a:rPr>
              <a:t>"tidyverse"</a:t>
            </a:r>
            <a:r>
              <a:rPr>
                <a:solidFill>
                  <a:srgbClr val="003B4F"/>
                </a:solidFill>
                <a:latin typeface="Courier"/>
              </a:rPr>
              <a:t>)</a:t>
            </a:r>
          </a:p>
          <a:p>
            <a:pPr lvl="0" indent="0" marL="0">
              <a:buNone/>
            </a:pPr>
            <a:r>
              <a:rPr/>
              <a:t>To load this package in </a:t>
            </a:r>
            <a:r>
              <a:rPr>
                <a:latin typeface="Courier"/>
              </a:rPr>
              <a:t>R</a:t>
            </a:r>
            <a:r>
              <a:rPr/>
              <a:t>, you can use the following syntax:</a:t>
            </a:r>
          </a:p>
          <a:p>
            <a:pPr lvl="0" indent="0" marL="1270000">
              <a:buNone/>
            </a:pPr>
            <a:r>
              <a:rPr sz="2000" b="1"/>
              <a:t>Important</a:t>
            </a:r>
          </a:p>
          <a:p>
            <a:pPr lvl="0" indent="0" marL="1270000">
              <a:buNone/>
            </a:pPr>
            <a:r>
              <a:rPr sz="2000"/>
              <a:t>You must have an active internet connection to install </a:t>
            </a:r>
            <a:r>
              <a:rPr sz="2000">
                <a:latin typeface="Courier"/>
              </a:rPr>
              <a:t>R</a:t>
            </a:r>
            <a:r>
              <a:rPr sz="2000"/>
              <a:t> packages to your device.</a:t>
            </a:r>
          </a:p>
          <a:p>
            <a:pPr lvl="0" indent="0" marL="0">
              <a:spcBef>
                <a:spcPts val="3000"/>
              </a:spcBef>
              <a:buNone/>
            </a:pPr>
            <a:r>
              <a:rPr b="1"/>
              <a:t>Exercise</a:t>
            </a:r>
          </a:p>
          <a:p>
            <a:pPr lvl="0" indent="0" marL="0">
              <a:spcBef>
                <a:spcPts val="3000"/>
              </a:spcBef>
              <a:buNone/>
            </a:pPr>
            <a:r>
              <a:rPr b="1"/>
              <a:t>Exercise</a:t>
            </a:r>
          </a:p>
          <a:p>
            <a:pPr lvl="0" indent="0" marL="0">
              <a:buNone/>
            </a:pPr>
            <a:r>
              <a:rPr/>
              <a:t>Install and load the following packages: </a:t>
            </a:r>
            <a:r>
              <a:rPr>
                <a:latin typeface="Courier"/>
              </a:rPr>
              <a:t>readxl</a:t>
            </a:r>
            <a:r>
              <a:rPr/>
              <a:t>, </a:t>
            </a:r>
            <a:r>
              <a:rPr>
                <a:latin typeface="Courier"/>
              </a:rPr>
              <a:t>nycflights23</a:t>
            </a:r>
            <a:r>
              <a:rPr/>
              <a:t> and </a:t>
            </a:r>
            <a:r>
              <a:rPr>
                <a:latin typeface="Courier"/>
              </a:rPr>
              <a:t>knitr</a:t>
            </a:r>
            <a:r>
              <a:rPr/>
              <a:t>.</a:t>
            </a:r>
          </a:p>
          <a:p>
            <a:pPr lvl="0" indent="0" marL="0">
              <a:spcBef>
                <a:spcPts val="3000"/>
              </a:spcBef>
              <a:buNone/>
            </a:pPr>
            <a:r>
              <a:rPr b="1"/>
              <a:t>Answer</a:t>
            </a:r>
          </a:p>
          <a:p>
            <a:pPr lvl="0" indent="0">
              <a:buNone/>
            </a:pPr>
            <a:r>
              <a:rPr>
                <a:solidFill>
                  <a:srgbClr val="4758AB"/>
                </a:solidFill>
                <a:latin typeface="Courier"/>
              </a:rPr>
              <a:t>install.packages</a:t>
            </a:r>
            <a:r>
              <a:rPr>
                <a:solidFill>
                  <a:srgbClr val="003B4F"/>
                </a:solidFill>
                <a:latin typeface="Courier"/>
              </a:rPr>
              <a:t>(</a:t>
            </a:r>
            <a:r>
              <a:rPr>
                <a:solidFill>
                  <a:srgbClr val="20794D"/>
                </a:solidFill>
                <a:latin typeface="Courier"/>
              </a:rPr>
              <a:t>"readxl"</a:t>
            </a:r>
            <a:r>
              <a:rPr>
                <a:solidFill>
                  <a:srgbClr val="003B4F"/>
                </a:solidFill>
                <a:latin typeface="Courier"/>
              </a:rPr>
              <a:t>)</a:t>
            </a:r>
            <a:br/>
            <a:r>
              <a:rPr>
                <a:solidFill>
                  <a:srgbClr val="4758AB"/>
                </a:solidFill>
                <a:latin typeface="Courier"/>
              </a:rPr>
              <a:t>install.packages</a:t>
            </a:r>
            <a:r>
              <a:rPr>
                <a:solidFill>
                  <a:srgbClr val="003B4F"/>
                </a:solidFill>
                <a:latin typeface="Courier"/>
              </a:rPr>
              <a:t>(</a:t>
            </a:r>
            <a:r>
              <a:rPr>
                <a:solidFill>
                  <a:srgbClr val="20794D"/>
                </a:solidFill>
                <a:latin typeface="Courier"/>
              </a:rPr>
              <a:t>"nycflights23"</a:t>
            </a:r>
            <a:r>
              <a:rPr>
                <a:solidFill>
                  <a:srgbClr val="003B4F"/>
                </a:solidFill>
                <a:latin typeface="Courier"/>
              </a:rPr>
              <a:t>)</a:t>
            </a:r>
            <a:br/>
            <a:r>
              <a:rPr>
                <a:solidFill>
                  <a:srgbClr val="4758AB"/>
                </a:solidFill>
                <a:latin typeface="Courier"/>
              </a:rPr>
              <a:t>install.packages</a:t>
            </a:r>
            <a:r>
              <a:rPr>
                <a:solidFill>
                  <a:srgbClr val="003B4F"/>
                </a:solidFill>
                <a:latin typeface="Courier"/>
              </a:rPr>
              <a:t>(</a:t>
            </a:r>
            <a:r>
              <a:rPr>
                <a:solidFill>
                  <a:srgbClr val="20794D"/>
                </a:solidFill>
                <a:latin typeface="Courier"/>
              </a:rPr>
              <a:t>"knitr"</a:t>
            </a:r>
            <a:r>
              <a:rPr>
                <a:solidFill>
                  <a:srgbClr val="003B4F"/>
                </a:solidFill>
                <a:latin typeface="Courier"/>
              </a:rPr>
              <a:t>)</a:t>
            </a:r>
          </a:p>
          <a:p>
            <a:pPr lvl="0" indent="0" marL="0">
              <a:spcBef>
                <a:spcPts val="3000"/>
              </a:spcBef>
              <a:buNone/>
            </a:pPr>
            <a:r>
              <a:rPr b="1"/>
              <a:t>Exploring Data Sets</a:t>
            </a:r>
          </a:p>
          <a:p>
            <a:pPr lvl="0" indent="0" marL="0">
              <a:buNone/>
            </a:pPr>
            <a:r>
              <a:rPr/>
              <a:t>The </a:t>
            </a:r>
            <a:r>
              <a:rPr>
                <a:latin typeface="Courier"/>
              </a:rPr>
              <a:t>nycflights23</a:t>
            </a:r>
            <a:r>
              <a:rPr/>
              <a:t> package includes some data sets saved as data frames. These data sets are related to all domestic flights departing from one of New York City’s three main airports in 2023: Newark Liberty International (EWR), John F. Kennedy International (JFK), and LaGuardia Airport (LGA).</a:t>
            </a:r>
          </a:p>
          <a:p>
            <a:pPr lvl="0" indent="0" marL="0">
              <a:buNone/>
            </a:pPr>
            <a:r>
              <a:rPr/>
              <a:t>One of the data sets in this package is the </a:t>
            </a:r>
            <a:r>
              <a:rPr>
                <a:latin typeface="Courier"/>
              </a:rPr>
              <a:t>flights</a:t>
            </a:r>
            <a:r>
              <a:rPr/>
              <a:t> data set.</a:t>
            </a:r>
          </a:p>
          <a:p>
            <a:pPr lvl="0" indent="0">
              <a:buNone/>
            </a:pPr>
            <a:r>
              <a:rPr>
                <a:latin typeface="Courier"/>
              </a:rPr>
              <a:t># A tibble: 435,352 × 19
    year month   day dep_time sched_dep_time dep_delay arr_time sched_arr_time
   &lt;int&gt; &lt;int&gt; &lt;int&gt;    &lt;int&gt;          &lt;int&gt;     &lt;dbl&gt;    &lt;int&gt;          &lt;int&gt;
 1  2023     1     1        1           2038       203      328              3
 2  2023     1     1       18           2300        78      228            135
 3  2023     1     1       31           2344        47      500            426
 4  2023     1     1       33           2140       173      238           2352
 5  2023     1     1       36           2048       228      223           2252
 6  2023     1     1      503            500         3      808            815
 7  2023     1     1      520            510        10      948            949
 8  2023     1     1      524            530        -6      645            710
 9  2023     1     1      537            520        17      926            818
10  2023     1     1      547            545         2      845            852
# ℹ 435,342 more rows
# ℹ 11 more variables: arr_delay &lt;dbl&gt;, carrier &lt;chr&gt;, flight &lt;int&gt;,
#   tailnum &lt;chr&gt;, origin &lt;chr&gt;, dest &lt;chr&gt;, air_time &lt;dbl&gt;, distance &lt;dbl&gt;,
#   hour &lt;dbl&gt;, minute &lt;dbl&gt;, time_hour &lt;dttm&gt;</a:t>
            </a:r>
          </a:p>
          <a:p>
            <a:pPr lvl="0" indent="0" marL="1270000">
              <a:buNone/>
            </a:pPr>
            <a:r>
              <a:rPr sz="2000" b="1"/>
              <a:t>Note</a:t>
            </a:r>
          </a:p>
          <a:p>
            <a:pPr lvl="0" indent="0" marL="1270000">
              <a:buNone/>
            </a:pPr>
            <a:r>
              <a:rPr sz="2000"/>
              <a:t>A tibble is a special type of data frame! The dimensions show the </a:t>
            </a:r>
            <a:r>
              <a:rPr sz="2000">
                <a:latin typeface="Courier"/>
              </a:rPr>
              <a:t>number of rows x number of columns</a:t>
            </a:r>
            <a:r>
              <a:rPr sz="2000"/>
              <a:t>. Each row corresponds to an observation, while each column corresponds to the variables describing each observation.</a:t>
            </a:r>
          </a:p>
          <a:p>
            <a:pPr lvl="0" indent="0" marL="0">
              <a:spcBef>
                <a:spcPts val="3000"/>
              </a:spcBef>
              <a:buNone/>
            </a:pPr>
            <a:r>
              <a:rPr b="1"/>
              <a:t>Exploring the </a:t>
            </a:r>
            <a:r>
              <a:rPr b="1">
                <a:latin typeface="Courier"/>
              </a:rPr>
              <a:t>flights</a:t>
            </a:r>
            <a:r>
              <a:rPr b="1"/>
              <a:t> data set.</a:t>
            </a:r>
          </a:p>
          <a:p>
            <a:pPr lvl="0" indent="0" marL="0">
              <a:buNone/>
            </a:pPr>
            <a:r>
              <a:rPr/>
              <a:t>You can use the following functions to explore a data set.</a:t>
            </a:r>
          </a:p>
          <a:p>
            <a:pPr lvl="0" indent="0" marL="0">
              <a:spcBef>
                <a:spcPts val="3000"/>
              </a:spcBef>
              <a:buNone/>
            </a:pPr>
            <a:r>
              <a:rPr b="1">
                <a:latin typeface="Courier"/>
              </a:rPr>
              <a:t>View()</a:t>
            </a:r>
          </a:p>
          <a:p>
            <a:pPr lvl="0" indent="0" marL="0">
              <a:buNone/>
            </a:pPr>
            <a:r>
              <a:rPr>
                <a:latin typeface="Courier"/>
              </a:rPr>
              <a:t>View()</a:t>
            </a:r>
            <a:r>
              <a:rPr/>
              <a:t> brings up RStudio’s built in data viewer. That is, if you want to view data like an Excel sheet.</a:t>
            </a:r>
          </a:p>
          <a:p>
            <a:pPr lvl="0" indent="0">
              <a:buNone/>
            </a:pPr>
            <a:r>
              <a:rPr>
                <a:solidFill>
                  <a:srgbClr val="4758AB"/>
                </a:solidFill>
                <a:latin typeface="Courier"/>
              </a:rPr>
              <a:t>View</a:t>
            </a:r>
            <a:r>
              <a:rPr>
                <a:solidFill>
                  <a:srgbClr val="003B4F"/>
                </a:solidFill>
                <a:latin typeface="Courier"/>
              </a:rPr>
              <a:t>(flights)</a:t>
            </a:r>
          </a:p>
          <a:p>
            <a:pPr lvl="0" indent="0" marL="0">
              <a:spcBef>
                <a:spcPts val="3000"/>
              </a:spcBef>
              <a:buNone/>
            </a:pPr>
            <a:r>
              <a:rPr b="1">
                <a:latin typeface="Courier"/>
              </a:rPr>
              <a:t>glimpse()</a:t>
            </a:r>
          </a:p>
          <a:p>
            <a:pPr lvl="0" indent="0" marL="0">
              <a:buNone/>
            </a:pPr>
            <a:r>
              <a:rPr/>
              <a:t>The </a:t>
            </a:r>
            <a:r>
              <a:rPr>
                <a:latin typeface="Courier"/>
              </a:rPr>
              <a:t>glimpse()</a:t>
            </a:r>
            <a:r>
              <a:rPr/>
              <a:t> function from the package </a:t>
            </a:r>
            <a:r>
              <a:rPr>
                <a:latin typeface="Courier"/>
              </a:rPr>
              <a:t>dplyr</a:t>
            </a:r>
            <a:r>
              <a:rPr/>
              <a:t> (part of </a:t>
            </a:r>
            <a:r>
              <a:rPr>
                <a:latin typeface="Courier"/>
              </a:rPr>
              <a:t>tidyverse</a:t>
            </a:r>
            <a:r>
              <a:rPr/>
              <a:t>) provides us with a different view of the data set. It includes the </a:t>
            </a:r>
            <a:r>
              <a:rPr i="1"/>
              <a:t>data type</a:t>
            </a:r>
            <a:r>
              <a:rPr/>
              <a:t> of each variable defined by the columns of the data frame.</a:t>
            </a:r>
          </a:p>
          <a:p>
            <a:pPr lvl="0" indent="0">
              <a:buNone/>
            </a:pPr>
            <a:r>
              <a:rPr>
                <a:latin typeface="Courier"/>
              </a:rPr>
              <a:t>Rows: 435,352
Columns: 19
$ year           &lt;int&gt; 2023, 2023, 2023, 2023, 2023, 2023, 2023, 2023, 2023, 2…
$ month          &lt;int&gt; 1, 1, 1, 1, 1, 1, 1, 1, 1, 1, 1, 1, 1, 1, 1, 1, 1, 1, 1…
$ day            &lt;int&gt; 1, 1, 1, 1, 1, 1, 1, 1, 1, 1, 1, 1, 1, 1, 1, 1, 1, 1, 1…
$ dep_time       &lt;int&gt; 1, 18, 31, 33, 36, 503, 520, 524, 537, 547, 549, 551, 5…
$ sched_dep_time &lt;int&gt; 2038, 2300, 2344, 2140, 2048, 500, 510, 530, 520, 545, …
$ dep_delay      &lt;dbl&gt; 203, 78, 47, 173, 228, 3, 10, -6, 17, 2, -10, -9, -7, -…
$ arr_time       &lt;int&gt; 328, 228, 500, 238, 223, 808, 948, 645, 926, 845, 905, …
$ sched_arr_time &lt;int&gt; 3, 135, 426, 2352, 2252, 815, 949, 710, 818, 852, 901, …
$ arr_delay      &lt;dbl&gt; 205, 53, 34, 166, 211, -7, -1, -25, 68, -7, 4, -13, -14…
$ carrier        &lt;chr&gt; "UA", "DL", "B6", "B6", "UA", "AA", "B6", "AA", "UA", "…
$ flight         &lt;int&gt; 628, 393, 371, 1053, 219, 499, 996, 981, 206, 225, 800,…
$ tailnum        &lt;chr&gt; "N25201", "N830DN", "N807JB", "N265JB", "N17730", "N925…
$ origin         &lt;chr&gt; "EWR", "JFK", "JFK", "JFK", "EWR", "EWR", "JFK", "EWR",…
$ dest           &lt;chr&gt; "SMF", "ATL", "BQN", "CHS", "DTW", "MIA", "BQN", "ORD",…
$ air_time       &lt;dbl&gt; 367, 108, 190, 108, 80, 154, 192, 119, 258, 157, 164, 1…
$ distance       &lt;dbl&gt; 2500, 760, 1576, 636, 488, 1085, 1576, 719, 1400, 1065,…
$ hour           &lt;dbl&gt; 20, 23, 23, 21, 20, 5, 5, 5, 5, 5, 5, 6, 5, 6, 6, 6, 6,…
$ minute         &lt;dbl&gt; 38, 0, 44, 40, 48, 0, 10, 30, 20, 45, 59, 0, 59, 0, 0, …
$ time_hour      &lt;dttm&gt; 2023-01-01 20:00:00, 2023-01-01 23:00:00, 2023-01-01 2…</a:t>
            </a:r>
          </a:p>
          <a:p>
            <a:pPr lvl="0" indent="0" marL="0">
              <a:spcBef>
                <a:spcPts val="3000"/>
              </a:spcBef>
              <a:buNone/>
            </a:pPr>
            <a:r>
              <a:rPr b="1">
                <a:latin typeface="Courier"/>
              </a:rPr>
              <a:t>kable()</a:t>
            </a:r>
          </a:p>
          <a:p>
            <a:pPr lvl="0" indent="0" marL="0">
              <a:buNone/>
            </a:pPr>
            <a:r>
              <a:rPr/>
              <a:t>The </a:t>
            </a:r>
            <a:r>
              <a:rPr>
                <a:latin typeface="Courier"/>
              </a:rPr>
              <a:t>kable()</a:t>
            </a:r>
            <a:r>
              <a:rPr/>
              <a:t> function is part of the package </a:t>
            </a:r>
            <a:r>
              <a:rPr>
                <a:latin typeface="Courier"/>
              </a:rPr>
              <a:t>knitr</a:t>
            </a:r>
            <a:r>
              <a:rPr/>
              <a:t>. In this example, we will use another data set in the </a:t>
            </a:r>
            <a:r>
              <a:rPr>
                <a:latin typeface="Courier"/>
              </a:rPr>
              <a:t>nycflights23</a:t>
            </a:r>
            <a:r>
              <a:rPr/>
              <a:t> package: the </a:t>
            </a:r>
            <a:r>
              <a:rPr>
                <a:latin typeface="Courier"/>
              </a:rPr>
              <a:t>airlines</a:t>
            </a:r>
            <a:r>
              <a:rPr/>
              <a:t> data set.</a:t>
            </a:r>
          </a:p>
          <a:p>
            <a:pPr lvl="0" indent="0" marL="0">
              <a:spcBef>
                <a:spcPts val="3000"/>
              </a:spcBef>
              <a:buNone/>
            </a:pPr>
            <a:r>
              <a:rPr b="1">
                <a:latin typeface="Courier"/>
              </a:rPr>
              <a:t>$</a:t>
            </a:r>
          </a:p>
          <a:p>
            <a:pPr lvl="0" indent="0" marL="0">
              <a:buNone/>
            </a:pPr>
            <a:r>
              <a:rPr/>
              <a:t>The </a:t>
            </a:r>
            <a:r>
              <a:rPr>
                <a:latin typeface="Courier"/>
              </a:rPr>
              <a:t>$</a:t>
            </a:r>
            <a:r>
              <a:rPr/>
              <a:t> operator allows us to extract and then explore a single variable within a data frame.</a:t>
            </a:r>
          </a:p>
          <a:p>
            <a:pPr lvl="0" indent="0">
              <a:buNone/>
            </a:pPr>
            <a:r>
              <a:rPr>
                <a:latin typeface="Courier"/>
              </a:rPr>
              <a:t> [1] "Endeavor Air Inc."      "American Airlines Inc." "Alaska Airlines Inc."  
 [4] "JetBlue Airways"        "Delta Air Lines Inc."   "Frontier Airlines Inc."
 [7] "Allegiant Air"          "Hawaiian Airlines Inc." "Envoy Air"             
[10] "Spirit Air Lines"       "SkyWest Airlines Inc."  "United Air Lines Inc." 
[13] "Southwest Airlines Co." "Republic Airline"      </a:t>
            </a:r>
          </a:p>
          <a:p>
            <a:pPr lvl="0" indent="0" marL="0">
              <a:spcBef>
                <a:spcPts val="3000"/>
              </a:spcBef>
              <a:buNone/>
            </a:pPr>
            <a:r>
              <a:rPr b="1"/>
              <a:t>Exercise</a:t>
            </a:r>
          </a:p>
          <a:p>
            <a:pPr lvl="0" indent="0" marL="0">
              <a:spcBef>
                <a:spcPts val="3000"/>
              </a:spcBef>
              <a:buNone/>
            </a:pPr>
            <a:r>
              <a:rPr b="1"/>
              <a:t>Exercise</a:t>
            </a:r>
          </a:p>
          <a:p>
            <a:pPr lvl="0" indent="0" marL="0">
              <a:buNone/>
            </a:pPr>
            <a:r>
              <a:rPr/>
              <a:t>Can you provide me with two qualitative variables and two quantitative variables in the dataset </a:t>
            </a:r>
            <a:r>
              <a:rPr>
                <a:latin typeface="Courier"/>
              </a:rPr>
              <a:t>planes</a:t>
            </a:r>
            <a:r>
              <a:rPr/>
              <a:t> in the </a:t>
            </a:r>
            <a:r>
              <a:rPr>
                <a:latin typeface="Courier"/>
              </a:rPr>
              <a:t>nycflights23</a:t>
            </a:r>
            <a:r>
              <a:rPr/>
              <a:t> package?</a:t>
            </a:r>
          </a:p>
          <a:p>
            <a:pPr lvl="0" indent="0" marL="0">
              <a:spcBef>
                <a:spcPts val="3000"/>
              </a:spcBef>
              <a:buNone/>
            </a:pPr>
            <a:r>
              <a:rPr b="1"/>
              <a:t>Answer</a:t>
            </a:r>
          </a:p>
          <a:p>
            <a:pPr lvl="0" indent="0">
              <a:buNone/>
            </a:pPr>
            <a:r>
              <a:rPr>
                <a:latin typeface="Courier"/>
              </a:rPr>
              <a:t>Rows: 4,840
Columns: 9
$ tailnum      &lt;chr&gt; "N101DQ", "N101DU", "N101HQ", "N101NN", "N102DN", "N102DU…
$ year         &lt;int&gt; 2020, 2018, 2007, 2013, 2020, NA, 2007, 2013, 1998, NA, 2…
$ type         &lt;chr&gt; "Fixed wing multi engine", "Fixed wing multi engine", "Fi…
$ manufacturer &lt;chr&gt; "AIRBUS", "C SERIES AIRCRAFT LTD PTNRSP", "EMBRAER-EMPRES…
$ model        &lt;chr&gt; "A321-211", "BD-500-1A10", "ERJ 170-200 LR", "A321-231", …
$ engines      &lt;int&gt; 2, 2, 2, 2, 2, 2, 2, 2, 2, 2, 2, 2, 2, 2, 2, 2, 2, 2, 2, …
$ seats        &lt;int&gt; 199, 133, 80, 379, 199, 133, 80, 379, 182, 133, 199, 80, …
$ speed        &lt;int&gt; 0, 0, 0, 0, 0, 0, 0, 0, 0, 0, 0, 0, 0, 0, 0, 0, 0, 0, 0, …
$ engine       &lt;chr&gt; "Turbo-fan", "Turbo-fan", "Turbo-fan", "Turbo-fan", "Turb…</a:t>
            </a:r>
          </a:p>
          <a:p>
            <a:pPr lvl="0" indent="0" marL="0">
              <a:buNone/>
            </a:pPr>
            <a:r>
              <a:rPr/>
              <a:t>Columns made up of characters are categorical variables. Quantitative variables are those marked as integers.</a:t>
            </a:r>
          </a:p>
          <a:p>
            <a:pPr lvl="0" indent="0" marL="1270000">
              <a:buNone/>
            </a:pPr>
            <a:r>
              <a:rPr sz="2000" b="1"/>
              <a:t>Important</a:t>
            </a:r>
          </a:p>
          <a:p>
            <a:pPr lvl="0" indent="0" marL="1270000">
              <a:buNone/>
            </a:pPr>
            <a:r>
              <a:rPr sz="2000">
                <a:latin typeface="Courier"/>
              </a:rPr>
              <a:t>NA</a:t>
            </a:r>
            <a:r>
              <a:rPr sz="2000"/>
              <a:t> means that the data point is missing. This is not the same as “NA”, which is a character.</a:t>
            </a:r>
          </a:p>
          <a:p>
            <a:pPr lvl="0" indent="0" marL="0">
              <a:spcBef>
                <a:spcPts val="3000"/>
              </a:spcBef>
              <a:buNone/>
            </a:pPr>
            <a:r>
              <a:rPr b="1"/>
              <a:t>Exercise</a:t>
            </a:r>
          </a:p>
          <a:p>
            <a:pPr lvl="0" indent="0" marL="0">
              <a:spcBef>
                <a:spcPts val="3000"/>
              </a:spcBef>
              <a:buNone/>
            </a:pPr>
            <a:r>
              <a:rPr b="1"/>
              <a:t>Exercise</a:t>
            </a:r>
          </a:p>
          <a:p>
            <a:pPr lvl="0" indent="0" marL="0">
              <a:buNone/>
            </a:pPr>
            <a:r>
              <a:rPr/>
              <a:t>Explore the data set </a:t>
            </a:r>
            <a:r>
              <a:rPr>
                <a:latin typeface="Courier"/>
              </a:rPr>
              <a:t>iris</a:t>
            </a:r>
            <a:r>
              <a:rPr/>
              <a:t>.</a:t>
            </a:r>
          </a:p>
          <a:p>
            <a:pPr lvl="0"/>
            <a:r>
              <a:rPr/>
              <a:t>How many observations does </a:t>
            </a:r>
            <a:r>
              <a:rPr>
                <a:latin typeface="Courier"/>
              </a:rPr>
              <a:t>iris</a:t>
            </a:r>
            <a:r>
              <a:rPr/>
              <a:t> have?</a:t>
            </a:r>
          </a:p>
          <a:p>
            <a:pPr lvl="0"/>
            <a:r>
              <a:rPr/>
              <a:t>How many variables does </a:t>
            </a:r>
            <a:r>
              <a:rPr>
                <a:latin typeface="Courier"/>
              </a:rPr>
              <a:t>iris</a:t>
            </a:r>
            <a:r>
              <a:rPr/>
              <a:t> have?</a:t>
            </a:r>
          </a:p>
          <a:p>
            <a:pPr lvl="0"/>
            <a:r>
              <a:rPr/>
              <a:t>Use </a:t>
            </a:r>
            <a:r>
              <a:rPr>
                <a:latin typeface="Courier"/>
              </a:rPr>
              <a:t>glimpse()</a:t>
            </a:r>
            <a:r>
              <a:rPr/>
              <a:t> to determine the type of data of each column of </a:t>
            </a:r>
            <a:r>
              <a:rPr>
                <a:latin typeface="Courier"/>
              </a:rPr>
              <a:t>iris</a:t>
            </a:r>
            <a:r>
              <a:rPr/>
              <a:t>.</a:t>
            </a:r>
          </a:p>
          <a:p>
            <a:pPr lvl="0"/>
            <a:r>
              <a:rPr/>
              <a:t>Use the </a:t>
            </a:r>
            <a:r>
              <a:rPr>
                <a:latin typeface="Courier"/>
              </a:rPr>
              <a:t>$</a:t>
            </a:r>
            <a:r>
              <a:rPr/>
              <a:t> operator to extract the species variable in </a:t>
            </a:r>
            <a:r>
              <a:rPr>
                <a:latin typeface="Courier"/>
              </a:rPr>
              <a:t>iris</a:t>
            </a:r>
          </a:p>
          <a:p>
            <a:pPr lvl="0" indent="0" marL="0">
              <a:spcBef>
                <a:spcPts val="3000"/>
              </a:spcBef>
              <a:buNone/>
            </a:pPr>
            <a:r>
              <a:rPr b="1"/>
              <a:t>Answer</a:t>
            </a:r>
          </a:p>
          <a:p>
            <a:pPr lvl="0" indent="0">
              <a:buNone/>
            </a:pPr>
            <a:r>
              <a:rPr>
                <a:latin typeface="Courier"/>
              </a:rPr>
              <a:t>Rows: 150
Columns: 5
$ Sepal.Length &lt;dbl&gt; 5.1, 4.9, 4.7, 4.6, 5.0, 5.4, 4.6, 5.0, 4.4, 4.9, 5.4, 4.…
$ Sepal.Width  &lt;dbl&gt; 3.5, 3.0, 3.2, 3.1, 3.6, 3.9, 3.4, 3.4, 2.9, 3.1, 3.7, 3.…
$ Petal.Length &lt;dbl&gt; 1.4, 1.4, 1.3, 1.5, 1.4, 1.7, 1.4, 1.5, 1.4, 1.5, 1.5, 1.…
$ Petal.Width  &lt;dbl&gt; 0.2, 0.2, 0.2, 0.2, 0.2, 0.4, 0.3, 0.2, 0.2, 0.1, 0.2, 0.…
$ Species      &lt;fct&gt; setosa, setosa, setosa, setosa, setosa, setosa, setosa, s…</a:t>
            </a:r>
          </a:p>
          <a:p>
            <a:pPr lvl="0" indent="0">
              <a:buNone/>
            </a:pPr>
            <a:r>
              <a:rPr>
                <a:latin typeface="Courier"/>
              </a:rPr>
              <a:t>  [1] setosa     setosa     setosa     setosa     setosa     setosa    
  [7] setosa     setosa     setosa     setosa     setosa     setosa    
 [13] setosa     setosa     setosa     setosa     setosa     setosa    
 [19] setosa     setosa     setosa     setosa     setosa     setosa    
 [25] setosa     setosa     setosa     setosa     setosa     setosa    
 [31] setosa     setosa     setosa     setosa     setosa     setosa    
 [37] setosa     setosa     setosa     setosa     setosa     setosa    
 [43] setosa     setosa     setosa     setosa     setosa     setosa    
 [49] setosa     setosa     versicolor versicolor versicolor versicolor
 [55] versicolor versicolor versicolor versicolor versicolor versicolor
 [61] versicolor versicolor versicolor versicolor versicolor versicolor
 [67] versicolor versicolor versicolor versicolor versicolor versicolor
 [73] versicolor versicolor versicolor versicolor versicolor versicolor
 [79] versicolor versicolor versicolor versicolor versicolor versicolor
 [85] versicolor versicolor versicolor versicolor versicolor versicolor
 [91] versicolor versicolor versicolor versicolor versicolor versicolor
 [97] versicolor versicolor versicolor versicolor virginica  virginica 
[103] virginica  virginica  virginica  virginica  virginica  virginica 
[109] virginica  virginica  virginica  virginica  virginica  virginica 
[115] virginica  virginica  virginica  virginica  virginica  virginica 
[121] virginica  virginica  virginica  virginica  virginica  virginica 
[127] virginica  virginica  virginica  virginica  virginica  virginica 
[133] virginica  virginica  virginica  virginica  virginica  virginica 
[139] virginica  virginica  virginica  virginica  virginica  virginica 
[145] virginica  virginica  virginica  virginica  virginica  virginica 
Levels: setosa versicolor virginica</a:t>
            </a:r>
          </a:p>
          <a:p>
            <a:pPr lvl="0" indent="0" marL="0">
              <a:buNone/>
            </a:pPr>
            <a:r>
              <a:rPr>
                <a:latin typeface="Courier"/>
              </a:rPr>
              <a:t>iris</a:t>
            </a:r>
            <a:r>
              <a:rPr/>
              <a:t> has 150 observations and 5 variables: Sepal Length, Sepal Width, Petal Length, Petal Width, and Species. Species is a </a:t>
            </a:r>
            <a:r>
              <a:rPr b="1"/>
              <a:t>factor</a:t>
            </a:r>
            <a:r>
              <a:rPr/>
              <a:t>, while all the other variables are numeric (dbl) in nature.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Summary</a:t>
            </a:r>
          </a:p>
        </p:txBody>
      </p:sp>
      <p:sp>
        <p:nvSpPr>
          <p:cNvPr id="3" name="Content Placeholder 2"/>
          <p:cNvSpPr>
            <a:spLocks noGrp="1"/>
          </p:cNvSpPr>
          <p:nvPr>
            <p:ph idx="1"/>
          </p:nvPr>
        </p:nvSpPr>
        <p:spPr/>
        <p:txBody>
          <a:bodyPr/>
          <a:lstStyle/>
          <a:p>
            <a:pPr lvl="0" indent="0" marL="0">
              <a:spcBef>
                <a:spcPts val="3000"/>
              </a:spcBef>
              <a:buNone/>
            </a:pPr>
            <a:r>
              <a:rPr b="1"/>
              <a:t>Summary</a:t>
            </a:r>
          </a:p>
          <a:p>
            <a:pPr lvl="0"/>
            <a:r>
              <a:rPr/>
              <a:t>Introduced biostatistics and its importance</a:t>
            </a:r>
          </a:p>
          <a:p>
            <a:pPr lvl="0"/>
            <a:r>
              <a:rPr/>
              <a:t>Introduced </a:t>
            </a:r>
            <a:r>
              <a:rPr>
                <a:latin typeface="Courier"/>
              </a:rPr>
              <a:t>R</a:t>
            </a:r>
          </a:p>
          <a:p>
            <a:pPr lvl="0"/>
            <a:r>
              <a:rPr/>
              <a:t>Explored data sets</a:t>
            </a:r>
          </a:p>
          <a:p>
            <a:pPr lvl="0" indent="0" marL="0">
              <a:spcBef>
                <a:spcPts val="3000"/>
              </a:spcBef>
              <a:buNone/>
            </a:pPr>
            <a:r>
              <a:rPr b="1"/>
              <a:t>What’s next?</a:t>
            </a:r>
          </a:p>
          <a:p>
            <a:pPr lvl="0" indent="0" marL="0">
              <a:buNone/>
            </a:pPr>
            <a:r>
              <a:rPr/>
              <a:t>We will be using </a:t>
            </a:r>
            <a:r>
              <a:rPr>
                <a:latin typeface="Courier"/>
              </a:rPr>
              <a:t>R</a:t>
            </a:r>
            <a:r>
              <a:rPr/>
              <a:t> to work with data and perform statistical analysis. We will also explore how to use </a:t>
            </a:r>
            <a:r>
              <a:rPr>
                <a:latin typeface="Courier"/>
              </a:rPr>
              <a:t>R</a:t>
            </a:r>
            <a:r>
              <a:rPr/>
              <a:t> to explore and describe data from external sources (.csv files).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Biostatistics and R</dc:title>
  <dc:creator>Miguel Fudolig</dc:creator>
  <cp:keywords/>
  <dcterms:created xsi:type="dcterms:W3CDTF">2026-01-14T19:49:07Z</dcterms:created>
  <dcterms:modified xsi:type="dcterms:W3CDTF">2026-01-14T19:49:07Z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header-includes">
    <vt:lpwstr/>
  </property>
  <property fmtid="{D5CDD505-2E9C-101B-9397-08002B2CF9AE}" pid="6" name="include-after">
    <vt:lpwstr/>
  </property>
  <property fmtid="{D5CDD505-2E9C-101B-9397-08002B2CF9AE}" pid="7" name="include-before">
    <vt:lpwstr/>
  </property>
  <property fmtid="{D5CDD505-2E9C-101B-9397-08002B2CF9AE}" pid="8" name="labels">
    <vt:lpwstr/>
  </property>
  <property fmtid="{D5CDD505-2E9C-101B-9397-08002B2CF9AE}" pid="9" name="subtitle">
    <vt:lpwstr>Lecture 1</vt:lpwstr>
  </property>
  <property fmtid="{D5CDD505-2E9C-101B-9397-08002B2CF9AE}" pid="10" name="toc-title">
    <vt:lpwstr>Table of contents</vt:lpwstr>
  </property>
</Properties>
</file>