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4" Type="http://schemas.openxmlformats.org/officeDocument/2006/relationships/viewProps" Target="viewProps.xml" /><Relationship Id="rId13" Type="http://schemas.openxmlformats.org/officeDocument/2006/relationships/presProps" Target="presProps.xml" /><Relationship Id="rId1" Type="http://schemas.openxmlformats.org/officeDocument/2006/relationships/slideMaster" Target="slideMasters/slideMaster1.xml" /><Relationship Id="rId16" Type="http://schemas.openxmlformats.org/officeDocument/2006/relationships/tableStyles" Target="tableStyles.xml" /><Relationship Id="rId1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jp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Descriptive Statistics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Lecture 2</a:t>
            </a:r>
            <a:br/>
            <a:br/>
            <a:r>
              <a:rPr/>
              <a:t>Miguel Fudolig</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Outline</a:t>
            </a:r>
          </a:p>
        </p:txBody>
      </p:sp>
      <p:sp>
        <p:nvSpPr>
          <p:cNvPr id="3" name="Content Placeholder 2"/>
          <p:cNvSpPr>
            <a:spLocks noGrp="1"/>
          </p:cNvSpPr>
          <p:nvPr>
            <p:ph idx="1"/>
          </p:nvPr>
        </p:nvSpPr>
        <p:spPr/>
        <p:txBody>
          <a:bodyPr/>
          <a:lstStyle/>
          <a:p>
            <a:pPr lvl="0"/>
            <a:r>
              <a:rPr/>
              <a:t>Data Organization</a:t>
            </a:r>
          </a:p>
          <a:p>
            <a:pPr lvl="0"/>
            <a:r>
              <a:rPr/>
              <a:t>Measures of Central Tendency</a:t>
            </a:r>
          </a:p>
          <a:p>
            <a:pPr lvl="0"/>
            <a:r>
              <a:rPr/>
              <a:t>Measures of Dispersion</a:t>
            </a:r>
          </a:p>
          <a:p>
            <a:pPr lvl="0"/>
            <a:r>
              <a:rPr/>
              <a:t>Measure of Location</a:t>
            </a:r>
          </a:p>
          <a:p>
            <a:pPr lvl="0"/>
            <a:r>
              <a:rPr/>
              <a:t>Skewness and Kurtosis</a:t>
            </a:r>
          </a:p>
          <a:p>
            <a:pPr lvl="0"/>
            <a:r>
              <a:rPr/>
              <a:t>Basic Data Visualization using R</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Data Organization</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spcBef>
                    <a:spcPts val="3000"/>
                  </a:spcBef>
                  <a:buNone/>
                </a:pPr>
                <a:r>
                  <a:rPr b="1"/>
                  <a:t>Data Exploration</a:t>
                </a:r>
              </a:p>
              <a:p>
                <a:pPr lvl="0" indent="0" marL="0">
                  <a:buNone/>
                </a:pPr>
                <a:r>
                  <a:rPr/>
                  <a:t>In order to explore the underlying nature of the provided information, we need to explore the data. This exploration is made much easier if the data are organized and summarized.</a:t>
                </a:r>
              </a:p>
              <a:p>
                <a:pPr lvl="0" indent="0" marL="1270000">
                  <a:buNone/>
                </a:pPr>
                <a:r>
                  <a:rPr sz="2000" b="1"/>
                  <a:t>Raw Data</a:t>
                </a:r>
              </a:p>
              <a:p>
                <a:pPr lvl="0" indent="0" marL="1270000">
                  <a:buNone/>
                </a:pPr>
                <a:r>
                  <a:rPr sz="2000"/>
                  <a:t>Raw data are measurements that have not been organized, summarized, or otherwise manipulated. As a biostatistician, it is common to be provided the raw data for any analysis.</a:t>
                </a:r>
              </a:p>
              <a:p>
                <a:pPr lvl="0" indent="0" marL="0">
                  <a:spcBef>
                    <a:spcPts val="3000"/>
                  </a:spcBef>
                  <a:buNone/>
                </a:pPr>
                <a:r>
                  <a:rPr b="1"/>
                  <a:t>Ordered Lists</a:t>
                </a:r>
              </a:p>
              <a:p>
                <a:pPr lvl="0" indent="0" marL="0">
                  <a:buNone/>
                </a:pPr>
                <a:r>
                  <a:rPr/>
                  <a:t>The easiest step in organizing data is simply to order the data.</a:t>
                </a:r>
              </a:p>
              <a:p>
                <a:pPr lvl="0" indent="0" marL="1270000">
                  <a:buNone/>
                </a:pPr>
                <a:r>
                  <a:rPr sz="2000" b="1"/>
                  <a:t>Ordered Lists/Arrays</a:t>
                </a:r>
              </a:p>
              <a:p>
                <a:pPr lvl="0" indent="0" marL="1270000">
                  <a:buNone/>
                </a:pPr>
                <a:r>
                  <a:rPr sz="2000"/>
                  <a:t>An ordered list is a list of values that are arranged from the smallest to largest value (or largest to smallest).</a:t>
                </a:r>
              </a:p>
              <a:p>
                <a:pPr lvl="0" indent="0" marL="0">
                  <a:spcBef>
                    <a:spcPts val="3000"/>
                  </a:spcBef>
                  <a:buNone/>
                </a:pPr>
                <a:r>
                  <a:rPr b="1"/>
                  <a:t>Ordered Lists in </a:t>
                </a:r>
                <a:r>
                  <a:rPr b="1">
                    <a:latin typeface="Courier"/>
                  </a:rPr>
                  <a:t>R</a:t>
                </a:r>
              </a:p>
              <a:p>
                <a:pPr lvl="0" indent="0" marL="0">
                  <a:buNone/>
                </a:pPr>
                <a:r>
                  <a:rPr/>
                  <a:t>There are different ways to create an ordered list in </a:t>
                </a:r>
                <a:r>
                  <a:rPr>
                    <a:latin typeface="Courier"/>
                  </a:rPr>
                  <a:t>R</a:t>
                </a:r>
                <a:r>
                  <a:rPr/>
                  <a:t>. Let us use the </a:t>
                </a:r>
                <a:r>
                  <a:rPr>
                    <a:latin typeface="Courier"/>
                  </a:rPr>
                  <a:t>iris</a:t>
                </a:r>
                <a:r>
                  <a:rPr/>
                  <a:t> dataset in </a:t>
                </a:r>
                <a:r>
                  <a:rPr>
                    <a:latin typeface="Courier"/>
                  </a:rPr>
                  <a:t>R</a:t>
                </a:r>
                <a:r>
                  <a:rPr/>
                  <a:t> and the </a:t>
                </a:r>
                <a:r>
                  <a:rPr>
                    <a:latin typeface="Courier"/>
                  </a:rPr>
                  <a:t>tidyverse()</a:t>
                </a:r>
                <a:r>
                  <a:rPr/>
                  <a:t> package.</a:t>
                </a:r>
              </a:p>
              <a:p>
                <a:pPr lvl="0" indent="0">
                  <a:buNone/>
                </a:pPr>
                <a:r>
                  <a:rPr>
                    <a:latin typeface="Courier"/>
                  </a:rPr>
                  <a:t>Rows: 150
Columns: 5
$ Sepal.Length &lt;dbl&gt; 5.1, 4.9, 4.7, 4.6, 5.0, 5.4, 4.6, 5.0, 4.4, 4.9, 5.4, 4.…
$ Sepal.Width  &lt;dbl&gt; 3.5, 3.0, 3.2, 3.1, 3.6, 3.9, 3.4, 3.4, 2.9, 3.1, 3.7, 3.…
$ Petal.Length &lt;dbl&gt; 1.4, 1.4, 1.3, 1.5, 1.4, 1.7, 1.4, 1.5, 1.4, 1.5, 1.5, 1.…
$ Petal.Width  &lt;dbl&gt; 0.2, 0.2, 0.2, 0.2, 0.2, 0.4, 0.3, 0.2, 0.2, 0.1, 0.2, 0.…
$ Species      &lt;fct&gt; setosa, setosa, setosa, setosa, setosa, setosa, setosa, s…</a:t>
                </a:r>
              </a:p>
              <a:p>
                <a:pPr lvl="0" indent="0" marL="0">
                  <a:spcBef>
                    <a:spcPts val="3000"/>
                  </a:spcBef>
                  <a:buNone/>
                </a:pPr>
                <a:r>
                  <a:rPr b="1">
                    <a:latin typeface="Courier"/>
                  </a:rPr>
                  <a:t>sort()</a:t>
                </a:r>
              </a:p>
              <a:p>
                <a:pPr lvl="0" indent="0" marL="0">
                  <a:buNone/>
                </a:pPr>
                <a:r>
                  <a:rPr>
                    <a:latin typeface="Courier"/>
                  </a:rPr>
                  <a:t>sort(vector)</a:t>
                </a:r>
                <a:r>
                  <a:rPr/>
                  <a:t> can arrange a vector in ascending or descending order. This works for both numeric and character vectors.</a:t>
                </a:r>
              </a:p>
              <a:p>
                <a:pPr lvl="0" indent="0">
                  <a:buNone/>
                </a:pPr>
                <a:r>
                  <a:rPr>
                    <a:latin typeface="Courier"/>
                  </a:rPr>
                  <a:t>  [1] 4.3 4.4 4.4 4.4 4.5 4.6 4.6 4.6 4.6 4.7 4.7 4.8 4.8 4.8 4.8 4.8 4.9 4.9
 [19] 4.9 4.9 4.9 4.9 5.0 5.0 5.0 5.0 5.0 5.0 5.0 5.0 5.0 5.0 5.1 5.1 5.1 5.1
 [37] 5.1 5.1 5.1 5.1 5.1 5.2 5.2 5.2 5.2 5.3 5.4 5.4 5.4 5.4 5.4 5.4 5.5 5.5
 [55] 5.5 5.5 5.5 5.5 5.5 5.6 5.6 5.6 5.6 5.6 5.6 5.7 5.7 5.7 5.7 5.7 5.7 5.7
 [73] 5.7 5.8 5.8 5.8 5.8 5.8 5.8 5.8 5.9 5.9 5.9 6.0 6.0 6.0 6.0 6.0 6.0 6.1
 [91] 6.1 6.1 6.1 6.1 6.1 6.2 6.2 6.2 6.2 6.3 6.3 6.3 6.3 6.3 6.3 6.3 6.3 6.3
[109] 6.4 6.4 6.4 6.4 6.4 6.4 6.4 6.5 6.5 6.5 6.5 6.5 6.6 6.6 6.7 6.7 6.7 6.7
[127] 6.7 6.7 6.7 6.7 6.8 6.8 6.8 6.9 6.9 6.9 6.9 7.0 7.1 7.2 7.2 7.2 7.3 7.4
[145] 7.6 7.7 7.7 7.7 7.7 7.9</a:t>
                </a:r>
              </a:p>
              <a:p>
                <a:pPr lvl="0" indent="0">
                  <a:buNone/>
                </a:pPr>
                <a:r>
                  <a:rPr>
                    <a:latin typeface="Courier"/>
                  </a:rPr>
                  <a:t>  [1] 7.9 7.7 7.7 7.7 7.7 7.6 7.4 7.3 7.2 7.2 7.2 7.1 7.0 6.9 6.9 6.9 6.9 6.8
 [19] 6.8 6.8 6.7 6.7 6.7 6.7 6.7 6.7 6.7 6.7 6.6 6.6 6.5 6.5 6.5 6.5 6.5 6.4
 [37] 6.4 6.4 6.4 6.4 6.4 6.4 6.3 6.3 6.3 6.3 6.3 6.3 6.3 6.3 6.3 6.2 6.2 6.2
 [55] 6.2 6.1 6.1 6.1 6.1 6.1 6.1 6.0 6.0 6.0 6.0 6.0 6.0 5.9 5.9 5.9 5.8 5.8
 [73] 5.8 5.8 5.8 5.8 5.8 5.7 5.7 5.7 5.7 5.7 5.7 5.7 5.7 5.6 5.6 5.6 5.6 5.6
 [91] 5.6 5.5 5.5 5.5 5.5 5.5 5.5 5.5 5.4 5.4 5.4 5.4 5.4 5.4 5.3 5.2 5.2 5.2
[109] 5.2 5.1 5.1 5.1 5.1 5.1 5.1 5.1 5.1 5.1 5.0 5.0 5.0 5.0 5.0 5.0 5.0 5.0
[127] 5.0 5.0 4.9 4.9 4.9 4.9 4.9 4.9 4.8 4.8 4.8 4.8 4.8 4.7 4.7 4.6 4.6 4.6
[145] 4.6 4.5 4.4 4.4 4.4 4.3</a:t>
                </a:r>
              </a:p>
              <a:p>
                <a:pPr lvl="0" indent="0" marL="0">
                  <a:spcBef>
                    <a:spcPts val="3000"/>
                  </a:spcBef>
                  <a:buNone/>
                </a:pPr>
                <a:r>
                  <a:rPr b="1">
                    <a:latin typeface="Courier"/>
                  </a:rPr>
                  <a:t>arrange()</a:t>
                </a:r>
              </a:p>
              <a:p>
                <a:pPr lvl="0" indent="0" marL="0">
                  <a:buNone/>
                </a:pPr>
                <a:r>
                  <a:rPr>
                    <a:latin typeface="Courier"/>
                  </a:rPr>
                  <a:t>arrange(dataframe,variable)</a:t>
                </a:r>
                <a:r>
                  <a:rPr/>
                  <a:t> can sort a column in a data frame. This function is from the </a:t>
                </a:r>
                <a:r>
                  <a:rPr>
                    <a:latin typeface="Courier"/>
                  </a:rPr>
                  <a:t>dplyr</a:t>
                </a:r>
                <a:r>
                  <a:rPr/>
                  <a:t> package, which is a part of tidyverse.</a:t>
                </a:r>
              </a:p>
              <a:p>
                <a:pPr lvl="0" indent="0">
                  <a:buNone/>
                </a:pPr>
                <a:r>
                  <a:rPr>
                    <a:latin typeface="Courier"/>
                  </a:rPr>
                  <a:t>Rows: 150
Columns: 5
$ Sepal.Length &lt;dbl&gt; 4.3, 4.4, 4.4, 4.4, 4.5, 4.6, 4.6, 4.6, 4.6, 4.7, 4.7, 4.…
$ Sepal.Width  &lt;dbl&gt; 3.0, 2.9, 3.0, 3.2, 2.3, 3.1, 3.4, 3.6, 3.2, 3.2, 3.2, 3.…
$ Petal.Length &lt;dbl&gt; 1.1, 1.4, 1.3, 1.3, 1.3, 1.5, 1.4, 1.0, 1.4, 1.3, 1.6, 1.…
$ Petal.Width  &lt;dbl&gt; 0.1, 0.2, 0.2, 0.2, 0.3, 0.2, 0.3, 0.2, 0.2, 0.2, 0.2, 0.…
$ Species      &lt;fct&gt; setosa, setosa, setosa, setosa, setosa, setosa, setosa, s…</a:t>
                </a:r>
              </a:p>
              <a:p>
                <a:pPr lvl="0" indent="0">
                  <a:buNone/>
                </a:pPr>
                <a:r>
                  <a:rPr>
                    <a:latin typeface="Courier"/>
                  </a:rPr>
                  <a:t>  [1] 4.3 4.4 4.4 4.4 4.5 4.6 4.6 4.6 4.6 4.7 4.7 4.8 4.8 4.8 4.8 4.8 4.9 4.9
 [19] 4.9 4.9 4.9 4.9 5.0 5.0 5.0 5.0 5.0 5.0 5.0 5.0 5.0 5.0 5.1 5.1 5.1 5.1
 [37] 5.1 5.1 5.1 5.1 5.1 5.2 5.2 5.2 5.2 5.3 5.4 5.4 5.4 5.4 5.4 5.4 5.5 5.5
 [55] 5.5 5.5 5.5 5.5 5.5 5.6 5.6 5.6 5.6 5.6 5.6 5.7 5.7 5.7 5.7 5.7 5.7 5.7
 [73] 5.7 5.8 5.8 5.8 5.8 5.8 5.8 5.8 5.9 5.9 5.9 6.0 6.0 6.0 6.0 6.0 6.0 6.1
 [91] 6.1 6.1 6.1 6.1 6.1 6.2 6.2 6.2 6.2 6.3 6.3 6.3 6.3 6.3 6.3 6.3 6.3 6.3
[109] 6.4 6.4 6.4 6.4 6.4 6.4 6.4 6.5 6.5 6.5 6.5 6.5 6.6 6.6 6.7 6.7 6.7 6.7
[127] 6.7 6.7 6.7 6.7 6.8 6.8 6.8 6.9 6.9 6.9 6.9 7.0 7.1 7.2 7.2 7.2 7.3 7.4
[145] 7.6 7.7 7.7 7.7 7.7 7.9</a:t>
                </a:r>
              </a:p>
              <a:p>
                <a:pPr lvl="0" indent="0">
                  <a:buNone/>
                </a:pPr>
                <a:r>
                  <a:rPr>
                    <a:latin typeface="Courier"/>
                  </a:rPr>
                  <a:t>Rows: 150
Columns: 5
$ Sepal.Length &lt;dbl&gt; 7.9, 7.7, 7.7, 7.7, 7.7, 7.6, 7.4, 7.3, 7.2, 7.2, 7.2, 7.…
$ Sepal.Width  &lt;dbl&gt; 3.8, 3.8, 2.6, 2.8, 3.0, 3.0, 2.8, 2.9, 3.6, 3.2, 3.0, 3.…
$ Petal.Length &lt;dbl&gt; 6.4, 6.7, 6.9, 6.7, 6.1, 6.6, 6.1, 6.3, 6.1, 6.0, 5.8, 5.…
$ Petal.Width  &lt;dbl&gt; 2.0, 2.2, 2.3, 2.0, 2.3, 2.1, 1.9, 1.8, 2.5, 1.8, 1.6, 2.…
$ Species      &lt;fct&gt; virginica, virginica, virginica, virginica, virginica, vi…</a:t>
                </a:r>
              </a:p>
              <a:p>
                <a:pPr lvl="0" indent="0">
                  <a:buNone/>
                </a:pPr>
                <a:r>
                  <a:rPr>
                    <a:latin typeface="Courier"/>
                  </a:rPr>
                  <a:t>  [1] 7.9 7.7 7.7 7.7 7.7 7.6 7.4 7.3 7.2 7.2 7.2 7.1 7.0 6.9 6.9 6.9 6.9 6.8
 [19] 6.8 6.8 6.7 6.7 6.7 6.7 6.7 6.7 6.7 6.7 6.6 6.6 6.5 6.5 6.5 6.5 6.5 6.4
 [37] 6.4 6.4 6.4 6.4 6.4 6.4 6.3 6.3 6.3 6.3 6.3 6.3 6.3 6.3 6.3 6.2 6.2 6.2
 [55] 6.2 6.1 6.1 6.1 6.1 6.1 6.1 6.0 6.0 6.0 6.0 6.0 6.0 5.9 5.9 5.9 5.8 5.8
 [73] 5.8 5.8 5.8 5.8 5.8 5.7 5.7 5.7 5.7 5.7 5.7 5.7 5.7 5.6 5.6 5.6 5.6 5.6
 [91] 5.6 5.5 5.5 5.5 5.5 5.5 5.5 5.5 5.4 5.4 5.4 5.4 5.4 5.4 5.3 5.2 5.2 5.2
[109] 5.2 5.1 5.1 5.1 5.1 5.1 5.1 5.1 5.1 5.1 5.0 5.0 5.0 5.0 5.0 5.0 5.0 5.0
[127] 5.0 5.0 4.9 4.9 4.9 4.9 4.9 4.9 4.8 4.8 4.8 4.8 4.8 4.7 4.7 4.6 4.6 4.6
[145] 4.6 4.5 4.4 4.4 4.4 4.3</a:t>
                </a:r>
              </a:p>
              <a:p>
                <a:pPr lvl="0" indent="0" marL="0">
                  <a:spcBef>
                    <a:spcPts val="3000"/>
                  </a:spcBef>
                  <a:buNone/>
                </a:pPr>
                <a:r>
                  <a:rPr b="1"/>
                  <a:t>Ordered Lists: Pros and Cons</a:t>
                </a:r>
              </a:p>
              <a:p>
                <a:pPr lvl="0" indent="0" marL="0">
                  <a:buNone/>
                </a:pPr>
                <a:r>
                  <a:rPr/>
                  <a:t>The ordered list makes it easier to see the data sorted by a specific variable. However, it may be impractical to use for large data sets.</a:t>
                </a:r>
              </a:p>
              <a:p>
                <a:pPr lvl="0" indent="0" marL="0">
                  <a:spcBef>
                    <a:spcPts val="3000"/>
                  </a:spcBef>
                  <a:buNone/>
                </a:pPr>
                <a:r>
                  <a:rPr b="1"/>
                  <a:t>Exercise</a:t>
                </a:r>
              </a:p>
              <a:p>
                <a:pPr lvl="0" indent="0" marL="0">
                  <a:buNone/>
                </a:pPr>
                <a:r>
                  <a:rPr/>
                  <a:t>The data set </a:t>
                </a:r>
                <a:r>
                  <a:rPr>
                    <a:latin typeface="Courier"/>
                  </a:rPr>
                  <a:t>USArrests</a:t>
                </a:r>
                <a:r>
                  <a:rPr/>
                  <a:t> contains statistics, in arrests per 100,000 residents for assault, murder, and rape in each of the 50 US states in 1973.</a:t>
                </a:r>
              </a:p>
              <a:p>
                <a:pPr lvl="0" indent="0" marL="0">
                  <a:spcBef>
                    <a:spcPts val="3000"/>
                  </a:spcBef>
                  <a:buNone/>
                </a:pPr>
                <a:r>
                  <a:rPr b="1"/>
                  <a:t>Exercise</a:t>
                </a:r>
              </a:p>
              <a:p>
                <a:pPr lvl="0" indent="0" marL="0">
                  <a:buNone/>
                </a:pPr>
                <a:r>
                  <a:rPr/>
                  <a:t>Create an ordered list for the </a:t>
                </a:r>
                <a:r>
                  <a:rPr>
                    <a:latin typeface="Courier"/>
                  </a:rPr>
                  <a:t>Assault</a:t>
                </a:r>
                <a:r>
                  <a:rPr/>
                  <a:t> variable in </a:t>
                </a:r>
                <a:r>
                  <a:rPr>
                    <a:latin typeface="Courier"/>
                  </a:rPr>
                  <a:t>USArrests</a:t>
                </a:r>
                <a:r>
                  <a:rPr/>
                  <a:t>. Which state had the highest rate for assault per 100,000 residents?</a:t>
                </a:r>
              </a:p>
              <a:p>
                <a:pPr lvl="0" indent="0" marL="0">
                  <a:spcBef>
                    <a:spcPts val="3000"/>
                  </a:spcBef>
                  <a:buNone/>
                </a:pPr>
                <a:r>
                  <a:rPr b="1"/>
                  <a:t>Answer</a:t>
                </a:r>
              </a:p>
              <a:p>
                <a:pPr lvl="0" indent="0">
                  <a:buNone/>
                </a:pPr>
                <a:r>
                  <a:rPr>
                    <a:latin typeface="Courier"/>
                  </a:rPr>
                  <a:t> [1] 337 335 300 294 285 279 276 263 259 255 254 252 249 249 238 236 211 204 201
[20] 190 188 178 174 161 159 159 156 151 149 145 120 120 120 115 113 110 109 109
[39] 106 102  86  83  81  72  57  56  53  48  46  45</a:t>
                </a:r>
              </a:p>
              <a:p>
                <a:pPr lvl="0" indent="0">
                  <a:buNone/>
                </a:pPr>
                <a:r>
                  <a:rPr>
                    <a:latin typeface="Courier"/>
                  </a:rPr>
                  <a:t>               Murder Assault UrbanPop Rape
North Carolina   13.0     337       45 16.1
Florida          15.4     335       80 31.9
Maryland         11.3     300       67 27.8
Arizona           8.1     294       80 31.0
New Mexico       11.4     285       70 32.1
South Carolina   14.4     279       48 22.5
California        9.0     276       91 40.6
Alaska           10.0     263       48 44.5
Mississippi      16.1     259       44 17.1
Michigan         12.1     255       74 35.1
New York         11.1     254       86 26.1
Nevada           12.2     252       81 46.0
Illinois         10.4     249       83 24.0
Louisiana        15.4     249       66 22.2
Delaware          5.9     238       72 15.8
Alabama          13.2     236       58 21.2
Georgia          17.4     211       60 25.8
Colorado          7.9     204       78 38.7
Texas            12.7     201       80 25.5
Arkansas          8.8     190       50 19.5
Tennessee        13.2     188       59 26.9
Missouri          9.0     178       70 28.2
Rhode Island      3.4     174       87  8.3
Wyoming           6.8     161       60 15.6
New Jersey        7.4     159       89 18.8
Oregon            4.9     159       67 29.3
Virginia          8.5     156       63 20.7
Oklahoma          6.6     151       68 20.0
Massachusetts     4.4     149       85 16.3
Washington        4.0     145       73 26.2
Idaho             2.6     120       54 14.2
Ohio              7.3     120       75 21.4
Utah              3.2     120       80 22.9
Kansas            6.0     115       66 18.0
Indiana           7.2     113       65 21.0
Connecticut       3.3     110       77 11.1
Kentucky          9.7     109       52 16.3
Montana           6.0     109       53 16.4
Pennsylvania      6.3     106       72 14.9
Nebraska          4.3     102       62 16.5
South Dakota      3.8      86       45 12.8
Maine             2.1      83       51  7.8
West Virginia     5.7      81       39  9.3
Minnesota         2.7      72       66 14.9
New Hampshire     2.1      57       56  9.5
Iowa              2.2      56       57 11.3
Wisconsin         2.6      53       66 10.8
Vermont           2.2      48       32 11.2
Hawaii            5.3      46       83 20.2
North Dakota      0.8      45       44  7.3</a:t>
                </a:r>
              </a:p>
              <a:p>
                <a:pPr lvl="0" indent="0" marL="0">
                  <a:buNone/>
                </a:pPr>
                <a:r>
                  <a:rPr/>
                  <a:t>North Carolina had the highest rate of Assault arrests per 100,000 residents with 337.</a:t>
                </a:r>
              </a:p>
              <a:p>
                <a:pPr lvl="0" indent="0" marL="0">
                  <a:spcBef>
                    <a:spcPts val="3000"/>
                  </a:spcBef>
                  <a:buNone/>
                </a:pPr>
                <a:r>
                  <a:rPr b="1"/>
                  <a:t>Frequency Tables: Categorical Variables</a:t>
                </a:r>
              </a:p>
              <a:p>
                <a:pPr lvl="0" indent="0" marL="0">
                  <a:buNone/>
                </a:pPr>
                <a:r>
                  <a:rPr/>
                  <a:t>One way to summarize a data set is through frequency tables, which counts the frequency of occurrence of values in the data set. To group a set of observations, we select a set of contiguous, nonoverlapping intervals such that each value in the set of observations can be placed in one, and only one, of the intervals.</a:t>
                </a:r>
              </a:p>
              <a:p>
                <a:pPr lvl="0" indent="0" marL="1270000">
                  <a:buNone/>
                </a:pPr>
                <a:r>
                  <a:rPr sz="2000" b="1"/>
                  <a:t>Note</a:t>
                </a:r>
              </a:p>
              <a:p>
                <a:pPr lvl="0" indent="0" marL="1270000">
                  <a:buNone/>
                </a:pPr>
                <a:r>
                  <a:rPr sz="2000"/>
                  <a:t>For categorical variables, these intervals can be defined by the categories in the variable.</a:t>
                </a:r>
              </a:p>
              <a:p>
                <a:pPr lvl="0" indent="0" marL="1270000">
                  <a:buNone/>
                </a:pPr>
                <a:r>
                  <a:rPr sz="2000" b="1"/>
                  <a:t>Important</a:t>
                </a:r>
              </a:p>
              <a:p>
                <a:pPr lvl="0" indent="0" marL="1270000">
                  <a:buNone/>
                </a:pPr>
                <a:r>
                  <a:rPr sz="2000"/>
                  <a:t>Frequency tables are also referred to as frequency distributions.</a:t>
                </a:r>
              </a:p>
              <a:p>
                <a:pPr lvl="0" indent="0" marL="0">
                  <a:spcBef>
                    <a:spcPts val="3000"/>
                  </a:spcBef>
                  <a:buNone/>
                </a:pPr>
                <a:r>
                  <a:rPr b="1"/>
                  <a:t>Frequency Tables: Categorical Variables</a:t>
                </a:r>
              </a:p>
              <a:p>
                <a:pPr lvl="0" indent="0" marL="0">
                  <a:buNone/>
                </a:pPr>
                <a:r>
                  <a:rPr/>
                  <a:t>Here is an example of a frequency table. The data set </a:t>
                </a:r>
                <a:r>
                  <a:rPr>
                    <a:latin typeface="Courier"/>
                  </a:rPr>
                  <a:t>flights</a:t>
                </a:r>
                <a:r>
                  <a:rPr/>
                  <a:t> in the </a:t>
                </a:r>
                <a:r>
                  <a:rPr>
                    <a:latin typeface="Courier"/>
                  </a:rPr>
                  <a:t>nycflights23</a:t>
                </a:r>
                <a:r>
                  <a:rPr/>
                  <a:t> package includes data for all flights that departed from airports in New York city. Recall that this data set has 435,452 rows. If we wished to determine where most flights originated from (column </a:t>
                </a:r>
                <a:r>
                  <a:rPr>
                    <a:latin typeface="Courier"/>
                  </a:rPr>
                  <a:t>origin</a:t>
                </a:r>
                <a:r>
                  <a:rPr/>
                  <a:t>), we can count the number of rows that mentioned each of the airports.</a:t>
                </a:r>
              </a:p>
              <a:p>
                <a:pPr lvl="0" indent="0" marL="0">
                  <a:buNone/>
                </a:pPr>
                <a:r>
                  <a:rPr/>
                  <a:t>To create a basic frequency table, we can use the function </a:t>
                </a:r>
                <a:r>
                  <a:rPr>
                    <a:latin typeface="Courier"/>
                  </a:rPr>
                  <a:t>count(dataframe,variable)</a:t>
                </a:r>
                <a:r>
                  <a:rPr/>
                  <a:t> in the </a:t>
                </a:r>
                <a:r>
                  <a:rPr>
                    <a:latin typeface="Courier"/>
                  </a:rPr>
                  <a:t>dplyr</a:t>
                </a:r>
                <a:r>
                  <a:rPr/>
                  <a:t> package.</a:t>
                </a:r>
              </a:p>
              <a:p>
                <a:pPr lvl="0" indent="0">
                  <a:buNone/>
                </a:pPr>
                <a:r>
                  <a:rPr>
                    <a:latin typeface="Courier"/>
                  </a:rPr>
                  <a:t># A tibble: 3 × 2
  origin      n
  &lt;chr&gt;   &lt;int&gt;
1 EWR    138578
2 JFK    133048
3 LGA    163726</a:t>
                </a:r>
              </a:p>
              <a:p>
                <a:pPr lvl="0" indent="0" marL="0">
                  <a:spcBef>
                    <a:spcPts val="3000"/>
                  </a:spcBef>
                  <a:buNone/>
                </a:pPr>
                <a:r>
                  <a:rPr b="1"/>
                  <a:t>Exercise</a:t>
                </a:r>
              </a:p>
              <a:p>
                <a:pPr lvl="0" indent="0" marL="0">
                  <a:buNone/>
                </a:pPr>
                <a:r>
                  <a:rPr/>
                  <a:t>For the following exercise, use the </a:t>
                </a:r>
                <a:r>
                  <a:rPr>
                    <a:latin typeface="Courier"/>
                  </a:rPr>
                  <a:t>infert</a:t>
                </a:r>
                <a:r>
                  <a:rPr/>
                  <a:t> data set, which has data on education level, age, parity (previous pregnancies), and the incidence of infertility after spontaneous and induced abortion.</a:t>
                </a:r>
              </a:p>
              <a:p>
                <a:pPr lvl="0" indent="0" marL="0">
                  <a:spcBef>
                    <a:spcPts val="3000"/>
                  </a:spcBef>
                  <a:buNone/>
                </a:pPr>
                <a:r>
                  <a:rPr b="1"/>
                  <a:t>Exercise</a:t>
                </a:r>
              </a:p>
              <a:p>
                <a:pPr lvl="0" indent="0" marL="0">
                  <a:buNone/>
                </a:pPr>
                <a:r>
                  <a:rPr/>
                  <a:t>After examining the data set using </a:t>
                </a:r>
                <a:r>
                  <a:rPr>
                    <a:latin typeface="Courier"/>
                  </a:rPr>
                  <a:t>glimpse</a:t>
                </a:r>
                <a:r>
                  <a:rPr/>
                  <a:t>, create a frequency table for the education level of the subjects given by the variable </a:t>
                </a:r>
                <a:r>
                  <a:rPr>
                    <a:latin typeface="Courier"/>
                  </a:rPr>
                  <a:t>education</a:t>
                </a:r>
                <a:r>
                  <a:rPr/>
                  <a:t>.</a:t>
                </a:r>
              </a:p>
              <a:p>
                <a:pPr lvl="0" indent="0" marL="0">
                  <a:spcBef>
                    <a:spcPts val="3000"/>
                  </a:spcBef>
                  <a:buNone/>
                </a:pPr>
                <a:r>
                  <a:rPr b="1"/>
                  <a:t>Answer</a:t>
                </a:r>
              </a:p>
              <a:p>
                <a:pPr lvl="0" indent="0">
                  <a:buNone/>
                </a:pPr>
                <a:r>
                  <a:rPr>
                    <a:latin typeface="Courier"/>
                  </a:rPr>
                  <a:t>  education   n
1    0-5yrs  12
2   6-11yrs 120
3   12+ yrs 116</a:t>
                </a:r>
              </a:p>
              <a:p>
                <a:pPr lvl="0" indent="0" marL="0">
                  <a:spcBef>
                    <a:spcPts val="3000"/>
                  </a:spcBef>
                  <a:buNone/>
                </a:pPr>
                <a:r>
                  <a:rPr b="1"/>
                  <a:t>Relative Frequency</a:t>
                </a:r>
              </a:p>
              <a:p>
                <a:pPr lvl="0" indent="0" marL="0">
                  <a:buNone/>
                </a:pPr>
                <a:r>
                  <a:rPr/>
                  <a:t>It may be useful at times to know the proportion, rather than the number, of values falling within a particular class interval. We obtain this information by dividing the number of values in the particular class interval by the total number of values. For an interval with </a:t>
                </a:r>
                <a14:m>
                  <m:oMath xmlns:m="http://schemas.openxmlformats.org/officeDocument/2006/math">
                    <m:r>
                      <m:t>k</m:t>
                    </m:r>
                  </m:oMath>
                </a14:m>
                <a:r>
                  <a:rPr/>
                  <a:t> occurrences out of a total of </a:t>
                </a:r>
                <a14:m>
                  <m:oMath xmlns:m="http://schemas.openxmlformats.org/officeDocument/2006/math">
                    <m:r>
                      <m:t>N</m:t>
                    </m:r>
                  </m:oMath>
                </a14:m>
                <a:r>
                  <a:rPr/>
                  <a:t> events, the relative frequency can be calculated by:</a:t>
                </a:r>
              </a:p>
              <a:p>
                <a:pPr lvl="0" indent="0" marL="0">
                  <a:buNone/>
                </a:pPr>
                <a14:m>
                  <m:oMathPara xmlns:m="http://schemas.openxmlformats.org/officeDocument/2006/math">
                    <m:oMathParaPr>
                      <m:jc m:val="center"/>
                    </m:oMathParaPr>
                    <m:oMath>
                      <m:r>
                        <m:t>R</m:t>
                      </m:r>
                      <m:r>
                        <m:t>e</m:t>
                      </m:r>
                      <m:r>
                        <m:t>l</m:t>
                      </m:r>
                      <m:r>
                        <m:rPr>
                          <m:sty m:val="p"/>
                        </m:rPr>
                        <m:t>.</m:t>
                      </m:r>
                      <m:r>
                        <m:t>F</m:t>
                      </m:r>
                      <m:r>
                        <m:t>r</m:t>
                      </m:r>
                      <m:r>
                        <m:t>e</m:t>
                      </m:r>
                      <m:r>
                        <m:t>q</m:t>
                      </m:r>
                      <m:r>
                        <m:rPr>
                          <m:sty m:val="p"/>
                        </m:rPr>
                        <m:t>.</m:t>
                      </m:r>
                      <m:r>
                        <m:rPr>
                          <m:sty m:val="p"/>
                        </m:rPr>
                        <m:t>=</m:t>
                      </m:r>
                      <m:r>
                        <m:t>n</m:t>
                      </m:r>
                      <m:r>
                        <m:rPr>
                          <m:sty m:val="p"/>
                        </m:rPr>
                        <m:t>/</m:t>
                      </m:r>
                      <m:r>
                        <m:t>N</m:t>
                      </m:r>
                    </m:oMath>
                  </m:oMathPara>
                </a14:m>
              </a:p>
              <a:p>
                <a:pPr lvl="0" indent="0" marL="1270000">
                  <a:buNone/>
                </a:pPr>
                <a:r>
                  <a:rPr sz="2000" b="1"/>
                  <a:t>Note</a:t>
                </a:r>
              </a:p>
              <a:p>
                <a:pPr lvl="0" indent="0" marL="1270000">
                  <a:buNone/>
                </a:pPr>
                <a:r>
                  <a:rPr sz="2000"/>
                  <a:t>The relative frequency can be reported as a decimal or as a percentage (</a:t>
                </a:r>
                <a14:m>
                  <m:oMath xmlns:m="http://schemas.openxmlformats.org/officeDocument/2006/math">
                    <m:r>
                      <m:rPr>
                        <m:sty m:val="p"/>
                      </m:rPr>
                      <m:t>×</m:t>
                    </m:r>
                    <m:r>
                      <m:t>100</m:t>
                    </m:r>
                    <m:r>
                      <m:rPr>
                        <m:sty m:val="p"/>
                      </m:rPr>
                      <m:t>%</m:t>
                    </m:r>
                  </m:oMath>
                </a14:m>
                <a:r>
                  <a:rPr sz="2000"/>
                  <a:t>).</a:t>
                </a:r>
              </a:p>
              <a:p>
                <a:pPr lvl="0" indent="0" marL="0">
                  <a:spcBef>
                    <a:spcPts val="3000"/>
                  </a:spcBef>
                  <a:buNone/>
                </a:pPr>
                <a:r>
                  <a:rPr b="1"/>
                  <a:t>Cumulative Relative Frequency</a:t>
                </a:r>
              </a:p>
              <a:p>
                <a:pPr lvl="0" indent="0" marL="0">
                  <a:buNone/>
                </a:pPr>
                <a:r>
                  <a:rPr/>
                  <a:t>We may sum, or cumulate, the relative frequencies to facilitate obtaining information regarding the relative frequency of values within two or more contiguous class intervals.</a:t>
                </a:r>
              </a:p>
              <a:p>
                <a:pPr lvl="0" indent="0" marL="1270000">
                  <a:buNone/>
                </a:pPr>
                <a:r>
                  <a:rPr sz="2000" b="1"/>
                  <a:t>Note</a:t>
                </a:r>
              </a:p>
              <a:p>
                <a:pPr lvl="0" indent="0" marL="1270000">
                  <a:buNone/>
                </a:pPr>
                <a:r>
                  <a:rPr sz="2000"/>
                  <a:t>The sum of </a:t>
                </a:r>
                <a:r>
                  <a:rPr sz="2000" i="1"/>
                  <a:t>relative</a:t>
                </a:r>
                <a:r>
                  <a:rPr sz="2000"/>
                  <a:t> frequencies is referred to as the </a:t>
                </a:r>
                <a:r>
                  <a:rPr sz="2000" b="1"/>
                  <a:t>cumulative relative frequency</a:t>
                </a:r>
              </a:p>
              <a:p>
                <a:pPr lvl="0" indent="0" marL="0">
                  <a:spcBef>
                    <a:spcPts val="3000"/>
                  </a:spcBef>
                  <a:buNone/>
                </a:pPr>
                <a:r>
                  <a:rPr b="1"/>
                  <a:t>Calculating Relative and Cumulative Frequencies</a:t>
                </a:r>
              </a:p>
              <a:p>
                <a:pPr lvl="0" indent="0" marL="0">
                  <a:buNone/>
                </a:pPr>
                <a:r>
                  <a:rPr/>
                  <a:t>Let’s try to calculate these frequencies by hand using the </a:t>
                </a:r>
                <a:r>
                  <a:rPr>
                    <a:latin typeface="Courier"/>
                  </a:rPr>
                  <a:t>origin</a:t>
                </a:r>
                <a:r>
                  <a:rPr/>
                  <a:t> frequency distribution example from </a:t>
                </a:r>
                <a:r>
                  <a:rPr>
                    <a:latin typeface="Courier"/>
                  </a:rPr>
                  <a:t>nycflights</a:t>
                </a:r>
                <a:r>
                  <a:rPr/>
                  <a:t>.</a:t>
                </a:r>
              </a:p>
            </p:txBody>
          </p:sp>
        </mc:Choice>
      </mc:AlternateContent>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origin</a:t>
                      </a:r>
                    </a:p>
                  </a:txBody>
                  <a:tcPr/>
                </a:tc>
                <a:tc>
                  <a:txBody>
                    <a:bodyPr/>
                    <a:lstStyle/>
                    <a:p>
                      <a:pPr lvl="0" indent="0" marL="0">
                        <a:buNone/>
                      </a:pPr>
                      <a:r>
                        <a:rPr/>
                        <a:t>n</a:t>
                      </a:r>
                    </a:p>
                  </a:txBody>
                  <a:tcPr/>
                </a:tc>
              </a:tr>
              <a:tr h="0">
                <a:tc>
                  <a:txBody>
                    <a:bodyPr/>
                    <a:lstStyle/>
                    <a:p>
                      <a:pPr lvl="0" indent="0" marL="0">
                        <a:buNone/>
                      </a:pPr>
                      <a:r>
                        <a:rPr/>
                        <a:t>EWR</a:t>
                      </a:r>
                    </a:p>
                  </a:txBody>
                </a:tc>
                <a:tc>
                  <a:txBody>
                    <a:bodyPr/>
                    <a:lstStyle/>
                    <a:p>
                      <a:pPr lvl="0" indent="0" marL="0">
                        <a:buNone/>
                      </a:pPr>
                      <a:r>
                        <a:rPr/>
                        <a:t>138578</a:t>
                      </a:r>
                    </a:p>
                  </a:txBody>
                </a:tc>
              </a:tr>
              <a:tr h="0">
                <a:tc>
                  <a:txBody>
                    <a:bodyPr/>
                    <a:lstStyle/>
                    <a:p>
                      <a:pPr lvl="0" indent="0" marL="0">
                        <a:buNone/>
                      </a:pPr>
                      <a:r>
                        <a:rPr/>
                        <a:t>JFK</a:t>
                      </a:r>
                    </a:p>
                  </a:txBody>
                </a:tc>
                <a:tc>
                  <a:txBody>
                    <a:bodyPr/>
                    <a:lstStyle/>
                    <a:p>
                      <a:pPr lvl="0" indent="0" marL="0">
                        <a:buNone/>
                      </a:pPr>
                      <a:r>
                        <a:rPr/>
                        <a:t>133048</a:t>
                      </a:r>
                    </a:p>
                  </a:txBody>
                </a:tc>
              </a:tr>
              <a:tr h="0">
                <a:tc>
                  <a:txBody>
                    <a:bodyPr/>
                    <a:lstStyle/>
                    <a:p>
                      <a:pPr lvl="0" indent="0" marL="0">
                        <a:buNone/>
                      </a:pPr>
                      <a:r>
                        <a:rPr/>
                        <a:t>LGA</a:t>
                      </a:r>
                    </a:p>
                  </a:txBody>
                </a:tc>
                <a:tc>
                  <a:txBody>
                    <a:bodyPr/>
                    <a:lstStyle/>
                    <a:p>
                      <a:pPr lvl="0" indent="0" marL="0">
                        <a:buNone/>
                      </a:pPr>
                      <a:r>
                        <a:rPr/>
                        <a:t>163726</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Relative Freq.</a:t>
                </a:r>
              </a:p>
              <a:p>
                <a:pPr lvl="0" indent="0" marL="0">
                  <a:buNone/>
                </a:pPr>
                <a:r>
                  <a:rPr/>
                  <a:t>For EWR: </a:t>
                </a:r>
                <a14:m>
                  <m:oMath xmlns:m="http://schemas.openxmlformats.org/officeDocument/2006/math">
                    <m:f>
                      <m:fPr>
                        <m:type m:val="bar"/>
                      </m:fPr>
                      <m:num>
                        <m:r>
                          <m:t>138578</m:t>
                        </m:r>
                      </m:num>
                      <m:den>
                        <m:d>
                          <m:dPr>
                            <m:begChr m:val="("/>
                            <m:sepChr m:val=""/>
                            <m:endChr m:val=")"/>
                            <m:grow/>
                          </m:dPr>
                          <m:e>
                            <m:r>
                              <m:t>138578</m:t>
                            </m:r>
                            <m:r>
                              <m:rPr>
                                <m:sty m:val="p"/>
                              </m:rPr>
                              <m:t>+</m:t>
                            </m:r>
                            <m:r>
                              <m:t>133048</m:t>
                            </m:r>
                            <m:r>
                              <m:rPr>
                                <m:sty m:val="p"/>
                              </m:rPr>
                              <m:t>+</m:t>
                            </m:r>
                            <m:r>
                              <m:t>163726</m:t>
                            </m:r>
                          </m:e>
                        </m:d>
                      </m:den>
                    </m:f>
                    <m:r>
                      <m:rPr>
                        <m:sty m:val="p"/>
                      </m:rPr>
                      <m:t>=</m:t>
                    </m:r>
                  </m:oMath>
                </a14:m>
                <a:r>
                  <a:rPr/>
                  <a:t> 0.3183125</a:t>
                </a:r>
              </a:p>
              <a:p>
                <a:pPr lvl="0" indent="0" marL="0">
                  <a:buNone/>
                </a:pPr>
                <a:r>
                  <a:rPr/>
                  <a:t>For JFK: </a:t>
                </a:r>
                <a14:m>
                  <m:oMath xmlns:m="http://schemas.openxmlformats.org/officeDocument/2006/math">
                    <m:f>
                      <m:fPr>
                        <m:type m:val="bar"/>
                      </m:fPr>
                      <m:num>
                        <m:r>
                          <m:t>133048</m:t>
                        </m:r>
                      </m:num>
                      <m:den>
                        <m:d>
                          <m:dPr>
                            <m:begChr m:val="("/>
                            <m:sepChr m:val=""/>
                            <m:endChr m:val=")"/>
                            <m:grow/>
                          </m:dPr>
                          <m:e>
                            <m:r>
                              <m:t>138578</m:t>
                            </m:r>
                            <m:r>
                              <m:rPr>
                                <m:sty m:val="p"/>
                              </m:rPr>
                              <m:t>+</m:t>
                            </m:r>
                            <m:r>
                              <m:t>133048</m:t>
                            </m:r>
                            <m:r>
                              <m:rPr>
                                <m:sty m:val="p"/>
                              </m:rPr>
                              <m:t>+</m:t>
                            </m:r>
                            <m:r>
                              <m:t>163726</m:t>
                            </m:r>
                          </m:e>
                        </m:d>
                      </m:den>
                    </m:f>
                    <m:r>
                      <m:rPr>
                        <m:sty m:val="p"/>
                      </m:rPr>
                      <m:t>=</m:t>
                    </m:r>
                  </m:oMath>
                </a14:m>
                <a:r>
                  <a:rPr/>
                  <a:t> 0.3056102</a:t>
                </a:r>
              </a:p>
              <a:p>
                <a:pPr lvl="0" indent="0" marL="0">
                  <a:buNone/>
                </a:pPr>
                <a:r>
                  <a:rPr/>
                  <a:t>For LGA: </a:t>
                </a:r>
                <a14:m>
                  <m:oMath xmlns:m="http://schemas.openxmlformats.org/officeDocument/2006/math">
                    <m:f>
                      <m:fPr>
                        <m:type m:val="bar"/>
                      </m:fPr>
                      <m:num>
                        <m:r>
                          <m:t>163726</m:t>
                        </m:r>
                      </m:num>
                      <m:den>
                        <m:d>
                          <m:dPr>
                            <m:begChr m:val="("/>
                            <m:sepChr m:val=""/>
                            <m:endChr m:val=")"/>
                            <m:grow/>
                          </m:dPr>
                          <m:e>
                            <m:r>
                              <m:t>138578</m:t>
                            </m:r>
                            <m:r>
                              <m:rPr>
                                <m:sty m:val="p"/>
                              </m:rPr>
                              <m:t>+</m:t>
                            </m:r>
                            <m:r>
                              <m:t>133048</m:t>
                            </m:r>
                            <m:r>
                              <m:rPr>
                                <m:sty m:val="p"/>
                              </m:rPr>
                              <m:t>+</m:t>
                            </m:r>
                            <m:r>
                              <m:t>163726</m:t>
                            </m:r>
                          </m:e>
                        </m:d>
                      </m:den>
                    </m:f>
                    <m:r>
                      <m:rPr>
                        <m:sty m:val="p"/>
                      </m:rPr>
                      <m:t>=</m:t>
                    </m:r>
                  </m:oMath>
                </a14:m>
                <a:r>
                  <a:rPr/>
                  <a:t> 0.3760773</a:t>
                </a:r>
              </a:p>
              <a:p>
                <a:pPr lvl="0" indent="0" marL="0">
                  <a:spcBef>
                    <a:spcPts val="3000"/>
                  </a:spcBef>
                  <a:buNone/>
                </a:pPr>
                <a:r>
                  <a:rPr b="1"/>
                  <a:t>Cumulative Freq.</a:t>
                </a:r>
              </a:p>
              <a:p>
                <a:pPr lvl="0" indent="0" marL="0">
                  <a:buNone/>
                </a:pPr>
                <a:r>
                  <a:rPr/>
                  <a:t>For EWR: 138578</a:t>
                </a:r>
              </a:p>
              <a:p>
                <a:pPr lvl="0" indent="0" marL="0">
                  <a:buNone/>
                </a:pPr>
                <a:r>
                  <a:rPr/>
                  <a:t>For EWR + JFK: </a:t>
                </a:r>
                <a14:m>
                  <m:oMath xmlns:m="http://schemas.openxmlformats.org/officeDocument/2006/math">
                    <m:r>
                      <m:t>138578</m:t>
                    </m:r>
                    <m:r>
                      <m:rPr>
                        <m:sty m:val="p"/>
                      </m:rPr>
                      <m:t>+</m:t>
                    </m:r>
                    <m:r>
                      <m:t>133048</m:t>
                    </m:r>
                    <m:r>
                      <m:rPr>
                        <m:sty m:val="p"/>
                      </m:rPr>
                      <m:t>=</m:t>
                    </m:r>
                  </m:oMath>
                </a14:m>
                <a:r>
                  <a:rPr/>
                  <a:t> 271626</a:t>
                </a:r>
              </a:p>
              <a:p>
                <a:pPr lvl="0" indent="0" marL="0">
                  <a:buNone/>
                </a:pPr>
                <a:r>
                  <a:rPr/>
                  <a:t>For EWR+JFK + LGA: </a:t>
                </a:r>
                <a14:m>
                  <m:oMath xmlns:m="http://schemas.openxmlformats.org/officeDocument/2006/math">
                    <m:d>
                      <m:dPr>
                        <m:begChr m:val="("/>
                        <m:sepChr m:val=""/>
                        <m:endChr m:val=")"/>
                        <m:grow/>
                      </m:dPr>
                      <m:e>
                        <m:r>
                          <m:t>138578</m:t>
                        </m:r>
                        <m:r>
                          <m:rPr>
                            <m:sty m:val="p"/>
                          </m:rPr>
                          <m:t>+</m:t>
                        </m:r>
                        <m:r>
                          <m:t>133048</m:t>
                        </m:r>
                        <m:r>
                          <m:rPr>
                            <m:sty m:val="p"/>
                          </m:rPr>
                          <m:t>+</m:t>
                        </m:r>
                        <m:r>
                          <m:t>163726</m:t>
                        </m:r>
                      </m:e>
                    </m:d>
                    <m:r>
                      <m:rPr>
                        <m:sty m:val="p"/>
                      </m:rPr>
                      <m:t>=</m:t>
                    </m:r>
                  </m:oMath>
                </a14:m>
                <a:r>
                  <a:rPr/>
                  <a:t> 435352</a:t>
                </a:r>
              </a:p>
              <a:p>
                <a:pPr lvl="0" indent="0" marL="0">
                  <a:spcBef>
                    <a:spcPts val="3000"/>
                  </a:spcBef>
                  <a:buNone/>
                </a:pPr>
                <a:r>
                  <a:rPr b="1"/>
                  <a:t>Cumulative Rel. Freq.</a:t>
                </a:r>
              </a:p>
              <a:p>
                <a:pPr lvl="0" indent="0" marL="0">
                  <a:buNone/>
                </a:pPr>
                <a:r>
                  <a:rPr/>
                  <a:t>For EWR: </a:t>
                </a:r>
                <a14:m>
                  <m:oMath xmlns:m="http://schemas.openxmlformats.org/officeDocument/2006/math">
                    <m:f>
                      <m:fPr>
                        <m:type m:val="bar"/>
                      </m:fPr>
                      <m:num>
                        <m:r>
                          <m:t>138578</m:t>
                        </m:r>
                      </m:num>
                      <m:den>
                        <m:d>
                          <m:dPr>
                            <m:begChr m:val="("/>
                            <m:sepChr m:val=""/>
                            <m:endChr m:val=")"/>
                            <m:grow/>
                          </m:dPr>
                          <m:e>
                            <m:r>
                              <m:t>138578</m:t>
                            </m:r>
                            <m:r>
                              <m:rPr>
                                <m:sty m:val="p"/>
                              </m:rPr>
                              <m:t>+</m:t>
                            </m:r>
                            <m:r>
                              <m:t>133048</m:t>
                            </m:r>
                            <m:r>
                              <m:rPr>
                                <m:sty m:val="p"/>
                              </m:rPr>
                              <m:t>+</m:t>
                            </m:r>
                            <m:r>
                              <m:t>163726</m:t>
                            </m:r>
                          </m:e>
                        </m:d>
                      </m:den>
                    </m:f>
                    <m:r>
                      <m:rPr>
                        <m:sty m:val="p"/>
                      </m:rPr>
                      <m:t>=</m:t>
                    </m:r>
                  </m:oMath>
                </a14:m>
                <a:r>
                  <a:rPr/>
                  <a:t> 0.3183125</a:t>
                </a:r>
              </a:p>
              <a:p>
                <a:pPr lvl="0" indent="0" marL="0">
                  <a:buNone/>
                </a:pPr>
                <a:r>
                  <a:rPr/>
                  <a:t>For EWR + JFK: </a:t>
                </a:r>
                <a14:m>
                  <m:oMath xmlns:m="http://schemas.openxmlformats.org/officeDocument/2006/math">
                    <m:f>
                      <m:fPr>
                        <m:type m:val="bar"/>
                      </m:fPr>
                      <m:num>
                        <m:r>
                          <m:t>138578</m:t>
                        </m:r>
                        <m:r>
                          <m:rPr>
                            <m:sty m:val="p"/>
                          </m:rPr>
                          <m:t>+</m:t>
                        </m:r>
                        <m:r>
                          <m:t>133048</m:t>
                        </m:r>
                      </m:num>
                      <m:den>
                        <m:d>
                          <m:dPr>
                            <m:begChr m:val="("/>
                            <m:sepChr m:val=""/>
                            <m:endChr m:val=")"/>
                            <m:grow/>
                          </m:dPr>
                          <m:e>
                            <m:r>
                              <m:t>138578</m:t>
                            </m:r>
                            <m:r>
                              <m:rPr>
                                <m:sty m:val="p"/>
                              </m:rPr>
                              <m:t>+</m:t>
                            </m:r>
                            <m:r>
                              <m:t>133048</m:t>
                            </m:r>
                            <m:r>
                              <m:rPr>
                                <m:sty m:val="p"/>
                              </m:rPr>
                              <m:t>+</m:t>
                            </m:r>
                            <m:r>
                              <m:t>163726</m:t>
                            </m:r>
                          </m:e>
                        </m:d>
                      </m:den>
                    </m:f>
                    <m:r>
                      <m:rPr>
                        <m:sty m:val="p"/>
                      </m:rPr>
                      <m:t>=</m:t>
                    </m:r>
                  </m:oMath>
                </a14:m>
                <a:r>
                  <a:rPr/>
                  <a:t> 0.6239227</a:t>
                </a:r>
              </a:p>
              <a:p>
                <a:pPr lvl="0" indent="0" marL="0">
                  <a:buNone/>
                </a:pPr>
                <a:r>
                  <a:rPr/>
                  <a:t>For EWR+JFK + LGA: </a:t>
                </a:r>
                <a14:m>
                  <m:oMath xmlns:m="http://schemas.openxmlformats.org/officeDocument/2006/math">
                    <m:f>
                      <m:fPr>
                        <m:type m:val="bar"/>
                      </m:fPr>
                      <m:num>
                        <m:r>
                          <m:t>133048</m:t>
                        </m:r>
                        <m:r>
                          <m:rPr>
                            <m:sty m:val="p"/>
                          </m:rPr>
                          <m:t>+</m:t>
                        </m:r>
                        <m:r>
                          <m:t>138578</m:t>
                        </m:r>
                        <m:r>
                          <m:rPr>
                            <m:sty m:val="p"/>
                          </m:rPr>
                          <m:t>+</m:t>
                        </m:r>
                        <m:r>
                          <m:t>163726</m:t>
                        </m:r>
                      </m:num>
                      <m:den>
                        <m:d>
                          <m:dPr>
                            <m:begChr m:val="("/>
                            <m:sepChr m:val=""/>
                            <m:endChr m:val=")"/>
                            <m:grow/>
                          </m:dPr>
                          <m:e>
                            <m:r>
                              <m:t>138578</m:t>
                            </m:r>
                            <m:r>
                              <m:rPr>
                                <m:sty m:val="p"/>
                              </m:rPr>
                              <m:t>+</m:t>
                            </m:r>
                            <m:r>
                              <m:t>133048</m:t>
                            </m:r>
                            <m:r>
                              <m:rPr>
                                <m:sty m:val="p"/>
                              </m:rPr>
                              <m:t>+</m:t>
                            </m:r>
                            <m:r>
                              <m:t>163726</m:t>
                            </m:r>
                          </m:e>
                        </m:d>
                      </m:den>
                    </m:f>
                    <m:r>
                      <m:rPr>
                        <m:sty m:val="p"/>
                      </m:rPr>
                      <m:t>=</m:t>
                    </m:r>
                  </m:oMath>
                </a14:m>
                <a:r>
                  <a:rPr/>
                  <a:t> 1</a:t>
                </a:r>
              </a:p>
              <a:p>
                <a:pPr lvl="0" indent="0" marL="0">
                  <a:spcBef>
                    <a:spcPts val="3000"/>
                  </a:spcBef>
                  <a:buNone/>
                </a:pPr>
                <a:r>
                  <a:rPr b="1"/>
                  <a:t>Frequency Tables in </a:t>
                </a:r>
                <a:r>
                  <a:rPr b="1">
                    <a:latin typeface="Courier"/>
                  </a:rPr>
                  <a:t>R</a:t>
                </a:r>
              </a:p>
              <a:p>
                <a:pPr lvl="0" indent="0" marL="0">
                  <a:buNone/>
                </a:pPr>
                <a:r>
                  <a:rPr/>
                  <a:t>There are a lot of ways to create frequency tables in </a:t>
                </a:r>
                <a:r>
                  <a:rPr>
                    <a:latin typeface="Courier"/>
                  </a:rPr>
                  <a:t>R</a:t>
                </a:r>
                <a:r>
                  <a:rPr/>
                  <a:t>. One of the easiest and most complete ways is to use the function </a:t>
                </a:r>
                <a:r>
                  <a:rPr>
                    <a:latin typeface="Courier"/>
                  </a:rPr>
                  <a:t>freq</a:t>
                </a:r>
                <a:r>
                  <a:rPr/>
                  <a:t> in the package </a:t>
                </a:r>
                <a:r>
                  <a:rPr>
                    <a:latin typeface="Courier"/>
                  </a:rPr>
                  <a:t>summarytools</a:t>
                </a:r>
                <a:r>
                  <a:rPr/>
                  <a:t>.</a:t>
                </a:r>
              </a:p>
              <a:p>
                <a:pPr lvl="0" indent="0">
                  <a:buNone/>
                </a:pPr>
                <a:r>
                  <a:rPr>
                    <a:latin typeface="Courier"/>
                  </a:rPr>
                  <a:t>Frequencies  
flights$origin  
Type: Character  
                Freq   % Valid   % Valid Cum.   % Total   % Total Cum.
----------- -------- --------- -------------- --------- --------------
        EWR   138578     31.83          31.83     31.83          31.83
        JFK   133048     30.56          62.39     30.56          62.39
        LGA   163726     37.61         100.00     37.61         100.00
       &lt;NA&gt;        0                               0.00         100.00
      Total   435352    100.00         100.00    100.00         100.00</a:t>
                </a:r>
              </a:p>
              <a:p>
                <a:pPr lvl="0" indent="0" marL="1270000">
                  <a:buNone/>
                </a:pPr>
                <a:r>
                  <a:rPr sz="2000" b="1"/>
                  <a:t>Important</a:t>
                </a:r>
              </a:p>
              <a:p>
                <a:pPr lvl="0" indent="0" marL="1270000">
                  <a:buNone/>
                </a:pPr>
                <a:r>
                  <a:rPr sz="2000"/>
                  <a:t>The </a:t>
                </a:r>
                <a:r>
                  <a:rPr sz="2000">
                    <a:latin typeface="Courier"/>
                  </a:rPr>
                  <a:t>&lt;NA&gt;</a:t>
                </a:r>
                <a:r>
                  <a:rPr sz="2000"/>
                  <a:t> row also counts rows that have missing values. The </a:t>
                </a:r>
                <a:r>
                  <a:rPr sz="2000">
                    <a:latin typeface="Courier"/>
                  </a:rPr>
                  <a:t>%Valid</a:t>
                </a:r>
                <a:r>
                  <a:rPr sz="2000"/>
                  <a:t> column only counts non-missing data, while the </a:t>
                </a:r>
                <a:r>
                  <a:rPr sz="2000">
                    <a:latin typeface="Courier"/>
                  </a:rPr>
                  <a:t>% Total</a:t>
                </a:r>
                <a:r>
                  <a:rPr sz="2000"/>
                  <a:t> column counts missing data in calculating relative and cumulative frequencies. In this example, there are no missing rows, hence the columns are the same.</a:t>
                </a:r>
              </a:p>
              <a:p>
                <a:pPr lvl="0" indent="0" marL="1270000">
                  <a:buNone/>
                </a:pPr>
                <a:r>
                  <a:rPr sz="2000"/>
                  <a:t>The function also does not output cumulative frequencies, but usually cumulative relative frequencies suffice.</a:t>
                </a:r>
              </a:p>
              <a:p>
                <a:pPr lvl="0" indent="0" marL="0">
                  <a:spcBef>
                    <a:spcPts val="3000"/>
                  </a:spcBef>
                  <a:buNone/>
                </a:pPr>
                <a:r>
                  <a:rPr b="1"/>
                  <a:t>Frequency Tables: Quantitative Variables</a:t>
                </a:r>
              </a:p>
              <a:p>
                <a:pPr lvl="0" indent="0" marL="0">
                  <a:buNone/>
                </a:pPr>
                <a:r>
                  <a:rPr/>
                  <a:t>These intervals are usually referred to as </a:t>
                </a:r>
                <a:r>
                  <a:rPr b="1"/>
                  <a:t>class intervals</a:t>
                </a:r>
                <a:r>
                  <a:rPr/>
                  <a:t>.</a:t>
                </a:r>
              </a:p>
              <a:p>
                <a:pPr lvl="0" indent="0" marL="1270000">
                  <a:buNone/>
                </a:pPr>
                <a:r>
                  <a:rPr sz="2000" b="1"/>
                  <a:t>Important</a:t>
                </a:r>
              </a:p>
              <a:p>
                <a:pPr lvl="0" indent="0" marL="1270000">
                  <a:buNone/>
                </a:pPr>
                <a:r>
                  <a:rPr sz="2000"/>
                  <a:t>Too few intervals are undesirable because of the resulting loss of information. On the other hand, if too many intervals are used, the objective of summarization will not be met.</a:t>
                </a:r>
              </a:p>
              <a:p>
                <a:pPr lvl="0" indent="0" marL="1270000">
                  <a:buNone/>
                </a:pPr>
                <a:r>
                  <a:rPr sz="2000"/>
                  <a:t>A commonly followed rule of thumb states that there should be no fewer than 5 intervals and no more than 15. However, if the number of intervals fall outside this range, it should be based on theoretical/foundational concepts that could justify the choice of intervals.</a:t>
                </a:r>
              </a:p>
              <a:p>
                <a:pPr lvl="0" indent="0" marL="0">
                  <a:spcBef>
                    <a:spcPts val="3000"/>
                  </a:spcBef>
                  <a:buNone/>
                </a:pPr>
                <a:r>
                  <a:rPr b="1"/>
                  <a:t>Frequency Tables in </a:t>
                </a:r>
                <a:r>
                  <a:rPr b="1">
                    <a:latin typeface="Courier"/>
                  </a:rPr>
                  <a:t>R</a:t>
                </a:r>
                <a:r>
                  <a:rPr b="1"/>
                  <a:t>: QV</a:t>
                </a:r>
              </a:p>
              <a:p>
                <a:pPr lvl="0" indent="0" marL="0">
                  <a:buNone/>
                </a:pPr>
                <a:r>
                  <a:rPr/>
                  <a:t>Like categorical variables, there are a lot of ways to create a frequency tables for quantitative variables. However, using </a:t>
                </a:r>
                <a:r>
                  <a:rPr>
                    <a:latin typeface="Courier"/>
                  </a:rPr>
                  <a:t>freq()</a:t>
                </a:r>
                <a:r>
                  <a:rPr/>
                  <a:t> directly on a quantitative variable could lead to trivial frequency tables.</a:t>
                </a:r>
              </a:p>
              <a:p>
                <a:pPr lvl="0" indent="0" marL="1270000">
                  <a:buNone/>
                </a:pPr>
                <a:r>
                  <a:rPr sz="2000" b="1"/>
                  <a:t>Warning</a:t>
                </a:r>
              </a:p>
              <a:p>
                <a:pPr lvl="0" indent="0" marL="1270000">
                  <a:buNone/>
                </a:pPr>
                <a:r>
                  <a:rPr sz="2000"/>
                  <a:t>What happens if you run the following code?</a:t>
                </a:r>
              </a:p>
              <a:p>
                <a:pPr lvl="0" indent="0">
                  <a:buNone/>
                </a:pPr>
                <a:r>
                  <a:rPr>
                    <a:solidFill>
                      <a:srgbClr val="4758AB"/>
                    </a:solidFill>
                    <a:latin typeface="Courier"/>
                  </a:rPr>
                  <a:t>freq</a:t>
                </a:r>
                <a:r>
                  <a:rPr>
                    <a:solidFill>
                      <a:srgbClr val="003B4F"/>
                    </a:solidFill>
                    <a:latin typeface="Courier"/>
                  </a:rPr>
                  <a:t>(iris</a:t>
                </a:r>
                <a:r>
                  <a:rPr>
                    <a:solidFill>
                      <a:srgbClr val="5E5E5E"/>
                    </a:solidFill>
                    <a:latin typeface="Courier"/>
                  </a:rPr>
                  <a:t>$</a:t>
                </a:r>
                <a:r>
                  <a:rPr>
                    <a:solidFill>
                      <a:srgbClr val="003B4F"/>
                    </a:solidFill>
                    <a:latin typeface="Courier"/>
                  </a:rPr>
                  <a:t>Sepal.Length)</a:t>
                </a:r>
              </a:p>
              <a:p>
                <a:pPr lvl="0" indent="0" marL="0">
                  <a:spcBef>
                    <a:spcPts val="3000"/>
                  </a:spcBef>
                  <a:buNone/>
                </a:pPr>
                <a:r>
                  <a:rPr b="1"/>
                  <a:t>Frequency Tables in </a:t>
                </a:r>
                <a:r>
                  <a:rPr b="1">
                    <a:latin typeface="Courier"/>
                  </a:rPr>
                  <a:t>R</a:t>
                </a:r>
                <a:r>
                  <a:rPr b="1"/>
                  <a:t>: </a:t>
                </a:r>
                <a:r>
                  <a:rPr b="1">
                    <a:latin typeface="Courier"/>
                  </a:rPr>
                  <a:t>hist()</a:t>
                </a:r>
              </a:p>
              <a:p>
                <a:pPr lvl="0" indent="0" marL="0">
                  <a:spcBef>
                    <a:spcPts val="3000"/>
                  </a:spcBef>
                  <a:buNone/>
                </a:pPr>
                <a:r>
                  <a:rPr b="1">
                    <a:latin typeface="Courier"/>
                  </a:rPr>
                  <a:t>hist(vector)</a:t>
                </a:r>
              </a:p>
              <a:p>
                <a:pPr lvl="0" indent="0" marL="0">
                  <a:buNone/>
                </a:pPr>
                <a:r>
                  <a:rPr/>
                  <a:t>The function </a:t>
                </a:r>
                <a:r>
                  <a:rPr>
                    <a:latin typeface="Courier"/>
                  </a:rPr>
                  <a:t>hist()</a:t>
                </a:r>
                <a:r>
                  <a:rPr/>
                  <a:t> creates both a histogram or a vector of frequencies. To show the vector of frequencies, the plotting mechanism must be turned off. This can be done by setting </a:t>
                </a:r>
                <a:r>
                  <a:rPr>
                    <a:latin typeface="Courier"/>
                  </a:rPr>
                  <a:t>plot=F</a:t>
                </a:r>
                <a:r>
                  <a:rPr/>
                  <a:t>. For example,</a:t>
                </a:r>
              </a:p>
              <a:p>
                <a:pPr lvl="0" indent="0">
                  <a:buNone/>
                </a:pPr>
                <a:r>
                  <a:rPr>
                    <a:latin typeface="Courier"/>
                  </a:rPr>
                  <a:t>$breaks
[1] 4.0 4.5 5.0 5.5 6.0 6.5 7.0 7.5 8.0
$counts
[1]  5 27 27 30 31 18  6  6
$density
[1] 0.06666667 0.36000000 0.36000000 0.40000000 0.41333333 0.24000000 0.08000000
[8] 0.08000000
$mids
[1] 4.25 4.75 5.25 5.75 6.25 6.75 7.25 7.75
$xname
[1] "iris$Sepal.Length"
$equidist
[1] TRUE
attr(,"class")
[1] "histogram"</a:t>
                </a:r>
              </a:p>
              <a:p>
                <a:pPr lvl="0" indent="0" marL="1270000">
                  <a:buNone/>
                </a:pPr>
                <a:r>
                  <a:rPr sz="2000" b="1"/>
                  <a:t>Note</a:t>
                </a:r>
              </a:p>
              <a:p>
                <a:pPr lvl="0" indent="0" marL="1270000">
                  <a:buNone/>
                </a:pPr>
                <a:r>
                  <a:rPr sz="2000"/>
                  <a:t>In this output:</a:t>
                </a:r>
              </a:p>
              <a:p>
                <a:pPr lvl="0"/>
                <a:r>
                  <a:rPr sz="2000">
                    <a:latin typeface="Courier"/>
                  </a:rPr>
                  <a:t>Breaks</a:t>
                </a:r>
                <a:r>
                  <a:rPr sz="2000"/>
                  <a:t> are the endpoints of the intervals used to create the frequency table.</a:t>
                </a:r>
              </a:p>
              <a:p>
                <a:pPr lvl="0"/>
                <a:r>
                  <a:rPr sz="2000">
                    <a:latin typeface="Courier"/>
                  </a:rPr>
                  <a:t>counts</a:t>
                </a:r>
                <a:r>
                  <a:rPr sz="2000"/>
                  <a:t> are the frequencies for each interval.</a:t>
                </a:r>
              </a:p>
              <a:p>
                <a:pPr lvl="0"/>
                <a:r>
                  <a:rPr sz="2000">
                    <a:latin typeface="Courier"/>
                  </a:rPr>
                  <a:t>mids</a:t>
                </a:r>
                <a:r>
                  <a:rPr sz="2000"/>
                  <a:t> are the midpoints of each interval, which is commonly used as the representative numbers of each interval.</a:t>
                </a:r>
              </a:p>
              <a:p>
                <a:pPr lvl="0" indent="0" marL="0">
                  <a:spcBef>
                    <a:spcPts val="3000"/>
                  </a:spcBef>
                  <a:buNone/>
                </a:pPr>
                <a:r>
                  <a:rPr b="1"/>
                  <a:t>Frequency Tables in </a:t>
                </a:r>
                <a:r>
                  <a:rPr b="1">
                    <a:latin typeface="Courier"/>
                  </a:rPr>
                  <a:t>R</a:t>
                </a:r>
                <a:r>
                  <a:rPr b="1"/>
                  <a:t>:</a:t>
                </a:r>
                <a:r>
                  <a:rPr b="1">
                    <a:latin typeface="Courier"/>
                  </a:rPr>
                  <a:t>cut(vector,breaks)</a:t>
                </a:r>
                <a:r>
                  <a:rPr b="1"/>
                  <a:t> and </a:t>
                </a:r>
                <a:r>
                  <a:rPr b="1">
                    <a:latin typeface="Courier"/>
                  </a:rPr>
                  <a:t>freq(vector)</a:t>
                </a:r>
              </a:p>
              <a:p>
                <a:pPr lvl="0" indent="0" marL="0">
                  <a:buNone/>
                </a:pPr>
                <a:r>
                  <a:rPr>
                    <a:latin typeface="Courier"/>
                  </a:rPr>
                  <a:t>cut()</a:t>
                </a:r>
                <a:r>
                  <a:rPr/>
                  <a:t> creates a factor including the intervals for the quantitative variable based on the breaks you provide it. You can provide the breaks using the </a:t>
                </a:r>
                <a:r>
                  <a:rPr>
                    <a:latin typeface="Courier"/>
                  </a:rPr>
                  <a:t>seq()</a:t>
                </a:r>
                <a:r>
                  <a:rPr/>
                  <a:t> function or the </a:t>
                </a:r>
                <a:r>
                  <a:rPr>
                    <a:latin typeface="Courier"/>
                  </a:rPr>
                  <a:t>c()</a:t>
                </a:r>
                <a:r>
                  <a:rPr/>
                  <a:t> function.</a:t>
                </a:r>
              </a:p>
              <a:p>
                <a:pPr lvl="0" indent="0">
                  <a:buNone/>
                </a:pPr>
                <a:r>
                  <a:rPr>
                    <a:latin typeface="Courier"/>
                  </a:rPr>
                  <a:t>[1] (5,5.5] (4.5,5] (4.5,5] (4.5,5] (4.5,5] (5,5.5]
Levels: (4,4.5] (4.5,5] (5,5.5] (5.5,6] (6,6.5] (6.5,7] (7,7.5] (7.5,8]</a:t>
                </a:r>
              </a:p>
              <a:p>
                <a:pPr lvl="0" indent="-342900" marL="342900">
                  <a:buAutoNum type="arabicPeriod"/>
                </a:pPr>
                <a:r>
                  <a:rPr>
                    <a:latin typeface="Courier"/>
                  </a:rPr>
                  <a:t>seq(from=4,to=8,by=0.5)</a:t>
                </a:r>
                <a:r>
                  <a:rPr/>
                  <a:t> provides a vector of numbers from 4 to 8 in increments of 0.5.</a:t>
                </a:r>
              </a:p>
              <a:p>
                <a:pPr lvl="0" indent="-342900" marL="342900">
                  <a:buAutoNum type="arabicPeriod"/>
                </a:pPr>
                <a:r>
                  <a:rPr/>
                  <a:t>The “(x,y]” notation in the output means that the interval includes y, but not x. The </a:t>
                </a:r>
                <a:r>
                  <a:rPr>
                    <a:latin typeface="Courier"/>
                  </a:rPr>
                  <a:t>head()</a:t>
                </a:r>
                <a:r>
                  <a:rPr/>
                  <a:t> function only shows the first 6 elements of ranges.</a:t>
                </a:r>
              </a:p>
              <a:p>
                <a:pPr lvl="0" indent="0" marL="0">
                  <a:buNone/>
                </a:pPr>
                <a:r>
                  <a:rPr/>
                  <a:t>We can now make a frequency table out of the intervals provided by </a:t>
                </a:r>
                <a:r>
                  <a:rPr>
                    <a:latin typeface="Courier"/>
                  </a:rPr>
                  <a:t>cut()</a:t>
                </a:r>
                <a:r>
                  <a:rPr/>
                  <a:t>.</a:t>
                </a:r>
              </a:p>
              <a:p>
                <a:pPr lvl="0" indent="0">
                  <a:buNone/>
                </a:pPr>
                <a:r>
                  <a:rPr>
                    <a:latin typeface="Courier"/>
                  </a:rPr>
                  <a:t>Frequencies  
ranges  
Type: Factor  
                Freq   % Valid   % Valid Cum.   % Total   % Total Cum.
------------- ------ --------- -------------- --------- --------------
      (4,4.5]      5      3.33           3.33      3.33           3.33
      (4.5,5]     27     18.00          21.33     18.00          21.33
      (5,5.5]     27     18.00          39.33     18.00          39.33
      (5.5,6]     30     20.00          59.33     20.00          59.33
      (6,6.5]     31     20.67          80.00     20.67          80.00
      (6.5,7]     18     12.00          92.00     12.00          92.00
      (7,7.5]      6      4.00          96.00      4.00          96.00
      (7.5,8]      6      4.00         100.00      4.00         100.00
         &lt;NA&gt;      0                               0.00         100.00
        Total    150    100.00         100.00    100.00         100.00</a:t>
                </a:r>
              </a:p>
              <a:p>
                <a:pPr lvl="0" indent="0" marL="0">
                  <a:spcBef>
                    <a:spcPts val="3000"/>
                  </a:spcBef>
                  <a:buNone/>
                </a:pPr>
                <a:r>
                  <a:rPr b="1"/>
                  <a:t>Exercise</a:t>
                </a:r>
              </a:p>
              <a:p>
                <a:pPr lvl="0" indent="0" marL="0">
                  <a:buNone/>
                </a:pPr>
                <a:r>
                  <a:rPr/>
                  <a:t>Use the </a:t>
                </a:r>
                <a:r>
                  <a:rPr>
                    <a:latin typeface="Courier"/>
                  </a:rPr>
                  <a:t>infert</a:t>
                </a:r>
                <a:r>
                  <a:rPr/>
                  <a:t> data set, which has data on education level, age, parity (previous pregnancies), and the incidence of infertility after spontaneous and induced abortion.</a:t>
                </a:r>
              </a:p>
              <a:p>
                <a:pPr lvl="0" indent="0" marL="0">
                  <a:spcBef>
                    <a:spcPts val="3000"/>
                  </a:spcBef>
                  <a:buNone/>
                </a:pPr>
                <a:r>
                  <a:rPr b="1"/>
                  <a:t>Exercise</a:t>
                </a:r>
              </a:p>
              <a:p>
                <a:pPr lvl="0" indent="0" marL="0">
                  <a:buNone/>
                </a:pPr>
                <a:r>
                  <a:rPr/>
                  <a:t>Create a frequency distribution table with relative and cumulative relative frequencies for the education level of the subjects given by the variable </a:t>
                </a:r>
                <a:r>
                  <a:rPr>
                    <a:latin typeface="Courier"/>
                  </a:rPr>
                  <a:t>education</a:t>
                </a:r>
                <a:r>
                  <a:rPr/>
                  <a:t>.</a:t>
                </a:r>
              </a:p>
              <a:p>
                <a:pPr lvl="0" indent="0" marL="0">
                  <a:spcBef>
                    <a:spcPts val="3000"/>
                  </a:spcBef>
                  <a:buNone/>
                </a:pPr>
                <a:r>
                  <a:rPr b="1"/>
                  <a:t>Answer</a:t>
                </a:r>
              </a:p>
              <a:p>
                <a:pPr lvl="0" indent="0">
                  <a:buNone/>
                </a:pPr>
                <a:r>
                  <a:rPr>
                    <a:latin typeface="Courier"/>
                  </a:rPr>
                  <a:t>Frequencies  
infert$education  
Type: Factor  
                Freq   % Valid   % Valid Cum.   % Total   % Total Cum.
------------- ------ --------- -------------- --------- --------------
       0-5yrs     12      4.84           4.84      4.84           4.84
      6-11yrs    120     48.39          53.23     48.39          53.23
      12+ yrs    116     46.77         100.00     46.77         100.00
         &lt;NA&gt;      0                               0.00         100.00
        Total    248    100.00         100.00    100.00         100.00</a:t>
                </a:r>
              </a:p>
            </p:txBody>
          </p:sp>
        </mc:Choice>
      </mc:AlternateContent>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Measures of Central Tendency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Descriptive Measures</a:t>
                </a:r>
              </a:p>
              <a:p>
                <a:pPr lvl="0" indent="0" marL="0">
                  <a:buNone/>
                </a:pPr>
                <a:r>
                  <a:rPr/>
                  <a:t>Although frequency distributions serve useful purposes, there are many situations that require other types of data summarization. What we need in many instances is the ability to summarize the data by means of a single number called a </a:t>
                </a:r>
                <a:r>
                  <a:rPr b="1"/>
                  <a:t>descriptive measure</a:t>
                </a:r>
                <a:r>
                  <a:rPr/>
                  <a:t>. Descriptive measures may be computed from the data of a sample or the data of a population.</a:t>
                </a:r>
              </a:p>
              <a:p>
                <a:pPr lvl="0" indent="0" marL="1270000">
                  <a:buNone/>
                </a:pPr>
                <a:r>
                  <a:rPr sz="2000" b="1"/>
                  <a:t>Statistic vs. Parameter</a:t>
                </a:r>
              </a:p>
              <a:p>
                <a:pPr lvl="0" indent="0" marL="1270000">
                  <a:buNone/>
                </a:pPr>
                <a:r>
                  <a:rPr sz="2000" b="1"/>
                  <a:t>Statistics</a:t>
                </a:r>
                <a:r>
                  <a:rPr sz="2000"/>
                  <a:t> are descriptive measures computed from a sample. Statistics are typically represented by standard alphabet symbols (</a:t>
                </a:r>
                <a14:m>
                  <m:oMath xmlns:m="http://schemas.openxmlformats.org/officeDocument/2006/math">
                    <m:acc>
                      <m:accPr>
                        <m:chr m:val="‾"/>
                      </m:accPr>
                      <m:e>
                        <m:r>
                          <m:t>x</m:t>
                        </m:r>
                      </m:e>
                    </m:acc>
                    <m:r>
                      <m:rPr>
                        <m:sty m:val="p"/>
                      </m:rPr>
                      <m:t>,</m:t>
                    </m:r>
                    <m:r>
                      <m:t>p</m:t>
                    </m:r>
                    <m:r>
                      <m:rPr>
                        <m:sty m:val="p"/>
                      </m:rPr>
                      <m:t>,</m:t>
                    </m:r>
                    <m:r>
                      <m:t>r</m:t>
                    </m:r>
                  </m:oMath>
                </a14:m>
                <a:r>
                  <a:rPr sz="2000"/>
                  <a:t>).</a:t>
                </a:r>
              </a:p>
              <a:p>
                <a:pPr lvl="0" indent="0" marL="1270000">
                  <a:buNone/>
                </a:pPr>
                <a:r>
                  <a:rPr sz="2000" b="1"/>
                  <a:t>Parameters</a:t>
                </a:r>
                <a:r>
                  <a:rPr sz="2000"/>
                  <a:t> are descriptive measures computed from a population. Parameters are typically represented by Greek letters (</a:t>
                </a:r>
                <a14:m>
                  <m:oMath xmlns:m="http://schemas.openxmlformats.org/officeDocument/2006/math">
                    <m:r>
                      <m:t>μ</m:t>
                    </m:r>
                    <m:r>
                      <m:rPr>
                        <m:sty m:val="p"/>
                      </m:rPr>
                      <m:t>,</m:t>
                    </m:r>
                    <m:r>
                      <m:t>π</m:t>
                    </m:r>
                    <m:r>
                      <m:rPr>
                        <m:sty m:val="p"/>
                      </m:rPr>
                      <m:t>,</m:t>
                    </m:r>
                    <m:r>
                      <m:t>ρ</m:t>
                    </m:r>
                  </m:oMath>
                </a14:m>
                <a:r>
                  <a:rPr sz="2000"/>
                  <a:t>).</a:t>
                </a:r>
              </a:p>
              <a:p>
                <a:pPr lvl="0" indent="0" marL="0">
                  <a:spcBef>
                    <a:spcPts val="3000"/>
                  </a:spcBef>
                  <a:buNone/>
                </a:pPr>
                <a:r>
                  <a:rPr b="1"/>
                  <a:t>Measures of Central Tendency</a:t>
                </a:r>
              </a:p>
              <a:p>
                <a:pPr lvl="0" indent="0" marL="0">
                  <a:buNone/>
                </a:pPr>
                <a:r>
                  <a:rPr/>
                  <a:t>Measures of central tendency provides information on where the central point of the data is. The most common measures of central tendency are:</a:t>
                </a:r>
              </a:p>
              <a:p>
                <a:pPr lvl="0"/>
                <a:r>
                  <a:rPr/>
                  <a:t>Mean</a:t>
                </a:r>
              </a:p>
              <a:p>
                <a:pPr lvl="0"/>
                <a:r>
                  <a:rPr/>
                  <a:t>Median</a:t>
                </a:r>
              </a:p>
              <a:p>
                <a:pPr lvl="0"/>
                <a:r>
                  <a:rPr/>
                  <a:t>Mode</a:t>
                </a:r>
              </a:p>
              <a:p>
                <a:pPr lvl="0" indent="0" marL="0">
                  <a:spcBef>
                    <a:spcPts val="3000"/>
                  </a:spcBef>
                  <a:buNone/>
                </a:pPr>
                <a:r>
                  <a:rPr b="1"/>
                  <a:t>Mean</a:t>
                </a:r>
              </a:p>
              <a:p>
                <a:pPr lvl="0" indent="0" marL="0">
                  <a:buNone/>
                </a:pPr>
                <a:r>
                  <a:rPr/>
                  <a:t>The mean, specifically the </a:t>
                </a:r>
                <a:r>
                  <a:rPr i="1"/>
                  <a:t>arithmetic mean</a:t>
                </a:r>
                <a:r>
                  <a:rPr/>
                  <a:t>, is the most familiar measure of central tendency.</a:t>
                </a:r>
              </a:p>
              <a:p>
                <a:pPr lvl="0" indent="0" marL="0">
                  <a:spcBef>
                    <a:spcPts val="3000"/>
                  </a:spcBef>
                  <a:buNone/>
                </a:pPr>
                <a:r>
                  <a:rPr b="1"/>
                  <a:t>Population Mean</a:t>
                </a:r>
              </a:p>
              <a:p>
                <a:pPr lvl="0" indent="0" marL="1270000">
                  <a:buNone/>
                </a:pPr>
                <a:r>
                  <a:rPr sz="2000" b="1"/>
                  <a:t>Population Mean</a:t>
                </a:r>
              </a:p>
              <a:p>
                <a:pPr lvl="0" indent="0" marL="1270000">
                  <a:buNone/>
                </a:pPr>
                <a:r>
                  <a:rPr sz="2000"/>
                  <a:t>The population mean is calculated by adding all the values in the population and dividing by the population size </a:t>
                </a:r>
                <a14:m>
                  <m:oMath xmlns:m="http://schemas.openxmlformats.org/officeDocument/2006/math">
                    <m:r>
                      <m:t>N</m:t>
                    </m:r>
                  </m:oMath>
                </a14:m>
                <a:r>
                  <a:rPr sz="2000"/>
                  <a:t>. Formally, for a vector of values given by </a:t>
                </a:r>
                <a14:m>
                  <m:oMath xmlns:m="http://schemas.openxmlformats.org/officeDocument/2006/math">
                    <m:d>
                      <m:dPr>
                        <m:begChr m:val="("/>
                        <m:sepChr m:val=""/>
                        <m:endChr m:val=")"/>
                        <m:grow/>
                      </m:dPr>
                      <m:e>
                        <m:sSub>
                          <m:e>
                            <m:r>
                              <m:t>X</m:t>
                            </m:r>
                          </m:e>
                          <m:sub>
                            <m:r>
                              <m:t>1</m:t>
                            </m:r>
                          </m:sub>
                        </m:sSub>
                        <m:r>
                          <m:rPr>
                            <m:sty m:val="p"/>
                          </m:rPr>
                          <m:t>,</m:t>
                        </m:r>
                        <m:sSub>
                          <m:e>
                            <m:r>
                              <m:t>X</m:t>
                            </m:r>
                          </m:e>
                          <m:sub>
                            <m:r>
                              <m:t>2</m:t>
                            </m:r>
                          </m:sub>
                        </m:sSub>
                        <m:r>
                          <m:rPr>
                            <m:sty m:val="p"/>
                          </m:rPr>
                          <m:t>,</m:t>
                        </m:r>
                        <m:sSub>
                          <m:e>
                            <m:r>
                              <m:t>X</m:t>
                            </m:r>
                          </m:e>
                          <m:sub>
                            <m:r>
                              <m:t>3</m:t>
                            </m:r>
                          </m:sub>
                        </m:sSub>
                        <m:r>
                          <m:rPr>
                            <m:sty m:val="p"/>
                          </m:rPr>
                          <m:t>,</m:t>
                        </m:r>
                        <m:r>
                          <m:rPr>
                            <m:sty m:val="p"/>
                          </m:rPr>
                          <m:t>.</m:t>
                        </m:r>
                        <m:r>
                          <m:rPr>
                            <m:sty m:val="p"/>
                          </m:rPr>
                          <m:t>.</m:t>
                        </m:r>
                        <m:r>
                          <m:rPr>
                            <m:sty m:val="p"/>
                          </m:rPr>
                          <m:t>.</m:t>
                        </m:r>
                        <m:r>
                          <m:rPr>
                            <m:sty m:val="p"/>
                          </m:rPr>
                          <m:t>,</m:t>
                        </m:r>
                        <m:sSub>
                          <m:e>
                            <m:r>
                              <m:t>X</m:t>
                            </m:r>
                          </m:e>
                          <m:sub>
                            <m:r>
                              <m:t>N</m:t>
                            </m:r>
                          </m:sub>
                        </m:sSub>
                      </m:e>
                    </m:d>
                  </m:oMath>
                </a14:m>
                <a:r>
                  <a:rPr sz="2000"/>
                  <a:t> defining the population, the mean </a:t>
                </a:r>
                <a14:m>
                  <m:oMath xmlns:m="http://schemas.openxmlformats.org/officeDocument/2006/math">
                    <m:r>
                      <m:t>μ</m:t>
                    </m:r>
                  </m:oMath>
                </a14:m>
                <a:r>
                  <a:rPr sz="2000"/>
                  <a:t> can be calculated using the following equation:</a:t>
                </a:r>
              </a:p>
              <a:p>
                <a:pPr lvl="0" indent="0" marL="1270000">
                  <a:buNone/>
                </a:pPr>
                <a14:m>
                  <m:oMathPara xmlns:m="http://schemas.openxmlformats.org/officeDocument/2006/math">
                    <m:oMathParaPr>
                      <m:jc m:val="center"/>
                    </m:oMathParaPr>
                    <m:oMath>
                      <m:r>
                        <m:t>μ</m:t>
                      </m:r>
                      <m:r>
                        <m:rPr>
                          <m:sty m:val="p"/>
                        </m:rPr>
                        <m:t>=</m:t>
                      </m:r>
                      <m:f>
                        <m:fPr>
                          <m:type m:val="bar"/>
                        </m:fPr>
                        <m:num>
                          <m:d>
                            <m:dPr>
                              <m:begChr m:val="("/>
                              <m:sepChr m:val=""/>
                              <m:endChr m:val=")"/>
                              <m:grow/>
                            </m:dPr>
                            <m:e>
                              <m:sSub>
                                <m:e>
                                  <m:r>
                                    <m:t>X</m:t>
                                  </m:r>
                                </m:e>
                                <m:sub>
                                  <m:r>
                                    <m:t>1</m:t>
                                  </m:r>
                                </m:sub>
                              </m:sSub>
                              <m:r>
                                <m:rPr>
                                  <m:sty m:val="p"/>
                                </m:rPr>
                                <m:t>+</m:t>
                              </m:r>
                              <m:sSub>
                                <m:e>
                                  <m:r>
                                    <m:t>X</m:t>
                                  </m:r>
                                </m:e>
                                <m:sub>
                                  <m:r>
                                    <m:t>2</m:t>
                                  </m:r>
                                </m:sub>
                              </m:sSub>
                              <m:r>
                                <m:rPr>
                                  <m:sty m:val="p"/>
                                </m:rPr>
                                <m:t>+</m:t>
                              </m:r>
                              <m:sSub>
                                <m:e>
                                  <m:r>
                                    <m:t>X</m:t>
                                  </m:r>
                                </m:e>
                                <m:sub>
                                  <m:r>
                                    <m:t>3</m:t>
                                  </m:r>
                                </m:sub>
                              </m:sSub>
                              <m:r>
                                <m:rPr>
                                  <m:sty m:val="p"/>
                                </m:rPr>
                                <m:t>+</m:t>
                              </m:r>
                              <m:r>
                                <m:rPr>
                                  <m:sty m:val="p"/>
                                </m:rPr>
                                <m:t>.</m:t>
                              </m:r>
                              <m:r>
                                <m:rPr>
                                  <m:sty m:val="p"/>
                                </m:rPr>
                                <m:t>.</m:t>
                              </m:r>
                              <m:r>
                                <m:rPr>
                                  <m:sty m:val="p"/>
                                </m:rPr>
                                <m:t>.</m:t>
                              </m:r>
                              <m:r>
                                <m:rPr>
                                  <m:sty m:val="p"/>
                                </m:rPr>
                                <m:t>+</m:t>
                              </m:r>
                              <m:sSub>
                                <m:e>
                                  <m:r>
                                    <m:t>X</m:t>
                                  </m:r>
                                </m:e>
                                <m:sub>
                                  <m:r>
                                    <m:t>N</m:t>
                                  </m:r>
                                </m:sub>
                              </m:sSub>
                            </m:e>
                          </m:d>
                        </m:num>
                        <m:den>
                          <m:r>
                            <m:t>N</m:t>
                          </m:r>
                        </m:den>
                      </m:f>
                      <m:r>
                        <m:rPr>
                          <m:sty m:val="p"/>
                        </m:rPr>
                        <m:t>=</m:t>
                      </m:r>
                      <m:f>
                        <m:fPr>
                          <m:type m:val="bar"/>
                        </m:fPr>
                        <m:num>
                          <m:nary>
                            <m:naryPr>
                              <m:chr m:val="∑"/>
                              <m:limLoc m:val="undOvr"/>
                              <m:subHide m:val="off"/>
                              <m:supHide m:val="off"/>
                            </m:naryPr>
                            <m:sub>
                              <m:r>
                                <m:t>i</m:t>
                              </m:r>
                              <m:r>
                                <m:rPr>
                                  <m:sty m:val="p"/>
                                </m:rPr>
                                <m:t>=</m:t>
                              </m:r>
                              <m:r>
                                <m:t>1</m:t>
                              </m:r>
                            </m:sub>
                            <m:sup>
                              <m:r>
                                <m:t>N</m:t>
                              </m:r>
                            </m:sup>
                            <m:e>
                              <m:sSub>
                                <m:e>
                                  <m:r>
                                    <m:t>X</m:t>
                                  </m:r>
                                </m:e>
                                <m:sub>
                                  <m:r>
                                    <m:t>i</m:t>
                                  </m:r>
                                </m:sub>
                              </m:sSub>
                            </m:e>
                          </m:nary>
                        </m:num>
                        <m:den>
                          <m:r>
                            <m:t>N</m:t>
                          </m:r>
                        </m:den>
                      </m:f>
                    </m:oMath>
                  </m:oMathPara>
                </a14:m>
              </a:p>
              <a:p>
                <a:pPr lvl="0" indent="0" marL="0">
                  <a:spcBef>
                    <a:spcPts val="3000"/>
                  </a:spcBef>
                  <a:buNone/>
                </a:pPr>
                <a:r>
                  <a:rPr b="1"/>
                  <a:t>Sample Mean</a:t>
                </a:r>
              </a:p>
              <a:p>
                <a:pPr lvl="0" indent="0" marL="1270000">
                  <a:buNone/>
                </a:pPr>
                <a:r>
                  <a:rPr sz="2000" b="1"/>
                  <a:t>Sample Mean</a:t>
                </a:r>
              </a:p>
              <a:p>
                <a:pPr lvl="0" indent="0" marL="1270000">
                  <a:buNone/>
                </a:pPr>
                <a:r>
                  <a:rPr sz="2000"/>
                  <a:t>The sample mean is calculated by adding all the values in the sample and dividing by the sample size </a:t>
                </a:r>
                <a14:m>
                  <m:oMath xmlns:m="http://schemas.openxmlformats.org/officeDocument/2006/math">
                    <m:r>
                      <m:t>k</m:t>
                    </m:r>
                  </m:oMath>
                </a14:m>
                <a:r>
                  <a:rPr sz="2000"/>
                  <a:t>. Formally, for a vector of values given by </a:t>
                </a:r>
                <a14:m>
                  <m:oMath xmlns:m="http://schemas.openxmlformats.org/officeDocument/2006/math">
                    <m:d>
                      <m:dPr>
                        <m:begChr m:val="("/>
                        <m:sepChr m:val=""/>
                        <m:endChr m:val=")"/>
                        <m:grow/>
                      </m:dPr>
                      <m:e>
                        <m:sSub>
                          <m:e>
                            <m:r>
                              <m:t>X</m:t>
                            </m:r>
                          </m:e>
                          <m:sub>
                            <m:r>
                              <m:t>1</m:t>
                            </m:r>
                          </m:sub>
                        </m:sSub>
                        <m:r>
                          <m:rPr>
                            <m:sty m:val="p"/>
                          </m:rPr>
                          <m:t>,</m:t>
                        </m:r>
                        <m:sSub>
                          <m:e>
                            <m:r>
                              <m:t>X</m:t>
                            </m:r>
                          </m:e>
                          <m:sub>
                            <m:r>
                              <m:t>2</m:t>
                            </m:r>
                          </m:sub>
                        </m:sSub>
                        <m:r>
                          <m:rPr>
                            <m:sty m:val="p"/>
                          </m:rPr>
                          <m:t>,</m:t>
                        </m:r>
                        <m:sSub>
                          <m:e>
                            <m:r>
                              <m:t>X</m:t>
                            </m:r>
                          </m:e>
                          <m:sub>
                            <m:r>
                              <m:t>3</m:t>
                            </m:r>
                          </m:sub>
                        </m:sSub>
                        <m:r>
                          <m:rPr>
                            <m:sty m:val="p"/>
                          </m:rPr>
                          <m:t>,</m:t>
                        </m:r>
                        <m:r>
                          <m:rPr>
                            <m:sty m:val="p"/>
                          </m:rPr>
                          <m:t>.</m:t>
                        </m:r>
                        <m:r>
                          <m:rPr>
                            <m:sty m:val="p"/>
                          </m:rPr>
                          <m:t>.</m:t>
                        </m:r>
                        <m:r>
                          <m:rPr>
                            <m:sty m:val="p"/>
                          </m:rPr>
                          <m:t>.</m:t>
                        </m:r>
                        <m:r>
                          <m:rPr>
                            <m:sty m:val="p"/>
                          </m:rPr>
                          <m:t>,</m:t>
                        </m:r>
                        <m:sSub>
                          <m:e>
                            <m:r>
                              <m:t>X</m:t>
                            </m:r>
                          </m:e>
                          <m:sub>
                            <m:r>
                              <m:t>k</m:t>
                            </m:r>
                          </m:sub>
                        </m:sSub>
                      </m:e>
                    </m:d>
                  </m:oMath>
                </a14:m>
                <a:r>
                  <a:rPr sz="2000"/>
                  <a:t> defining the population, the mean </a:t>
                </a:r>
                <a14:m>
                  <m:oMath xmlns:m="http://schemas.openxmlformats.org/officeDocument/2006/math">
                    <m:acc>
                      <m:accPr>
                        <m:chr m:val="‾"/>
                      </m:accPr>
                      <m:e>
                        <m:r>
                          <m:t>x</m:t>
                        </m:r>
                      </m:e>
                    </m:acc>
                  </m:oMath>
                </a14:m>
                <a:r>
                  <a:rPr sz="2000"/>
                  <a:t> can be calculated using the following equation:</a:t>
                </a:r>
              </a:p>
              <a:p>
                <a:pPr lvl="0" indent="0" marL="1270000">
                  <a:buNone/>
                </a:pPr>
                <a14:m>
                  <m:oMathPara xmlns:m="http://schemas.openxmlformats.org/officeDocument/2006/math">
                    <m:oMathParaPr>
                      <m:jc m:val="center"/>
                    </m:oMathParaPr>
                    <m:oMath>
                      <m:acc>
                        <m:accPr>
                          <m:chr m:val="‾"/>
                        </m:accPr>
                        <m:e>
                          <m:r>
                            <m:t>x</m:t>
                          </m:r>
                        </m:e>
                      </m:acc>
                      <m:r>
                        <m:rPr>
                          <m:sty m:val="p"/>
                        </m:rPr>
                        <m:t>=</m:t>
                      </m:r>
                      <m:f>
                        <m:fPr>
                          <m:type m:val="bar"/>
                        </m:fPr>
                        <m:num>
                          <m:d>
                            <m:dPr>
                              <m:begChr m:val="("/>
                              <m:sepChr m:val=""/>
                              <m:endChr m:val=")"/>
                              <m:grow/>
                            </m:dPr>
                            <m:e>
                              <m:sSub>
                                <m:e>
                                  <m:r>
                                    <m:t>X</m:t>
                                  </m:r>
                                </m:e>
                                <m:sub>
                                  <m:r>
                                    <m:t>1</m:t>
                                  </m:r>
                                </m:sub>
                              </m:sSub>
                              <m:r>
                                <m:rPr>
                                  <m:sty m:val="p"/>
                                </m:rPr>
                                <m:t>+</m:t>
                              </m:r>
                              <m:sSub>
                                <m:e>
                                  <m:r>
                                    <m:t>X</m:t>
                                  </m:r>
                                </m:e>
                                <m:sub>
                                  <m:r>
                                    <m:t>2</m:t>
                                  </m:r>
                                </m:sub>
                              </m:sSub>
                              <m:r>
                                <m:rPr>
                                  <m:sty m:val="p"/>
                                </m:rPr>
                                <m:t>+</m:t>
                              </m:r>
                              <m:sSub>
                                <m:e>
                                  <m:r>
                                    <m:t>X</m:t>
                                  </m:r>
                                </m:e>
                                <m:sub>
                                  <m:r>
                                    <m:t>3</m:t>
                                  </m:r>
                                </m:sub>
                              </m:sSub>
                              <m:r>
                                <m:rPr>
                                  <m:sty m:val="p"/>
                                </m:rPr>
                                <m:t>+</m:t>
                              </m:r>
                              <m:r>
                                <m:rPr>
                                  <m:sty m:val="p"/>
                                </m:rPr>
                                <m:t>.</m:t>
                              </m:r>
                              <m:r>
                                <m:rPr>
                                  <m:sty m:val="p"/>
                                </m:rPr>
                                <m:t>.</m:t>
                              </m:r>
                              <m:r>
                                <m:rPr>
                                  <m:sty m:val="p"/>
                                </m:rPr>
                                <m:t>.</m:t>
                              </m:r>
                              <m:r>
                                <m:rPr>
                                  <m:sty m:val="p"/>
                                </m:rPr>
                                <m:t>+</m:t>
                              </m:r>
                              <m:sSub>
                                <m:e>
                                  <m:r>
                                    <m:t>X</m:t>
                                  </m:r>
                                </m:e>
                                <m:sub>
                                  <m:r>
                                    <m:t>k</m:t>
                                  </m:r>
                                </m:sub>
                              </m:sSub>
                            </m:e>
                          </m:d>
                        </m:num>
                        <m:den>
                          <m:r>
                            <m:t>k</m:t>
                          </m:r>
                        </m:den>
                      </m:f>
                      <m:r>
                        <m:rPr>
                          <m:sty m:val="p"/>
                        </m:rPr>
                        <m:t>=</m:t>
                      </m:r>
                      <m:f>
                        <m:fPr>
                          <m:type m:val="bar"/>
                        </m:fPr>
                        <m:num>
                          <m:nary>
                            <m:naryPr>
                              <m:chr m:val="∑"/>
                              <m:limLoc m:val="undOvr"/>
                              <m:subHide m:val="off"/>
                              <m:supHide m:val="off"/>
                            </m:naryPr>
                            <m:sub>
                              <m:r>
                                <m:t>i</m:t>
                              </m:r>
                              <m:r>
                                <m:rPr>
                                  <m:sty m:val="p"/>
                                </m:rPr>
                                <m:t>=</m:t>
                              </m:r>
                              <m:r>
                                <m:t>1</m:t>
                              </m:r>
                            </m:sub>
                            <m:sup>
                              <m:r>
                                <m:t>k</m:t>
                              </m:r>
                            </m:sup>
                            <m:e>
                              <m:sSub>
                                <m:e>
                                  <m:r>
                                    <m:t>X</m:t>
                                  </m:r>
                                </m:e>
                                <m:sub>
                                  <m:r>
                                    <m:t>i</m:t>
                                  </m:r>
                                </m:sub>
                              </m:sSub>
                            </m:e>
                          </m:nary>
                        </m:num>
                        <m:den>
                          <m:r>
                            <m:t>k</m:t>
                          </m:r>
                        </m:den>
                      </m:f>
                    </m:oMath>
                  </m:oMathPara>
                </a14:m>
              </a:p>
              <a:p>
                <a:pPr lvl="0" indent="0" marL="0">
                  <a:spcBef>
                    <a:spcPts val="3000"/>
                  </a:spcBef>
                  <a:buNone/>
                </a:pPr>
                <a:r>
                  <a:rPr b="1"/>
                  <a:t>Mean: Example</a:t>
                </a:r>
              </a:p>
              <a:p>
                <a:pPr lvl="0" indent="0" marL="0">
                  <a:buNone/>
                </a:pPr>
                <a:r>
                  <a:rPr/>
                  <a:t>What is the mean of the following numbers: 5, 27, 26, 30, 31?</a:t>
                </a:r>
              </a:p>
              <a:p>
                <a:pPr lvl="0" indent="0" marL="0">
                  <a:spcBef>
                    <a:spcPts val="3000"/>
                  </a:spcBef>
                  <a:buNone/>
                </a:pPr>
                <a:r>
                  <a:rPr b="1"/>
                  <a:t>Math Method</a:t>
                </a:r>
              </a:p>
              <a:p>
                <a:pPr lvl="0" indent="0" marL="0">
                  <a:buNone/>
                </a:pPr>
                <a:r>
                  <a:rPr/>
                  <a:t>The mean can be calculated using the formula </a:t>
                </a:r>
                <a14:m>
                  <m:oMath xmlns:m="http://schemas.openxmlformats.org/officeDocument/2006/math">
                    <m:d>
                      <m:dPr>
                        <m:begChr m:val="("/>
                        <m:sepChr m:val=""/>
                        <m:endChr m:val=")"/>
                        <m:grow/>
                      </m:dPr>
                      <m:e>
                        <m:r>
                          <m:t>5</m:t>
                        </m:r>
                        <m:r>
                          <m:rPr>
                            <m:sty m:val="p"/>
                          </m:rPr>
                          <m:t>+</m:t>
                        </m:r>
                        <m:r>
                          <m:t>27</m:t>
                        </m:r>
                        <m:r>
                          <m:rPr>
                            <m:sty m:val="p"/>
                          </m:rPr>
                          <m:t>+</m:t>
                        </m:r>
                        <m:r>
                          <m:t>26</m:t>
                        </m:r>
                        <m:r>
                          <m:rPr>
                            <m:sty m:val="p"/>
                          </m:rPr>
                          <m:t>+</m:t>
                        </m:r>
                        <m:r>
                          <m:t>30</m:t>
                        </m:r>
                        <m:r>
                          <m:rPr>
                            <m:sty m:val="p"/>
                          </m:rPr>
                          <m:t>+</m:t>
                        </m:r>
                        <m:r>
                          <m:t>31</m:t>
                        </m:r>
                      </m:e>
                    </m:d>
                    <m:r>
                      <m:rPr>
                        <m:sty m:val="p"/>
                      </m:rPr>
                      <m:t>/</m:t>
                    </m:r>
                    <m:r>
                      <m:t>5</m:t>
                    </m:r>
                    <m:r>
                      <m:rPr>
                        <m:sty m:val="p"/>
                      </m:rPr>
                      <m:t>=</m:t>
                    </m:r>
                  </m:oMath>
                </a14:m>
                <a:r>
                  <a:rPr/>
                  <a:t> 23.8</a:t>
                </a:r>
              </a:p>
              <a:p>
                <a:pPr lvl="0" indent="0" marL="0">
                  <a:spcBef>
                    <a:spcPts val="3000"/>
                  </a:spcBef>
                  <a:buNone/>
                </a:pPr>
                <a:r>
                  <a:rPr b="1">
                    <a:latin typeface="Courier"/>
                  </a:rPr>
                  <a:t>R</a:t>
                </a:r>
                <a:r>
                  <a:rPr b="1"/>
                  <a:t> method</a:t>
                </a:r>
              </a:p>
              <a:p>
                <a:pPr lvl="0" indent="0" marL="0">
                  <a:buNone/>
                </a:pPr>
                <a:r>
                  <a:rPr/>
                  <a:t>The function </a:t>
                </a:r>
                <a:r>
                  <a:rPr>
                    <a:latin typeface="Courier"/>
                  </a:rPr>
                  <a:t>mean()</a:t>
                </a:r>
                <a:r>
                  <a:rPr/>
                  <a:t> outputs the mean of a vector of numbers. Remember to always put the numbers inside the </a:t>
                </a:r>
                <a:r>
                  <a:rPr>
                    <a:latin typeface="Courier"/>
                  </a:rPr>
                  <a:t>c()</a:t>
                </a:r>
                <a:r>
                  <a:rPr/>
                  <a:t> function to form a vector.</a:t>
                </a:r>
              </a:p>
              <a:p>
                <a:pPr lvl="0" indent="0">
                  <a:buNone/>
                </a:pPr>
                <a:r>
                  <a:rPr>
                    <a:latin typeface="Courier"/>
                  </a:rPr>
                  <a:t>[1] 23.8</a:t>
                </a:r>
              </a:p>
              <a:p>
                <a:pPr lvl="0" indent="0" marL="0">
                  <a:spcBef>
                    <a:spcPts val="3000"/>
                  </a:spcBef>
                  <a:buNone/>
                </a:pPr>
                <a:r>
                  <a:rPr b="1"/>
                  <a:t>Mean: Example</a:t>
                </a:r>
              </a:p>
              <a:p>
                <a:pPr lvl="0" indent="0" marL="0">
                  <a:buNone/>
                </a:pPr>
                <a:r>
                  <a:rPr/>
                  <a:t>The function </a:t>
                </a:r>
                <a:r>
                  <a:rPr>
                    <a:latin typeface="Courier"/>
                  </a:rPr>
                  <a:t>mean()</a:t>
                </a:r>
                <a:r>
                  <a:rPr/>
                  <a:t> can also be used to calculate means of quantitative variables in data frames.</a:t>
                </a:r>
              </a:p>
              <a:p>
                <a:pPr lvl="0" indent="0">
                  <a:buNone/>
                </a:pPr>
                <a:r>
                  <a:rPr>
                    <a:latin typeface="Courier"/>
                  </a:rPr>
                  <a:t>[1] 5.843333</a:t>
                </a:r>
              </a:p>
              <a:p>
                <a:pPr lvl="0" indent="0" marL="0">
                  <a:spcBef>
                    <a:spcPts val="3000"/>
                  </a:spcBef>
                  <a:buNone/>
                </a:pPr>
                <a:r>
                  <a:rPr b="1"/>
                  <a:t>Mean: Exercise</a:t>
                </a:r>
              </a:p>
              <a:p>
                <a:pPr lvl="0" indent="0" marL="0">
                  <a:buNone/>
                </a:pPr>
                <a:r>
                  <a:rPr/>
                  <a:t>The data set </a:t>
                </a:r>
                <a:r>
                  <a:rPr>
                    <a:latin typeface="Courier"/>
                  </a:rPr>
                  <a:t>cars</a:t>
                </a:r>
                <a:r>
                  <a:rPr/>
                  <a:t> include the speed (</a:t>
                </a:r>
                <a:r>
                  <a:rPr>
                    <a:latin typeface="Courier"/>
                  </a:rPr>
                  <a:t>speed</a:t>
                </a:r>
                <a:r>
                  <a:rPr/>
                  <a:t>,in mph) and stopping distance (</a:t>
                </a:r>
                <a:r>
                  <a:rPr>
                    <a:latin typeface="Courier"/>
                  </a:rPr>
                  <a:t>dist</a:t>
                </a:r>
                <a:r>
                  <a:rPr/>
                  <a:t>,in ft) of 50 cars recorded in the 1920s.</a:t>
                </a:r>
              </a:p>
              <a:p>
                <a:pPr lvl="0" indent="0" marL="0">
                  <a:spcBef>
                    <a:spcPts val="3000"/>
                  </a:spcBef>
                  <a:buNone/>
                </a:pPr>
                <a:r>
                  <a:rPr b="1"/>
                  <a:t>Exercise</a:t>
                </a:r>
              </a:p>
              <a:p>
                <a:pPr lvl="0" indent="0" marL="0">
                  <a:buNone/>
                </a:pPr>
                <a:r>
                  <a:rPr/>
                  <a:t>Find the mean stopping distance for these 50 cars.</a:t>
                </a:r>
              </a:p>
              <a:p>
                <a:pPr lvl="0" indent="0" marL="0">
                  <a:spcBef>
                    <a:spcPts val="3000"/>
                  </a:spcBef>
                  <a:buNone/>
                </a:pPr>
                <a:r>
                  <a:rPr b="1"/>
                  <a:t>Answer</a:t>
                </a:r>
              </a:p>
              <a:p>
                <a:pPr lvl="0" indent="0">
                  <a:buNone/>
                </a:pPr>
                <a:r>
                  <a:rPr>
                    <a:latin typeface="Courier"/>
                  </a:rPr>
                  <a:t>[1] 42.98</a:t>
                </a:r>
              </a:p>
              <a:p>
                <a:pPr lvl="0" indent="0" marL="0">
                  <a:buNone/>
                </a:pPr>
                <a:r>
                  <a:rPr/>
                  <a:t>The mean stopping distance is 42.98 ft.</a:t>
                </a:r>
              </a:p>
              <a:p>
                <a:pPr lvl="0" indent="0" marL="0">
                  <a:spcBef>
                    <a:spcPts val="3000"/>
                  </a:spcBef>
                  <a:buNone/>
                </a:pPr>
                <a:r>
                  <a:rPr b="1"/>
                  <a:t>Mean: Advantages and Disadvantages</a:t>
                </a:r>
              </a:p>
              <a:p>
                <a:pPr lvl="0" indent="0" marL="1270000">
                  <a:buNone/>
                </a:pPr>
                <a:r>
                  <a:rPr sz="2000" b="1"/>
                  <a:t>Advantages</a:t>
                </a:r>
              </a:p>
              <a:p>
                <a:pPr lvl="0" indent="0" marL="1270000">
                  <a:buNone/>
                </a:pPr>
                <a:r>
                  <a:rPr sz="2000"/>
                  <a:t>The mean is unique to a specific set of values, i.e. there is only one mean for every data set. The mean is also relatively easy to calculate and is a well-known summary statistic.</a:t>
                </a:r>
              </a:p>
              <a:p>
                <a:pPr lvl="0" indent="0" marL="1270000">
                  <a:buNone/>
                </a:pPr>
                <a:r>
                  <a:rPr sz="2000" b="1"/>
                  <a:t>Disadvantages</a:t>
                </a:r>
              </a:p>
              <a:p>
                <a:pPr lvl="0" indent="0" marL="1270000">
                  <a:buNone/>
                </a:pPr>
                <a:r>
                  <a:rPr sz="2000"/>
                  <a:t>The mean is easily influenced by extreme values. As an example. recall the mean of the following numbers:</a:t>
                </a:r>
              </a:p>
              <a:p>
                <a:pPr lvl="0" indent="0">
                  <a:buNone/>
                </a:pPr>
                <a:r>
                  <a:rPr sz="2000">
                    <a:latin typeface="Courier"/>
                  </a:rPr>
                  <a:t>[1] 23.8</a:t>
                </a:r>
              </a:p>
              <a:p>
                <a:pPr lvl="0" indent="0" marL="1270000">
                  <a:buNone/>
                </a:pPr>
                <a:r>
                  <a:rPr sz="2000"/>
                  <a:t>Now, if 31 was replaced by an extreme number, say 310, the new mean would be very different.</a:t>
                </a:r>
              </a:p>
              <a:p>
                <a:pPr lvl="0" indent="0">
                  <a:buNone/>
                </a:pPr>
                <a:r>
                  <a:rPr sz="2000">
                    <a:latin typeface="Courier"/>
                  </a:rPr>
                  <a:t>[1] 79.6</a:t>
                </a:r>
              </a:p>
              <a:p>
                <a:pPr lvl="0" indent="0" marL="0">
                  <a:spcBef>
                    <a:spcPts val="3000"/>
                  </a:spcBef>
                  <a:buNone/>
                </a:pPr>
                <a:r>
                  <a:rPr b="1"/>
                  <a:t>Median</a:t>
                </a:r>
              </a:p>
              <a:p>
                <a:pPr lvl="0" indent="0" marL="0">
                  <a:buNone/>
                </a:pPr>
                <a:r>
                  <a:rPr/>
                  <a:t>The median is the middle value of ordered data.</a:t>
                </a:r>
              </a:p>
              <a:p>
                <a:pPr lvl="0" indent="0" marL="1270000">
                  <a:buNone/>
                </a:pPr>
                <a:r>
                  <a:rPr sz="2000" b="1"/>
                  <a:t>Important</a:t>
                </a:r>
              </a:p>
              <a:p>
                <a:pPr lvl="0" indent="0" marL="1270000">
                  <a:buNone/>
                </a:pPr>
                <a:r>
                  <a:rPr sz="2000"/>
                  <a:t>If there is an odd number of observations, the median is a value in the middle of the data.</a:t>
                </a:r>
              </a:p>
              <a:p>
                <a:pPr lvl="0" indent="0" marL="1270000">
                  <a:buNone/>
                </a:pPr>
                <a:r>
                  <a:rPr sz="2000"/>
                  <a:t>If there is an even number of observations, the median is the average of the two middle values.</a:t>
                </a:r>
              </a:p>
              <a:p>
                <a:pPr lvl="0" indent="0" marL="0">
                  <a:spcBef>
                    <a:spcPts val="3000"/>
                  </a:spcBef>
                  <a:buNone/>
                </a:pPr>
                <a:r>
                  <a:rPr b="1"/>
                  <a:t>Median: Example</a:t>
                </a:r>
              </a:p>
              <a:p>
                <a:pPr lvl="0" indent="0" marL="0">
                  <a:spcBef>
                    <a:spcPts val="3000"/>
                  </a:spcBef>
                  <a:buNone/>
                </a:pPr>
                <a:r>
                  <a:rPr b="1"/>
                  <a:t>Example 1: Odd</a:t>
                </a:r>
              </a:p>
              <a:p>
                <a:pPr lvl="0" indent="0" marL="0">
                  <a:buNone/>
                </a:pPr>
                <a:r>
                  <a:rPr/>
                  <a:t>What is the median of the following numbers? 83.07 72.15 89.61 81.68 87.26</a:t>
                </a:r>
              </a:p>
              <a:p>
                <a:pPr lvl="0"/>
                <a:r>
                  <a:rPr/>
                  <a:t>Sort the values first in ascending order: 72.15, 81.68, 83.07, 87.26, 89.61</a:t>
                </a:r>
              </a:p>
              <a:p>
                <a:pPr lvl="0"/>
                <a:r>
                  <a:rPr/>
                  <a:t>There are five values, which means there is a middle value (83.07). Hence, the median is </a:t>
                </a:r>
                <a:r>
                  <a:rPr b="1"/>
                  <a:t>83.07</a:t>
                </a:r>
                <a:r>
                  <a:rPr/>
                  <a:t>.</a:t>
                </a:r>
              </a:p>
              <a:p>
                <a:pPr lvl="0" indent="0" marL="0">
                  <a:spcBef>
                    <a:spcPts val="3000"/>
                  </a:spcBef>
                  <a:buNone/>
                </a:pPr>
                <a:r>
                  <a:rPr b="1"/>
                  <a:t>Example 2: Even</a:t>
                </a:r>
              </a:p>
              <a:p>
                <a:pPr lvl="0" indent="0" marL="0">
                  <a:buNone/>
                </a:pPr>
                <a:r>
                  <a:rPr/>
                  <a:t>What is the median of the following numbers? 100 3 7 5 8 2</a:t>
                </a:r>
              </a:p>
              <a:p>
                <a:pPr lvl="0"/>
                <a:r>
                  <a:rPr/>
                  <a:t>Sort the values first in ascending order: 2 3 5 7 8 100</a:t>
                </a:r>
              </a:p>
              <a:p>
                <a:pPr lvl="0"/>
                <a:r>
                  <a:rPr/>
                  <a:t>There are six values, which means there is no middle value. We need to take the average of the two middle values (5,7). Hence, the median is (5+7)/2 = </a:t>
                </a:r>
                <a:r>
                  <a:rPr b="1"/>
                  <a:t>6</a:t>
                </a:r>
                <a:r>
                  <a:rPr/>
                  <a:t>.</a:t>
                </a:r>
              </a:p>
              <a:p>
                <a:pPr lvl="0" indent="0" marL="0">
                  <a:spcBef>
                    <a:spcPts val="3000"/>
                  </a:spcBef>
                  <a:buNone/>
                </a:pPr>
                <a:r>
                  <a:rPr b="1"/>
                  <a:t>Median: </a:t>
                </a:r>
                <a:r>
                  <a:rPr b="1">
                    <a:latin typeface="Courier"/>
                  </a:rPr>
                  <a:t>R</a:t>
                </a:r>
              </a:p>
              <a:p>
                <a:pPr lvl="0" indent="0" marL="0">
                  <a:buNone/>
                </a:pPr>
                <a:r>
                  <a:rPr/>
                  <a:t>In </a:t>
                </a:r>
                <a:r>
                  <a:rPr>
                    <a:latin typeface="Courier"/>
                  </a:rPr>
                  <a:t>R</a:t>
                </a:r>
                <a:r>
                  <a:rPr/>
                  <a:t>, we can use the </a:t>
                </a:r>
                <a:r>
                  <a:rPr>
                    <a:latin typeface="Courier"/>
                  </a:rPr>
                  <a:t>median(vector)</a:t>
                </a:r>
                <a:r>
                  <a:rPr/>
                  <a:t> function.</a:t>
                </a:r>
              </a:p>
              <a:p>
                <a:pPr lvl="0" indent="0">
                  <a:buNone/>
                </a:pPr>
                <a:r>
                  <a:rPr>
                    <a:latin typeface="Courier"/>
                  </a:rPr>
                  <a:t>[1] 83.07</a:t>
                </a:r>
              </a:p>
              <a:p>
                <a:pPr lvl="0" indent="0">
                  <a:buNone/>
                </a:pPr>
                <a:r>
                  <a:rPr>
                    <a:latin typeface="Courier"/>
                  </a:rPr>
                  <a:t>[1] 6</a:t>
                </a:r>
              </a:p>
              <a:p>
                <a:pPr lvl="0" indent="0" marL="0">
                  <a:buNone/>
                </a:pPr>
                <a:r>
                  <a:rPr/>
                  <a:t>This works for variables in data frames.</a:t>
                </a:r>
              </a:p>
              <a:p>
                <a:pPr lvl="0" indent="0">
                  <a:buNone/>
                </a:pPr>
                <a:r>
                  <a:rPr>
                    <a:latin typeface="Courier"/>
                  </a:rPr>
                  <a:t>[1] 5.8</a:t>
                </a:r>
              </a:p>
              <a:p>
                <a:pPr lvl="0" indent="0" marL="0">
                  <a:spcBef>
                    <a:spcPts val="3000"/>
                  </a:spcBef>
                  <a:buNone/>
                </a:pPr>
                <a:r>
                  <a:rPr b="1"/>
                  <a:t>Median: Exercise in </a:t>
                </a:r>
                <a:r>
                  <a:rPr b="1">
                    <a:latin typeface="Courier"/>
                  </a:rPr>
                  <a:t>R</a:t>
                </a:r>
                <a:r>
                  <a:rPr b="1"/>
                  <a:t>.</a:t>
                </a:r>
              </a:p>
              <a:p>
                <a:pPr lvl="0" indent="0" marL="0">
                  <a:buNone/>
                </a:pPr>
                <a:r>
                  <a:rPr/>
                  <a:t>The data set </a:t>
                </a:r>
                <a:r>
                  <a:rPr>
                    <a:latin typeface="Courier"/>
                  </a:rPr>
                  <a:t>USArrests</a:t>
                </a:r>
                <a:r>
                  <a:rPr/>
                  <a:t> contains statistics, in arrests per 100,000 residents for assault, murder, and rape in each of the 50 US states in 1973.</a:t>
                </a:r>
              </a:p>
              <a:p>
                <a:pPr lvl="0" indent="0" marL="0">
                  <a:spcBef>
                    <a:spcPts val="3000"/>
                  </a:spcBef>
                  <a:buNone/>
                </a:pPr>
                <a:r>
                  <a:rPr b="1"/>
                  <a:t>Exercise</a:t>
                </a:r>
              </a:p>
              <a:p>
                <a:pPr lvl="0" indent="0" marL="0">
                  <a:buNone/>
                </a:pPr>
                <a:r>
                  <a:rPr/>
                  <a:t>Create an ordered list for the </a:t>
                </a:r>
                <a:r>
                  <a:rPr>
                    <a:latin typeface="Courier"/>
                  </a:rPr>
                  <a:t>Assault</a:t>
                </a:r>
                <a:r>
                  <a:rPr/>
                  <a:t> variable in </a:t>
                </a:r>
                <a:r>
                  <a:rPr>
                    <a:latin typeface="Courier"/>
                  </a:rPr>
                  <a:t>USArrests</a:t>
                </a:r>
                <a:r>
                  <a:rPr/>
                  <a:t>. What is the median rate for assault per 100,000 residents?</a:t>
                </a:r>
              </a:p>
              <a:p>
                <a:pPr lvl="0" indent="0" marL="0">
                  <a:spcBef>
                    <a:spcPts val="3000"/>
                  </a:spcBef>
                  <a:buNone/>
                </a:pPr>
                <a:r>
                  <a:rPr b="1"/>
                  <a:t>Answer</a:t>
                </a:r>
              </a:p>
              <a:p>
                <a:pPr lvl="0" indent="0">
                  <a:buNone/>
                </a:pPr>
                <a:r>
                  <a:rPr>
                    <a:latin typeface="Courier"/>
                  </a:rPr>
                  <a:t>[1] 159</a:t>
                </a:r>
              </a:p>
              <a:p>
                <a:pPr lvl="0" indent="0" marL="0">
                  <a:buNone/>
                </a:pPr>
                <a:r>
                  <a:rPr/>
                  <a:t>The median arrest rate per 100,000 residents in the US in 1973 was 159.</a:t>
                </a:r>
              </a:p>
              <a:p>
                <a:pPr lvl="0" indent="0" marL="0">
                  <a:spcBef>
                    <a:spcPts val="3000"/>
                  </a:spcBef>
                  <a:buNone/>
                </a:pPr>
                <a:r>
                  <a:rPr b="1"/>
                  <a:t>Median: Advantages and Disadvantages</a:t>
                </a:r>
              </a:p>
              <a:p>
                <a:pPr lvl="0" indent="0" marL="1270000">
                  <a:buNone/>
                </a:pPr>
                <a:r>
                  <a:rPr sz="2000" b="1"/>
                  <a:t>Advantages</a:t>
                </a:r>
              </a:p>
              <a:p>
                <a:pPr lvl="0" indent="0" marL="1270000">
                  <a:buNone/>
                </a:pPr>
                <a:r>
                  <a:rPr sz="2000"/>
                  <a:t>The median is unique to a specific set of values, i.e. there is only one median for every data set. The median is also relatively easy to calculate once the data is ordered. Unlike the mean, the median is </a:t>
                </a:r>
                <a:r>
                  <a:rPr sz="2000" b="1"/>
                  <a:t>NOT</a:t>
                </a:r>
                <a:r>
                  <a:rPr sz="2000"/>
                  <a:t> influenced by extreme values.</a:t>
                </a:r>
              </a:p>
              <a:p>
                <a:pPr lvl="0" indent="0">
                  <a:buNone/>
                </a:pPr>
                <a:r>
                  <a:rPr sz="2000">
                    <a:latin typeface="Courier"/>
                  </a:rPr>
                  <a:t>[1] 27</a:t>
                </a:r>
              </a:p>
              <a:p>
                <a:pPr lvl="0" indent="0" marL="1270000">
                  <a:buNone/>
                </a:pPr>
                <a:r>
                  <a:rPr sz="2000"/>
                  <a:t>Now, if 31 was replaced by an extreme number, say 310, the new median would be the same because the middle part of the data did not change.</a:t>
                </a:r>
              </a:p>
              <a:p>
                <a:pPr lvl="0" indent="0">
                  <a:buNone/>
                </a:pPr>
                <a:r>
                  <a:rPr sz="2000">
                    <a:latin typeface="Courier"/>
                  </a:rPr>
                  <a:t>[1] 27</a:t>
                </a:r>
              </a:p>
              <a:p>
                <a:pPr lvl="0" indent="0" marL="1270000">
                  <a:buNone/>
                </a:pPr>
                <a:r>
                  <a:rPr sz="2000" b="1"/>
                  <a:t>Disadvantages</a:t>
                </a:r>
              </a:p>
              <a:p>
                <a:pPr lvl="0" indent="0" marL="1270000">
                  <a:buNone/>
                </a:pPr>
                <a:r>
                  <a:rPr sz="2000"/>
                  <a:t>While the median is a well-known summary statistic, it is limited in the area of inferential statistics. The mean is more versatile as an estimator when it comes to statistical tests compared to the median.</a:t>
                </a:r>
              </a:p>
              <a:p>
                <a:pPr lvl="0" indent="0" marL="0">
                  <a:spcBef>
                    <a:spcPts val="3000"/>
                  </a:spcBef>
                  <a:buNone/>
                </a:pPr>
                <a:r>
                  <a:rPr b="1"/>
                  <a:t>Mode</a:t>
                </a:r>
              </a:p>
              <a:p>
                <a:pPr lvl="0" indent="0" marL="0">
                  <a:buNone/>
                </a:pPr>
                <a:r>
                  <a:rPr/>
                  <a:t>For a sample of quantitative/qualitative data, the mode is the value that occurs most frequently.</a:t>
                </a:r>
              </a:p>
              <a:p>
                <a:pPr lvl="0" indent="0" marL="1270000">
                  <a:buNone/>
                </a:pPr>
                <a:r>
                  <a:rPr sz="2000" b="1"/>
                  <a:t>Important</a:t>
                </a:r>
              </a:p>
              <a:p>
                <a:pPr lvl="0" indent="0" marL="1270000">
                  <a:buNone/>
                </a:pPr>
                <a:r>
                  <a:rPr sz="2000"/>
                  <a:t>If all values occurred with the same frequency, then the data does not have a mode.</a:t>
                </a:r>
              </a:p>
              <a:p>
                <a:pPr lvl="0" indent="0" marL="0">
                  <a:spcBef>
                    <a:spcPts val="3000"/>
                  </a:spcBef>
                  <a:buNone/>
                </a:pPr>
                <a:r>
                  <a:rPr b="1"/>
                  <a:t>Mode: Example</a:t>
                </a:r>
              </a:p>
              <a:p>
                <a:pPr lvl="0" indent="0" marL="0">
                  <a:buNone/>
                </a:pPr>
                <a:r>
                  <a:rPr/>
                  <a:t>What is the mode of the following values? 33, 35, 35, 46, 21, 56, 390.</a:t>
                </a:r>
              </a:p>
              <a:p>
                <a:pPr lvl="0"/>
                <a:r>
                  <a:rPr/>
                  <a:t>The mode is 35 because it occurred the most times.</a:t>
                </a:r>
              </a:p>
              <a:p>
                <a:pPr lvl="0" indent="0" marL="0">
                  <a:buNone/>
                </a:pPr>
                <a:r>
                  <a:rPr/>
                  <a:t>What is the mode of the following values? 21, 35, 35, 46, 21, 56, 390.</a:t>
                </a:r>
              </a:p>
              <a:p>
                <a:pPr lvl="0"/>
                <a:r>
                  <a:rPr/>
                  <a:t>The modes are 21 and 35 because these values occurred twice, which was the highest frequency across the values.</a:t>
                </a:r>
              </a:p>
              <a:p>
                <a:pPr lvl="0" indent="0" marL="0">
                  <a:buNone/>
                </a:pPr>
                <a:r>
                  <a:rPr/>
                  <a:t>What is the mode of the following values? 33, 34, 35, 46, 21, 56, 390.</a:t>
                </a:r>
              </a:p>
              <a:p>
                <a:pPr lvl="0"/>
                <a:r>
                  <a:rPr/>
                  <a:t>There is </a:t>
                </a:r>
                <a:r>
                  <a:rPr b="1"/>
                  <a:t>NO</a:t>
                </a:r>
                <a:r>
                  <a:rPr/>
                  <a:t> mode because all values occurred only once.</a:t>
                </a:r>
              </a:p>
              <a:p>
                <a:pPr lvl="0" indent="0" marL="0">
                  <a:spcBef>
                    <a:spcPts val="3000"/>
                  </a:spcBef>
                  <a:buNone/>
                </a:pPr>
                <a:r>
                  <a:rPr b="1"/>
                  <a:t>Mode: </a:t>
                </a:r>
                <a:r>
                  <a:rPr b="1">
                    <a:latin typeface="Courier"/>
                  </a:rPr>
                  <a:t>R</a:t>
                </a:r>
              </a:p>
              <a:p>
                <a:pPr lvl="0" indent="0" marL="0">
                  <a:buNone/>
                </a:pPr>
                <a:r>
                  <a:rPr/>
                  <a:t>We can use the </a:t>
                </a:r>
                <a:r>
                  <a:rPr>
                    <a:latin typeface="Courier"/>
                  </a:rPr>
                  <a:t>freq()</a:t>
                </a:r>
                <a:r>
                  <a:rPr/>
                  <a:t> or </a:t>
                </a:r>
                <a:r>
                  <a:rPr>
                    <a:latin typeface="Courier"/>
                  </a:rPr>
                  <a:t>hist()</a:t>
                </a:r>
                <a:r>
                  <a:rPr/>
                  <a:t> functions in </a:t>
                </a:r>
                <a:r>
                  <a:rPr>
                    <a:latin typeface="Courier"/>
                  </a:rPr>
                  <a:t>R</a:t>
                </a:r>
                <a:r>
                  <a:rPr/>
                  <a:t> to create a frequency table for the data set, but we often only need the frequency distribution. One function that we can use is the </a:t>
                </a:r>
                <a:r>
                  <a:rPr>
                    <a:latin typeface="Courier"/>
                  </a:rPr>
                  <a:t>table</a:t>
                </a:r>
                <a:r>
                  <a:rPr/>
                  <a:t> function.</a:t>
                </a:r>
              </a:p>
              <a:p>
                <a:pPr lvl="0" indent="0">
                  <a:buNone/>
                </a:pPr>
                <a:r>
                  <a:rPr>
                    <a:latin typeface="Courier"/>
                  </a:rPr>
                  <a:t>
  5 5.1 6.3 5.7 6.7 5.5 5.8 6.4 4.9 5.4 5.6   6 6.1 4.8 6.5 4.6 5.2 6.2 6.9 7.7 
 10   9   9   8   8   7   7   7   6   6   6   6   6   5   5   4   4   4   4   4 
4.4 5.9 6.8 7.2 4.7 6.6 4.3 4.5 5.3   7 7.1 7.3 7.4 7.6 7.9 
  3   3   3   3   2   2   1   1   1   1   1   1   1   1   1 </a:t>
                </a:r>
              </a:p>
              <a:p>
                <a:pPr lvl="0" indent="0">
                  <a:buNone/>
                </a:pPr>
                <a:r>
                  <a:rPr>
                    <a:latin typeface="Courier"/>
                  </a:rPr>
                  <a:t>
    setosa versicolor  virginica 
        50         50         50 </a:t>
                </a:r>
              </a:p>
              <a:p>
                <a:pPr lvl="0" indent="0" marL="0">
                  <a:buNone/>
                </a:pPr>
                <a:r>
                  <a:rPr/>
                  <a:t>The mode sepal length in the </a:t>
                </a:r>
                <a:r>
                  <a:rPr>
                    <a:latin typeface="Courier"/>
                  </a:rPr>
                  <a:t>iris</a:t>
                </a:r>
                <a:r>
                  <a:rPr/>
                  <a:t> data set is 5. There is no mode for the species variable as all species occurred 50 times.</a:t>
                </a:r>
              </a:p>
              <a:p>
                <a:pPr lvl="0" indent="0" marL="0">
                  <a:spcBef>
                    <a:spcPts val="3000"/>
                  </a:spcBef>
                  <a:buNone/>
                </a:pPr>
                <a:r>
                  <a:rPr b="1"/>
                  <a:t>Mode: Advantages and Disadvantages</a:t>
                </a:r>
              </a:p>
              <a:p>
                <a:pPr lvl="0" indent="0" marL="1270000">
                  <a:buNone/>
                </a:pPr>
                <a:r>
                  <a:rPr sz="2000" b="1"/>
                  <a:t>Advantages</a:t>
                </a:r>
              </a:p>
              <a:p>
                <a:pPr lvl="0" indent="0" marL="1270000">
                  <a:buNone/>
                </a:pPr>
                <a:r>
                  <a:rPr sz="2000"/>
                  <a:t>The mode is easily calculable using frequency tables. Unlike the mean and median, it can be calculated for qualitative variables.</a:t>
                </a:r>
              </a:p>
              <a:p>
                <a:pPr lvl="0" indent="0" marL="1270000">
                  <a:buNone/>
                </a:pPr>
                <a:r>
                  <a:rPr sz="2000" b="1"/>
                  <a:t>Disadvantages</a:t>
                </a:r>
              </a:p>
              <a:p>
                <a:pPr lvl="0" indent="0" marL="1270000">
                  <a:buNone/>
                </a:pPr>
                <a:r>
                  <a:rPr sz="2000"/>
                  <a:t>The mode is not unique as data sets can have more than one mode. Modes are not used in inferential statistics for quantitative variables.</a:t>
                </a:r>
              </a:p>
            </p:txBody>
          </p:sp>
        </mc:Choice>
      </mc:AlternateContent>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Measures of Dispersion</a:t>
            </a:r>
          </a:p>
        </p:txBody>
      </p:sp>
      <p:sp>
        <p:nvSpPr>
          <p:cNvPr id="4" name="Text Placeholder 3"/>
          <p:cNvSpPr>
            <a:spLocks noGrp="1"/>
          </p:cNvSpPr>
          <p:nvPr>
            <p:ph idx="2" sz="half" type="body"/>
          </p:nvPr>
        </p:nvSpPr>
        <p:spPr/>
        <p:txBody>
          <a:bodyPr/>
          <a:lstStyle/>
          <a:p>
            <a:pPr lvl="0" indent="0" marL="0">
              <a:spcBef>
                <a:spcPts val="3000"/>
              </a:spcBef>
              <a:buNone/>
            </a:pPr>
            <a:r>
              <a:rPr b="1"/>
              <a:t>Dispersion</a:t>
            </a:r>
          </a:p>
          <a:p>
            <a:pPr lvl="0" indent="0" marL="0">
              <a:buNone/>
            </a:pPr>
            <a:r>
              <a:rPr/>
              <a:t>The dispersion of a set of observations refers to the variability they exhibit. Measures of dispersion convey information on the spread of a data set.</a:t>
            </a:r>
          </a:p>
          <a:p>
            <a:pPr lvl="0" indent="0" marL="1270000">
              <a:buNone/>
            </a:pPr>
            <a:r>
              <a:rPr sz="2000" b="1"/>
              <a:t>Note</a:t>
            </a:r>
          </a:p>
          <a:p>
            <a:pPr lvl="0" indent="0" marL="1270000">
              <a:buNone/>
            </a:pPr>
            <a:r>
              <a:rPr sz="2000"/>
              <a:t>Smaller values of measures of dispersion indicate lower amount of dispersion.</a:t>
            </a:r>
          </a:p>
          <a:p>
            <a:pPr lvl="0" indent="0" marL="0">
              <a:spcBef>
                <a:spcPts val="3000"/>
              </a:spcBef>
              <a:buNone/>
            </a:pPr>
            <a:r>
              <a:rPr b="1"/>
              <a:t>Dispersion Example</a:t>
            </a:r>
          </a:p>
          <a:p>
            <a:pPr lvl="0" indent="0" marL="0">
              <a:buNone/>
            </a:pPr>
            <a:r>
              <a:rPr/>
              <a:t>Consider populations A and B shown below.</a:t>
            </a:r>
          </a:p>
        </p:txBody>
      </p:sp>
      <p:pic>
        <p:nvPicPr>
          <p:cNvPr descr="lecture2_files/figure-pptx/unnamed-chunk-26-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Where are the population of values centered? Which population of values has a higher amount of dispersion?</a:t>
                </a:r>
              </a:p>
              <a:p>
                <a:pPr lvl="0" indent="0" marL="0">
                  <a:spcBef>
                    <a:spcPts val="3000"/>
                  </a:spcBef>
                  <a:buNone/>
                </a:pPr>
                <a:r>
                  <a:rPr b="1"/>
                  <a:t>Measures of Dispersion</a:t>
                </a:r>
              </a:p>
              <a:p>
                <a:pPr lvl="0" indent="0" marL="0">
                  <a:buNone/>
                </a:pPr>
                <a:r>
                  <a:rPr/>
                  <a:t>Commonly used measures of dispersion include:</a:t>
                </a:r>
              </a:p>
              <a:p>
                <a:pPr lvl="0"/>
                <a:r>
                  <a:rPr/>
                  <a:t>Range</a:t>
                </a:r>
              </a:p>
              <a:p>
                <a:pPr lvl="0"/>
                <a:r>
                  <a:rPr/>
                  <a:t>Variance</a:t>
                </a:r>
              </a:p>
              <a:p>
                <a:pPr lvl="0"/>
                <a:r>
                  <a:rPr/>
                  <a:t>Standard Deviation</a:t>
                </a:r>
              </a:p>
              <a:p>
                <a:pPr lvl="0"/>
                <a:r>
                  <a:rPr/>
                  <a:t>Coefficient of Variation</a:t>
                </a:r>
              </a:p>
              <a:p>
                <a:pPr lvl="0"/>
                <a:r>
                  <a:rPr/>
                  <a:t>Interquartile Range</a:t>
                </a:r>
              </a:p>
              <a:p>
                <a:pPr lvl="0" indent="0" marL="0">
                  <a:spcBef>
                    <a:spcPts val="3000"/>
                  </a:spcBef>
                  <a:buNone/>
                </a:pPr>
                <a:r>
                  <a:rPr b="1"/>
                  <a:t>Range</a:t>
                </a:r>
              </a:p>
              <a:p>
                <a:pPr lvl="0" indent="0" marL="0">
                  <a:buNone/>
                </a:pPr>
                <a:r>
                  <a:rPr/>
                  <a:t>The range is the difference between the largest and smallest values in a set of observations.</a:t>
                </a:r>
              </a:p>
              <a:p>
                <a:pPr lvl="0" indent="0" marL="0">
                  <a:buNone/>
                </a:pPr>
                <a14:m>
                  <m:oMathPara xmlns:m="http://schemas.openxmlformats.org/officeDocument/2006/math">
                    <m:oMathParaPr>
                      <m:jc m:val="center"/>
                    </m:oMathParaPr>
                    <m:oMath>
                      <m:r>
                        <m:t>R</m:t>
                      </m:r>
                      <m:r>
                        <m:rPr>
                          <m:sty m:val="p"/>
                        </m:rPr>
                        <m:t>=</m:t>
                      </m:r>
                      <m:sSub>
                        <m:e>
                          <m:r>
                            <m:t>x</m:t>
                          </m:r>
                        </m:e>
                        <m:sub>
                          <m:r>
                            <m:t>L</m:t>
                          </m:r>
                        </m:sub>
                      </m:sSub>
                      <m:r>
                        <m:rPr>
                          <m:sty m:val="p"/>
                        </m:rPr>
                        <m:t>−</m:t>
                      </m:r>
                      <m:sSub>
                        <m:e>
                          <m:r>
                            <m:t>x</m:t>
                          </m:r>
                        </m:e>
                        <m:sub>
                          <m:r>
                            <m:t>S</m:t>
                          </m:r>
                        </m:sub>
                      </m:sSub>
                    </m:oMath>
                  </m:oMathPara>
                </a14:m>
              </a:p>
              <a:p>
                <a:pPr lvl="0" indent="0" marL="0">
                  <a:buNone/>
                </a:pPr>
                <a:r>
                  <a:rPr/>
                  <a:t>where </a:t>
                </a:r>
                <a14:m>
                  <m:oMath xmlns:m="http://schemas.openxmlformats.org/officeDocument/2006/math">
                    <m:sSub>
                      <m:e>
                        <m:r>
                          <m:t>x</m:t>
                        </m:r>
                      </m:e>
                      <m:sub>
                        <m:r>
                          <m:t>L</m:t>
                        </m:r>
                      </m:sub>
                    </m:sSub>
                  </m:oMath>
                </a14:m>
                <a:r>
                  <a:rPr/>
                  <a:t> and </a:t>
                </a:r>
                <a14:m>
                  <m:oMath xmlns:m="http://schemas.openxmlformats.org/officeDocument/2006/math">
                    <m:sSub>
                      <m:e>
                        <m:r>
                          <m:t>x</m:t>
                        </m:r>
                      </m:e>
                      <m:sub>
                        <m:r>
                          <m:t>S</m:t>
                        </m:r>
                      </m:sub>
                    </m:sSub>
                  </m:oMath>
                </a14:m>
                <a:r>
                  <a:rPr/>
                  <a:t> are the largest and smallest values, respectively.</a:t>
                </a:r>
              </a:p>
              <a:p>
                <a:pPr lvl="0" indent="0" marL="0">
                  <a:spcBef>
                    <a:spcPts val="3000"/>
                  </a:spcBef>
                  <a:buNone/>
                </a:pPr>
                <a:r>
                  <a:rPr b="1"/>
                  <a:t>Range: Example</a:t>
                </a:r>
              </a:p>
              <a:p>
                <a:pPr lvl="0" indent="0" marL="0">
                  <a:buNone/>
                </a:pPr>
                <a:r>
                  <a:rPr/>
                  <a:t>What is the range of the following values: 254, 281, 192, 260, 212, 179?</a:t>
                </a:r>
              </a:p>
              <a:p>
                <a:pPr lvl="0"/>
                <a:r>
                  <a:rPr/>
                  <a:t>The maximum value is 281, minimum value is 179. The range can be calculated as 281-179 = 102.</a:t>
                </a:r>
              </a:p>
              <a:p>
                <a:pPr lvl="0" indent="0" marL="0">
                  <a:spcBef>
                    <a:spcPts val="3000"/>
                  </a:spcBef>
                  <a:buNone/>
                </a:pPr>
                <a:r>
                  <a:rPr b="1"/>
                  <a:t>Range: </a:t>
                </a:r>
                <a:r>
                  <a:rPr b="1">
                    <a:latin typeface="Courier"/>
                  </a:rPr>
                  <a:t>R</a:t>
                </a:r>
              </a:p>
              <a:p>
                <a:pPr lvl="0" indent="0" marL="0">
                  <a:buNone/>
                </a:pPr>
                <a:r>
                  <a:rPr/>
                  <a:t>The </a:t>
                </a:r>
                <a:r>
                  <a:rPr>
                    <a:latin typeface="Courier"/>
                  </a:rPr>
                  <a:t>diff(range(vector))</a:t>
                </a:r>
                <a:r>
                  <a:rPr/>
                  <a:t> function calculates the range of a set of values.</a:t>
                </a:r>
              </a:p>
              <a:p>
                <a:pPr lvl="0" indent="0">
                  <a:buNone/>
                </a:pPr>
                <a:r>
                  <a:rPr>
                    <a:latin typeface="Courier"/>
                  </a:rPr>
                  <a:t>[1] 179 281</a:t>
                </a:r>
              </a:p>
              <a:p>
                <a:pPr lvl="0" indent="0">
                  <a:buNone/>
                </a:pPr>
                <a:r>
                  <a:rPr>
                    <a:latin typeface="Courier"/>
                  </a:rPr>
                  <a:t>[1] 102</a:t>
                </a:r>
              </a:p>
              <a:p>
                <a:pPr lvl="0" indent="0" marL="0">
                  <a:buNone/>
                </a:pPr>
                <a:r>
                  <a:rPr/>
                  <a:t>We can also use </a:t>
                </a:r>
                <a:r>
                  <a:rPr>
                    <a:latin typeface="Courier"/>
                  </a:rPr>
                  <a:t>max()</a:t>
                </a:r>
                <a:r>
                  <a:rPr/>
                  <a:t> and </a:t>
                </a:r>
                <a:r>
                  <a:rPr>
                    <a:latin typeface="Courier"/>
                  </a:rPr>
                  <a:t>min()</a:t>
                </a:r>
                <a:r>
                  <a:rPr/>
                  <a:t> to identify the maximum and minimum values. We can take the difference between the two values to calculate the range.</a:t>
                </a:r>
              </a:p>
              <a:p>
                <a:pPr lvl="0" indent="0">
                  <a:buNone/>
                </a:pPr>
                <a:r>
                  <a:rPr>
                    <a:latin typeface="Courier"/>
                  </a:rPr>
                  <a:t>[1] 102</a:t>
                </a:r>
              </a:p>
              <a:p>
                <a:pPr lvl="0" indent="0" marL="0">
                  <a:spcBef>
                    <a:spcPts val="3000"/>
                  </a:spcBef>
                  <a:buNone/>
                </a:pPr>
                <a:r>
                  <a:rPr b="1"/>
                  <a:t>Range: </a:t>
                </a:r>
                <a:r>
                  <a:rPr b="1">
                    <a:latin typeface="Courier"/>
                  </a:rPr>
                  <a:t>R</a:t>
                </a:r>
                <a:r>
                  <a:rPr b="1"/>
                  <a:t> Example</a:t>
                </a:r>
              </a:p>
              <a:p>
                <a:pPr lvl="0" indent="0" marL="0">
                  <a:buNone/>
                </a:pPr>
                <a:r>
                  <a:rPr/>
                  <a:t>Consider the </a:t>
                </a:r>
                <a:r>
                  <a:rPr>
                    <a:latin typeface="Courier"/>
                  </a:rPr>
                  <a:t>flights</a:t>
                </a:r>
                <a:r>
                  <a:rPr/>
                  <a:t> data set from the package </a:t>
                </a:r>
                <a:r>
                  <a:rPr>
                    <a:latin typeface="Courier"/>
                  </a:rPr>
                  <a:t>nycflights23</a:t>
                </a:r>
                <a:r>
                  <a:rPr/>
                  <a:t>. The </a:t>
                </a:r>
                <a:r>
                  <a:rPr>
                    <a:latin typeface="Courier"/>
                  </a:rPr>
                  <a:t>distance</a:t>
                </a:r>
                <a:r>
                  <a:rPr/>
                  <a:t> column contains the distance in miles between origin and destination airport for each flight. Calculate the range of the distances between origin and destination airports.</a:t>
                </a:r>
              </a:p>
              <a:p>
                <a:pPr lvl="0" indent="0">
                  <a:buNone/>
                </a:pPr>
                <a:r>
                  <a:rPr>
                    <a:latin typeface="Courier"/>
                  </a:rPr>
                  <a:t>[1] 4983</a:t>
                </a:r>
              </a:p>
              <a:p>
                <a:pPr lvl="0" indent="0">
                  <a:buNone/>
                </a:pPr>
                <a:r>
                  <a:rPr>
                    <a:latin typeface="Courier"/>
                  </a:rPr>
                  <a:t>[1] 80</a:t>
                </a:r>
              </a:p>
              <a:p>
                <a:pPr lvl="0" indent="0">
                  <a:buNone/>
                </a:pPr>
                <a:r>
                  <a:rPr>
                    <a:latin typeface="Courier"/>
                  </a:rPr>
                  <a:t>[1] 4903</a:t>
                </a:r>
              </a:p>
              <a:p>
                <a:pPr lvl="0" indent="0" marL="0">
                  <a:buNone/>
                </a:pPr>
                <a:r>
                  <a:rPr/>
                  <a:t>The range is 4,903 miles.</a:t>
                </a:r>
              </a:p>
              <a:p>
                <a:pPr lvl="0" indent="0" marL="0">
                  <a:spcBef>
                    <a:spcPts val="3000"/>
                  </a:spcBef>
                  <a:buNone/>
                </a:pPr>
                <a:r>
                  <a:rPr b="1"/>
                  <a:t>Exercise</a:t>
                </a:r>
              </a:p>
              <a:p>
                <a:pPr lvl="0" indent="0" marL="0">
                  <a:buNone/>
                </a:pPr>
                <a:r>
                  <a:rPr/>
                  <a:t>Consider the </a:t>
                </a:r>
                <a:r>
                  <a:rPr>
                    <a:latin typeface="Courier"/>
                  </a:rPr>
                  <a:t>iris</a:t>
                </a:r>
                <a:r>
                  <a:rPr/>
                  <a:t> data set that gives the measurements in centimeters of the variables sepal length and width and petal length and width, respectively, for 50 flowers from each of 3 species of iris.</a:t>
                </a:r>
              </a:p>
              <a:p>
                <a:pPr lvl="0" indent="0" marL="0">
                  <a:spcBef>
                    <a:spcPts val="3000"/>
                  </a:spcBef>
                  <a:buNone/>
                </a:pPr>
                <a:r>
                  <a:rPr b="1"/>
                  <a:t>Exercise</a:t>
                </a:r>
              </a:p>
              <a:p>
                <a:pPr lvl="0"/>
                <a:r>
                  <a:rPr/>
                  <a:t>What is the longest petal length in this data set?</a:t>
                </a:r>
              </a:p>
              <a:p>
                <a:pPr lvl="0"/>
                <a:r>
                  <a:rPr/>
                  <a:t>What is the shortest petal length in this data set?</a:t>
                </a:r>
              </a:p>
              <a:p>
                <a:pPr lvl="0"/>
                <a:r>
                  <a:rPr/>
                  <a:t>What is the range of the petal lengths?</a:t>
                </a:r>
              </a:p>
              <a:p>
                <a:pPr lvl="0" indent="0" marL="0">
                  <a:spcBef>
                    <a:spcPts val="3000"/>
                  </a:spcBef>
                  <a:buNone/>
                </a:pPr>
                <a:r>
                  <a:rPr b="1"/>
                  <a:t>Answer</a:t>
                </a:r>
              </a:p>
              <a:p>
                <a:pPr lvl="0" indent="0">
                  <a:buNone/>
                </a:pPr>
                <a:r>
                  <a:rPr>
                    <a:latin typeface="Courier"/>
                  </a:rPr>
                  <a:t>[1] 6.9</a:t>
                </a:r>
              </a:p>
              <a:p>
                <a:pPr lvl="0" indent="0">
                  <a:buNone/>
                </a:pPr>
                <a:r>
                  <a:rPr>
                    <a:latin typeface="Courier"/>
                  </a:rPr>
                  <a:t>[1] 1</a:t>
                </a:r>
              </a:p>
              <a:p>
                <a:pPr lvl="0" indent="0">
                  <a:buNone/>
                </a:pPr>
                <a:r>
                  <a:rPr>
                    <a:latin typeface="Courier"/>
                  </a:rPr>
                  <a:t>[1] 5.9</a:t>
                </a:r>
              </a:p>
              <a:p>
                <a:pPr lvl="0" indent="0" marL="0">
                  <a:spcBef>
                    <a:spcPts val="3000"/>
                  </a:spcBef>
                  <a:buNone/>
                </a:pPr>
                <a:r>
                  <a:rPr b="1"/>
                  <a:t>Range: Advantages and Disadvantages</a:t>
                </a:r>
              </a:p>
              <a:p>
                <a:pPr lvl="0" indent="0" marL="1270000">
                  <a:buNone/>
                </a:pPr>
                <a:r>
                  <a:rPr sz="2000" b="1"/>
                  <a:t>Advantages</a:t>
                </a:r>
              </a:p>
              <a:p>
                <a:pPr lvl="0" indent="0" marL="1270000">
                  <a:buNone/>
                </a:pPr>
                <a:r>
                  <a:rPr sz="2000"/>
                  <a:t>The main advantage in using the range is the simplicity of its computation. It also provides information on the span of the set of values.</a:t>
                </a:r>
              </a:p>
              <a:p>
                <a:pPr lvl="0" indent="0" marL="1270000">
                  <a:buNone/>
                </a:pPr>
                <a:r>
                  <a:rPr sz="2000" b="1"/>
                  <a:t>Disadvantages</a:t>
                </a:r>
              </a:p>
              <a:p>
                <a:pPr lvl="0" indent="0" marL="1270000">
                  <a:buNone/>
                </a:pPr>
                <a:r>
                  <a:rPr sz="2000"/>
                  <a:t>The usefulness of the range is limited. The fact that it takes into account only two values causes it to be a poor measure of dispersion. It is often preferable to express the range as a number pair </a:t>
                </a:r>
                <a14:m>
                  <m:oMath xmlns:m="http://schemas.openxmlformats.org/officeDocument/2006/math">
                    <m:d>
                      <m:dPr>
                        <m:begChr m:val="["/>
                        <m:sepChr m:val=""/>
                        <m:endChr m:val="]"/>
                        <m:grow/>
                      </m:dPr>
                      <m:e>
                        <m:sSub>
                          <m:e>
                            <m:r>
                              <m:t>x</m:t>
                            </m:r>
                          </m:e>
                          <m:sub>
                            <m:r>
                              <m:t>S</m:t>
                            </m:r>
                          </m:sub>
                        </m:sSub>
                        <m:r>
                          <m:rPr>
                            <m:sty m:val="p"/>
                          </m:rPr>
                          <m:t>,</m:t>
                        </m:r>
                        <m:sSub>
                          <m:e>
                            <m:r>
                              <m:t>x</m:t>
                            </m:r>
                          </m:e>
                          <m:sub>
                            <m:r>
                              <m:t>L</m:t>
                            </m:r>
                          </m:sub>
                        </m:sSub>
                      </m:e>
                    </m:d>
                  </m:oMath>
                </a14:m>
                <a:r>
                  <a:rPr sz="2000"/>
                  <a:t>, as is seen in some demographic tables in research papers.</a:t>
                </a:r>
              </a:p>
              <a:p>
                <a:pPr lvl="0" indent="0" marL="0">
                  <a:spcBef>
                    <a:spcPts val="3000"/>
                  </a:spcBef>
                  <a:buNone/>
                </a:pPr>
                <a:r>
                  <a:rPr b="1"/>
                  <a:t>Variance</a:t>
                </a:r>
              </a:p>
              <a:p>
                <a:pPr lvl="0" indent="0" marL="0">
                  <a:buNone/>
                </a:pPr>
                <a:r>
                  <a:rPr/>
                  <a:t>The variance is a measure of how far the values are from the mean.</a:t>
                </a:r>
              </a:p>
              <a:p>
                <a:pPr lvl="0" indent="0" marL="1270000">
                  <a:buNone/>
                </a:pPr>
                <a:r>
                  <a:rPr sz="2000" b="1"/>
                  <a:t>Important</a:t>
                </a:r>
              </a:p>
              <a:p>
                <a:pPr lvl="0" indent="0" marL="1270000">
                  <a:buNone/>
                </a:pPr>
                <a:r>
                  <a:rPr sz="2000"/>
                  <a:t>The calculation for </a:t>
                </a:r>
                <a:r>
                  <a:rPr sz="2000" i="1"/>
                  <a:t>population</a:t>
                </a:r>
                <a:r>
                  <a:rPr sz="2000"/>
                  <a:t> and </a:t>
                </a:r>
                <a:r>
                  <a:rPr sz="2000" i="1"/>
                  <a:t>sample</a:t>
                </a:r>
                <a:r>
                  <a:rPr sz="2000"/>
                  <a:t> variances are slightly different. However, both involve taking the </a:t>
                </a:r>
                <a:r>
                  <a:rPr sz="2000" b="1"/>
                  <a:t>squared difference</a:t>
                </a:r>
                <a:r>
                  <a:rPr sz="2000"/>
                  <a:t> of each value and the mean of the data set.</a:t>
                </a:r>
              </a:p>
              <a:p>
                <a:pPr lvl="0" indent="0" marL="0">
                  <a:spcBef>
                    <a:spcPts val="3000"/>
                  </a:spcBef>
                  <a:buNone/>
                </a:pPr>
                <a:r>
                  <a:rPr b="1"/>
                  <a:t>Sample Variance</a:t>
                </a:r>
              </a:p>
              <a:p>
                <a:pPr lvl="0" indent="0" marL="0">
                  <a:buNone/>
                </a:pPr>
                <a:r>
                  <a:rPr/>
                  <a:t>The sample variance is denoted by </a:t>
                </a:r>
                <a14:m>
                  <m:oMath xmlns:m="http://schemas.openxmlformats.org/officeDocument/2006/math">
                    <m:sSup>
                      <m:e>
                        <m:r>
                          <m:t>s</m:t>
                        </m:r>
                      </m:e>
                      <m:sup>
                        <m:r>
                          <m:t>2</m:t>
                        </m:r>
                      </m:sup>
                    </m:sSup>
                  </m:oMath>
                </a14:m>
                <a:r>
                  <a:rPr/>
                  <a:t>.</a:t>
                </a:r>
              </a:p>
              <a:p>
                <a:pPr lvl="0" indent="0" marL="0">
                  <a:buNone/>
                </a:pPr>
                <a14:m>
                  <m:oMathPara xmlns:m="http://schemas.openxmlformats.org/officeDocument/2006/math">
                    <m:oMathParaPr>
                      <m:jc m:val="center"/>
                    </m:oMathParaPr>
                    <m:oMath>
                      <m:sSup>
                        <m:e>
                          <m:r>
                            <m:t>s</m:t>
                          </m:r>
                        </m:e>
                        <m:sup>
                          <m:r>
                            <m:t>2</m:t>
                          </m:r>
                        </m:sup>
                      </m:sSup>
                      <m:r>
                        <m:rPr>
                          <m:sty m:val="p"/>
                        </m:rPr>
                        <m:t>=</m:t>
                      </m:r>
                      <m:f>
                        <m:fPr>
                          <m:type m:val="bar"/>
                        </m:fPr>
                        <m:num>
                          <m:r>
                            <m:t>1</m:t>
                          </m:r>
                        </m:num>
                        <m:den>
                          <m:d>
                            <m:dPr>
                              <m:begChr m:val="("/>
                              <m:sepChr m:val=""/>
                              <m:endChr m:val=")"/>
                              <m:grow/>
                            </m:dPr>
                            <m:e>
                              <m:r>
                                <m:t>n</m:t>
                              </m:r>
                              <m:r>
                                <m:rPr>
                                  <m:sty m:val="p"/>
                                </m:rPr>
                                <m:t>−</m:t>
                              </m:r>
                              <m:r>
                                <m:t>1</m:t>
                              </m:r>
                            </m:e>
                          </m:d>
                        </m:den>
                      </m:f>
                      <m:nary>
                        <m:naryPr>
                          <m:chr m:val="∑"/>
                          <m:limLoc m:val="undOvr"/>
                          <m:subHide m:val="off"/>
                          <m:supHide m:val="off"/>
                        </m:naryPr>
                        <m:sub>
                          <m:r>
                            <m:t>i</m:t>
                          </m:r>
                          <m:r>
                            <m:rPr>
                              <m:sty m:val="p"/>
                            </m:rPr>
                            <m:t>=</m:t>
                          </m:r>
                          <m:r>
                            <m:t>1</m:t>
                          </m:r>
                        </m:sub>
                        <m:sup>
                          <m:r>
                            <m:t>n</m:t>
                          </m:r>
                        </m:sup>
                        <m:e>
                          <m:sSup>
                            <m:e>
                              <m:d>
                                <m:dPr>
                                  <m:begChr m:val="("/>
                                  <m:sepChr m:val=""/>
                                  <m:endChr m:val=")"/>
                                  <m:grow/>
                                </m:dPr>
                                <m:e>
                                  <m:sSub>
                                    <m:e>
                                      <m:r>
                                        <m:t>x</m:t>
                                      </m:r>
                                    </m:e>
                                    <m:sub>
                                      <m:r>
                                        <m:t>i</m:t>
                                      </m:r>
                                    </m:sub>
                                  </m:sSub>
                                  <m:r>
                                    <m:rPr>
                                      <m:sty m:val="p"/>
                                    </m:rPr>
                                    <m:t>−</m:t>
                                  </m:r>
                                  <m:acc>
                                    <m:accPr>
                                      <m:chr m:val="‾"/>
                                    </m:accPr>
                                    <m:e>
                                      <m:r>
                                        <m:t>x</m:t>
                                      </m:r>
                                    </m:e>
                                  </m:acc>
                                </m:e>
                              </m:d>
                            </m:e>
                            <m:sup>
                              <m:r>
                                <m:t>2</m:t>
                              </m:r>
                            </m:sup>
                          </m:sSup>
                        </m:e>
                      </m:nary>
                    </m:oMath>
                  </m:oMathPara>
                </a14:m>
              </a:p>
              <a:p>
                <a:pPr lvl="0" indent="0" marL="0">
                  <a:spcBef>
                    <a:spcPts val="3000"/>
                  </a:spcBef>
                  <a:buNone/>
                </a:pPr>
                <a:r>
                  <a:rPr b="1"/>
                  <a:t>Population Variance</a:t>
                </a:r>
              </a:p>
              <a:p>
                <a:pPr lvl="0" indent="0" marL="0">
                  <a:buNone/>
                </a:pPr>
                <a:r>
                  <a:rPr/>
                  <a:t>The population variance is denoted by </a:t>
                </a:r>
                <a14:m>
                  <m:oMath xmlns:m="http://schemas.openxmlformats.org/officeDocument/2006/math">
                    <m:sSup>
                      <m:e>
                        <m:r>
                          <m:t>σ</m:t>
                        </m:r>
                      </m:e>
                      <m:sup>
                        <m:r>
                          <m:t>2</m:t>
                        </m:r>
                      </m:sup>
                    </m:sSup>
                  </m:oMath>
                </a14:m>
                <a:r>
                  <a:rPr/>
                  <a:t>.For a population of size </a:t>
                </a:r>
                <a14:m>
                  <m:oMath xmlns:m="http://schemas.openxmlformats.org/officeDocument/2006/math">
                    <m:r>
                      <m:t>N</m:t>
                    </m:r>
                  </m:oMath>
                </a14:m>
              </a:p>
              <a:p>
                <a:pPr lvl="0" indent="0" marL="0">
                  <a:buNone/>
                </a:pPr>
                <a14:m>
                  <m:oMathPara xmlns:m="http://schemas.openxmlformats.org/officeDocument/2006/math">
                    <m:oMathParaPr>
                      <m:jc m:val="center"/>
                    </m:oMathParaPr>
                    <m:oMath>
                      <m:sSup>
                        <m:e>
                          <m:r>
                            <m:t>σ</m:t>
                          </m:r>
                        </m:e>
                        <m:sup>
                          <m:r>
                            <m:t>2</m:t>
                          </m:r>
                        </m:sup>
                      </m:sSup>
                      <m:r>
                        <m:rPr>
                          <m:sty m:val="p"/>
                        </m:rPr>
                        <m:t>=</m:t>
                      </m:r>
                      <m:f>
                        <m:fPr>
                          <m:type m:val="bar"/>
                        </m:fPr>
                        <m:num>
                          <m:r>
                            <m:t>1</m:t>
                          </m:r>
                        </m:num>
                        <m:den>
                          <m:d>
                            <m:dPr>
                              <m:begChr m:val="("/>
                              <m:sepChr m:val=""/>
                              <m:endChr m:val=")"/>
                              <m:grow/>
                            </m:dPr>
                            <m:e>
                              <m:r>
                                <m:t>N</m:t>
                              </m:r>
                            </m:e>
                          </m:d>
                        </m:den>
                      </m:f>
                      <m:nary>
                        <m:naryPr>
                          <m:chr m:val="∑"/>
                          <m:limLoc m:val="undOvr"/>
                          <m:subHide m:val="off"/>
                          <m:supHide m:val="off"/>
                        </m:naryPr>
                        <m:sub>
                          <m:r>
                            <m:t>i</m:t>
                          </m:r>
                          <m:r>
                            <m:rPr>
                              <m:sty m:val="p"/>
                            </m:rPr>
                            <m:t>=</m:t>
                          </m:r>
                          <m:r>
                            <m:t>1</m:t>
                          </m:r>
                        </m:sub>
                        <m:sup>
                          <m:r>
                            <m:t>N</m:t>
                          </m:r>
                        </m:sup>
                        <m:e>
                          <m:sSup>
                            <m:e>
                              <m:d>
                                <m:dPr>
                                  <m:begChr m:val="("/>
                                  <m:sepChr m:val=""/>
                                  <m:endChr m:val=")"/>
                                  <m:grow/>
                                </m:dPr>
                                <m:e>
                                  <m:sSub>
                                    <m:e>
                                      <m:r>
                                        <m:t>x</m:t>
                                      </m:r>
                                    </m:e>
                                    <m:sub>
                                      <m:r>
                                        <m:t>i</m:t>
                                      </m:r>
                                    </m:sub>
                                  </m:sSub>
                                  <m:r>
                                    <m:rPr>
                                      <m:sty m:val="p"/>
                                    </m:rPr>
                                    <m:t>−</m:t>
                                  </m:r>
                                  <m:r>
                                    <m:t>μ</m:t>
                                  </m:r>
                                </m:e>
                              </m:d>
                            </m:e>
                            <m:sup>
                              <m:r>
                                <m:t>2</m:t>
                              </m:r>
                            </m:sup>
                          </m:sSup>
                        </m:e>
                      </m:nary>
                    </m:oMath>
                  </m:oMathPara>
                </a14:m>
              </a:p>
              <a:p>
                <a:pPr lvl="0" indent="0" marL="0">
                  <a:spcBef>
                    <a:spcPts val="3000"/>
                  </a:spcBef>
                  <a:buNone/>
                </a:pPr>
                <a14:m>
                  <m:oMath xmlns:m="http://schemas.openxmlformats.org/officeDocument/2006/math">
                    <m:sSup>
                      <m:e>
                        <m:r>
                          <m:t>s</m:t>
                        </m:r>
                      </m:e>
                      <m:sup>
                        <m:r>
                          <m:t>2</m:t>
                        </m:r>
                      </m:sup>
                    </m:sSup>
                  </m:oMath>
                </a14:m>
                <a:r>
                  <a:rPr b="1"/>
                  <a:t> vs. </a:t>
                </a:r>
                <a14:m>
                  <m:oMath xmlns:m="http://schemas.openxmlformats.org/officeDocument/2006/math">
                    <m:sSup>
                      <m:e>
                        <m:r>
                          <m:t>σ</m:t>
                        </m:r>
                      </m:e>
                      <m:sup>
                        <m:r>
                          <m:t>2</m:t>
                        </m:r>
                      </m:sup>
                    </m:sSup>
                  </m:oMath>
                </a14:m>
              </a:p>
              <a:p>
                <a:pPr lvl="0" indent="0" marL="0">
                  <a:buNone/>
                </a:pPr>
                <a:r>
                  <a:rPr/>
                  <a:t>The main difference between these two expressions is the denominator term (</a:t>
                </a:r>
                <a14:m>
                  <m:oMath xmlns:m="http://schemas.openxmlformats.org/officeDocument/2006/math">
                    <m:r>
                      <m:t>n</m:t>
                    </m:r>
                    <m:r>
                      <m:rPr>
                        <m:sty m:val="p"/>
                      </m:rPr>
                      <m:t>−</m:t>
                    </m:r>
                    <m:r>
                      <m:t>1</m:t>
                    </m:r>
                  </m:oMath>
                </a14:m>
                <a:r>
                  <a:rPr/>
                  <a:t> vs. </a:t>
                </a:r>
                <a14:m>
                  <m:oMath xmlns:m="http://schemas.openxmlformats.org/officeDocument/2006/math">
                    <m:r>
                      <m:t>N</m:t>
                    </m:r>
                  </m:oMath>
                </a14:m>
                <a:r>
                  <a:rPr/>
                  <a:t>). This discrepancy is due to a concept of </a:t>
                </a:r>
                <a:r>
                  <a:rPr i="1"/>
                  <a:t>degrees of freedom</a:t>
                </a:r>
                <a:r>
                  <a:rPr/>
                  <a:t>.</a:t>
                </a:r>
              </a:p>
              <a:p>
                <a:pPr lvl="0" indent="0" marL="0">
                  <a:buNone/>
                </a:pPr>
                <a:r>
                  <a:rPr/>
                  <a:t>The assumption is that if the sample mean is known, we only need to know </a:t>
                </a:r>
                <a14:m>
                  <m:oMath xmlns:m="http://schemas.openxmlformats.org/officeDocument/2006/math">
                    <m:r>
                      <m:t>n</m:t>
                    </m:r>
                    <m:r>
                      <m:rPr>
                        <m:sty m:val="p"/>
                      </m:rPr>
                      <m:t>−</m:t>
                    </m:r>
                    <m:r>
                      <m:t>1</m:t>
                    </m:r>
                  </m:oMath>
                </a14:m>
                <a:r>
                  <a:rPr/>
                  <a:t> values to fully define all the values in the data set. Hence, the denominator for the sample variance is </a:t>
                </a:r>
                <a14:m>
                  <m:oMath xmlns:m="http://schemas.openxmlformats.org/officeDocument/2006/math">
                    <m:r>
                      <m:t>n</m:t>
                    </m:r>
                    <m:r>
                      <m:rPr>
                        <m:sty m:val="p"/>
                      </m:rPr>
                      <m:t>−</m:t>
                    </m:r>
                    <m:r>
                      <m:t>1</m:t>
                    </m:r>
                  </m:oMath>
                </a14:m>
                <a:r>
                  <a:rPr/>
                  <a:t>.</a:t>
                </a:r>
              </a:p>
              <a:p>
                <a:pPr lvl="0" indent="0" marL="1270000">
                  <a:buNone/>
                </a:pPr>
                <a:r>
                  <a:rPr sz="2000" b="1"/>
                  <a:t>Note</a:t>
                </a:r>
              </a:p>
              <a:p>
                <a:pPr lvl="0" indent="0" marL="1270000">
                  <a:buNone/>
                </a:pPr>
                <a:r>
                  <a:rPr sz="2000"/>
                  <a:t>In most realistic situations, we work with samples. Thus, we usually work with the sample variance.</a:t>
                </a:r>
              </a:p>
              <a:p>
                <a:pPr lvl="0" indent="0" marL="0">
                  <a:spcBef>
                    <a:spcPts val="3000"/>
                  </a:spcBef>
                  <a:buNone/>
                </a:pPr>
                <a:r>
                  <a:rPr b="1"/>
                  <a:t>Standard Deviation</a:t>
                </a:r>
              </a:p>
              <a:p>
                <a:pPr lvl="0" indent="0" marL="0">
                  <a:buNone/>
                </a:pPr>
                <a:r>
                  <a:rPr/>
                  <a:t>Since the variance involves squared differences, it does not have the same unit as the actual measurements. Hence, we typically use the </a:t>
                </a:r>
                <a:r>
                  <a:rPr b="1"/>
                  <a:t>standard deviation</a:t>
                </a:r>
                <a:r>
                  <a:rPr/>
                  <a:t> to measure the variability in a data set.</a:t>
                </a:r>
              </a:p>
              <a:p>
                <a:pPr lvl="0" indent="0" marL="0">
                  <a:buNone/>
                </a:pPr>
                <a:r>
                  <a:rPr/>
                  <a:t>The standard deviation can be calculated by taking the square root of the variance.</a:t>
                </a:r>
              </a:p>
              <a:p>
                <a:pPr lvl="0" indent="0" marL="0">
                  <a:buNone/>
                </a:pPr>
                <a14:m>
                  <m:oMathPara xmlns:m="http://schemas.openxmlformats.org/officeDocument/2006/math">
                    <m:oMathParaPr>
                      <m:jc m:val="center"/>
                    </m:oMathParaPr>
                    <m:oMath>
                      <m:r>
                        <m:t>s</m:t>
                      </m:r>
                      <m:r>
                        <m:rPr>
                          <m:sty m:val="p"/>
                        </m:rPr>
                        <m:t>=</m:t>
                      </m:r>
                      <m:rad>
                        <m:radPr>
                          <m:degHide m:val="on"/>
                        </m:radPr>
                        <m:deg/>
                        <m:e>
                          <m:sSup>
                            <m:e>
                              <m:r>
                                <m:t>s</m:t>
                              </m:r>
                            </m:e>
                            <m:sup>
                              <m:r>
                                <m:t>2</m:t>
                              </m:r>
                            </m:sup>
                          </m:sSup>
                        </m:e>
                      </m:rad>
                      <m:r>
                        <m:t> </m:t>
                      </m:r>
                      <m:r>
                        <m:t> </m:t>
                      </m:r>
                      <m:r>
                        <m:rPr>
                          <m:sty m:val="p"/>
                        </m:rPr>
                        <m:t>;</m:t>
                      </m:r>
                      <m:r>
                        <m:t> </m:t>
                      </m:r>
                      <m:r>
                        <m:t> </m:t>
                      </m:r>
                      <m:r>
                        <m:t>σ</m:t>
                      </m:r>
                      <m:r>
                        <m:rPr>
                          <m:sty m:val="p"/>
                        </m:rPr>
                        <m:t>=</m:t>
                      </m:r>
                      <m:rad>
                        <m:radPr>
                          <m:degHide m:val="on"/>
                        </m:radPr>
                        <m:deg/>
                        <m:e>
                          <m:sSup>
                            <m:e>
                              <m:r>
                                <m:t>σ</m:t>
                              </m:r>
                            </m:e>
                            <m:sup>
                              <m:r>
                                <m:t>2</m:t>
                              </m:r>
                            </m:sup>
                          </m:sSup>
                        </m:e>
                      </m:rad>
                    </m:oMath>
                  </m:oMathPara>
                </a14:m>
              </a:p>
              <a:p>
                <a:pPr lvl="0" indent="0" marL="0">
                  <a:spcBef>
                    <a:spcPts val="3000"/>
                  </a:spcBef>
                  <a:buNone/>
                </a:pPr>
                <a:r>
                  <a:rPr b="1"/>
                  <a:t>Standard Deviation and Variance: </a:t>
                </a:r>
                <a:r>
                  <a:rPr b="1">
                    <a:latin typeface="Courier"/>
                  </a:rPr>
                  <a:t>R</a:t>
                </a:r>
              </a:p>
              <a:p>
                <a:pPr lvl="0" indent="0" marL="0">
                  <a:buNone/>
                </a:pPr>
                <a:r>
                  <a:rPr/>
                  <a:t>The respective functions </a:t>
                </a:r>
                <a:r>
                  <a:rPr>
                    <a:latin typeface="Courier"/>
                  </a:rPr>
                  <a:t>sd(vector)</a:t>
                </a:r>
                <a:r>
                  <a:rPr/>
                  <a:t> and </a:t>
                </a:r>
                <a:r>
                  <a:rPr>
                    <a:latin typeface="Courier"/>
                  </a:rPr>
                  <a:t>var(vector)</a:t>
                </a:r>
                <a:r>
                  <a:rPr/>
                  <a:t> calculates the sample standard deviation and variance for a set of values.</a:t>
                </a:r>
              </a:p>
              <a:p>
                <a:pPr lvl="0" indent="0" marL="0">
                  <a:spcBef>
                    <a:spcPts val="3000"/>
                  </a:spcBef>
                  <a:buNone/>
                </a:pPr>
                <a:r>
                  <a:rPr b="1"/>
                  <a:t>Example 1 (Manual)</a:t>
                </a:r>
              </a:p>
              <a:p>
                <a:pPr lvl="0" indent="0" marL="0">
                  <a:buNone/>
                </a:pPr>
                <a:r>
                  <a:rPr/>
                  <a:t>Calculate the sample variance and standard deviation for the following numbers: 16, 10, 49, 15, 6.</a:t>
                </a:r>
              </a:p>
              <a:p>
                <a:pPr lvl="0" indent="0" marL="0">
                  <a:buNone/>
                </a:pPr>
                <a:r>
                  <a:rPr/>
                  <a:t>Note that the mean of the numbers is </a:t>
                </a:r>
                <a:r>
                  <a:rPr>
                    <a:latin typeface="Courier"/>
                  </a:rPr>
                  <a:t>r mean(c(16, 10, 49, 15, 6))</a:t>
                </a:r>
              </a:p>
              <a:p>
                <a:pPr lvl="0" indent="0" marL="0">
                  <a:buNone/>
                </a:pPr>
                <a14:m>
                  <m:oMathPara xmlns:m="http://schemas.openxmlformats.org/officeDocument/2006/math">
                    <m:oMathParaPr>
                      <m:jc m:val="center"/>
                    </m:oMathParaPr>
                    <m:oMath>
                      <m:sSup>
                        <m:e>
                          <m:r>
                            <m:t>s</m:t>
                          </m:r>
                        </m:e>
                        <m:sup>
                          <m:r>
                            <m:t>2</m:t>
                          </m:r>
                        </m:sup>
                      </m:sSup>
                      <m:r>
                        <m:rPr>
                          <m:sty m:val="p"/>
                        </m:rPr>
                        <m:t>=</m:t>
                      </m:r>
                      <m:f>
                        <m:fPr>
                          <m:type m:val="bar"/>
                        </m:fPr>
                        <m:num>
                          <m:r>
                            <m:t>1</m:t>
                          </m:r>
                        </m:num>
                        <m:den>
                          <m:r>
                            <m:t>5</m:t>
                          </m:r>
                          <m:r>
                            <m:rPr>
                              <m:sty m:val="p"/>
                            </m:rPr>
                            <m:t>−</m:t>
                          </m:r>
                          <m:r>
                            <m:t>1</m:t>
                          </m:r>
                        </m:den>
                      </m:f>
                      <m:d>
                        <m:dPr>
                          <m:begChr m:val="["/>
                          <m:sepChr m:val=""/>
                          <m:endChr m:val="]"/>
                          <m:grow/>
                        </m:dPr>
                        <m:e>
                          <m:sSup>
                            <m:e>
                              <m:d>
                                <m:dPr>
                                  <m:begChr m:val="("/>
                                  <m:sepChr m:val=""/>
                                  <m:endChr m:val=")"/>
                                  <m:grow/>
                                </m:dPr>
                                <m:e>
                                  <m:r>
                                    <m:t>16</m:t>
                                  </m:r>
                                  <m:r>
                                    <m:rPr>
                                      <m:sty m:val="p"/>
                                    </m:rPr>
                                    <m:t>−</m:t>
                                  </m:r>
                                  <m:r>
                                    <m:t>16</m:t>
                                  </m:r>
                                </m:e>
                              </m:d>
                            </m:e>
                            <m:sup>
                              <m:r>
                                <m:t>2</m:t>
                              </m:r>
                            </m:sup>
                          </m:sSup>
                          <m:r>
                            <m:rPr>
                              <m:sty m:val="p"/>
                            </m:rPr>
                            <m:t>+</m:t>
                          </m:r>
                          <m:sSup>
                            <m:e>
                              <m:d>
                                <m:dPr>
                                  <m:begChr m:val="("/>
                                  <m:sepChr m:val=""/>
                                  <m:endChr m:val=")"/>
                                  <m:grow/>
                                </m:dPr>
                                <m:e>
                                  <m:r>
                                    <m:t>10</m:t>
                                  </m:r>
                                  <m:r>
                                    <m:rPr>
                                      <m:sty m:val="p"/>
                                    </m:rPr>
                                    <m:t>−</m:t>
                                  </m:r>
                                  <m:r>
                                    <m:t>16</m:t>
                                  </m:r>
                                </m:e>
                              </m:d>
                            </m:e>
                            <m:sup>
                              <m:r>
                                <m:t>2</m:t>
                              </m:r>
                            </m:sup>
                          </m:sSup>
                          <m:r>
                            <m:rPr>
                              <m:sty m:val="p"/>
                            </m:rPr>
                            <m:t>+</m:t>
                          </m:r>
                          <m:sSup>
                            <m:e>
                              <m:d>
                                <m:dPr>
                                  <m:begChr m:val="("/>
                                  <m:sepChr m:val=""/>
                                  <m:endChr m:val=")"/>
                                  <m:grow/>
                                </m:dPr>
                                <m:e>
                                  <m:r>
                                    <m:t>49</m:t>
                                  </m:r>
                                  <m:r>
                                    <m:rPr>
                                      <m:sty m:val="p"/>
                                    </m:rPr>
                                    <m:t>−</m:t>
                                  </m:r>
                                  <m:r>
                                    <m:t>16</m:t>
                                  </m:r>
                                </m:e>
                              </m:d>
                            </m:e>
                            <m:sup>
                              <m:r>
                                <m:t>2</m:t>
                              </m:r>
                            </m:sup>
                          </m:sSup>
                          <m:r>
                            <m:rPr>
                              <m:sty m:val="p"/>
                            </m:rPr>
                            <m:t>+</m:t>
                          </m:r>
                          <m:sSup>
                            <m:e>
                              <m:d>
                                <m:dPr>
                                  <m:begChr m:val="("/>
                                  <m:sepChr m:val=""/>
                                  <m:endChr m:val=")"/>
                                  <m:grow/>
                                </m:dPr>
                                <m:e>
                                  <m:r>
                                    <m:t>15</m:t>
                                  </m:r>
                                  <m:r>
                                    <m:rPr>
                                      <m:sty m:val="p"/>
                                    </m:rPr>
                                    <m:t>−</m:t>
                                  </m:r>
                                  <m:r>
                                    <m:t>16</m:t>
                                  </m:r>
                                </m:e>
                              </m:d>
                            </m:e>
                            <m:sup>
                              <m:r>
                                <m:t>2</m:t>
                              </m:r>
                            </m:sup>
                          </m:sSup>
                          <m:r>
                            <m:rPr>
                              <m:sty m:val="p"/>
                            </m:rPr>
                            <m:t>+</m:t>
                          </m:r>
                          <m:sSup>
                            <m:e>
                              <m:d>
                                <m:dPr>
                                  <m:begChr m:val="("/>
                                  <m:sepChr m:val=""/>
                                  <m:endChr m:val=")"/>
                                  <m:grow/>
                                </m:dPr>
                                <m:e>
                                  <m:r>
                                    <m:t>6</m:t>
                                  </m:r>
                                  <m:r>
                                    <m:rPr>
                                      <m:sty m:val="p"/>
                                    </m:rPr>
                                    <m:t>−</m:t>
                                  </m:r>
                                  <m:r>
                                    <m:t>16</m:t>
                                  </m:r>
                                </m:e>
                              </m:d>
                            </m:e>
                            <m:sup>
                              <m:r>
                                <m:t>2</m:t>
                              </m:r>
                            </m:sup>
                          </m:sSup>
                        </m:e>
                      </m:d>
                      <m:r>
                        <m:rPr>
                          <m:sty m:val="p"/>
                        </m:rPr>
                        <m:t>=</m:t>
                      </m:r>
                      <m:r>
                        <m:t>293.7</m:t>
                      </m:r>
                    </m:oMath>
                  </m:oMathPara>
                </a14:m>
              </a:p>
              <a:p>
                <a:pPr lvl="0" indent="0" marL="0">
                  <a:buNone/>
                </a:pPr>
                <a14:m>
                  <m:oMathPara xmlns:m="http://schemas.openxmlformats.org/officeDocument/2006/math">
                    <m:oMathParaPr>
                      <m:jc m:val="center"/>
                    </m:oMathParaPr>
                    <m:oMath>
                      <m:r>
                        <m:t>s</m:t>
                      </m:r>
                      <m:r>
                        <m:rPr>
                          <m:sty m:val="p"/>
                        </m:rPr>
                        <m:t>=</m:t>
                      </m:r>
                      <m:rad>
                        <m:radPr>
                          <m:degHide m:val="on"/>
                        </m:radPr>
                        <m:deg/>
                        <m:e>
                          <m:sSup>
                            <m:e>
                              <m:r>
                                <m:t>s</m:t>
                              </m:r>
                            </m:e>
                            <m:sup>
                              <m:r>
                                <m:t>2</m:t>
                              </m:r>
                            </m:sup>
                          </m:sSup>
                        </m:e>
                      </m:rad>
                      <m:r>
                        <m:rPr>
                          <m:sty m:val="p"/>
                        </m:rPr>
                        <m:t>=</m:t>
                      </m:r>
                      <m:r>
                        <m:t>17.1</m:t>
                      </m:r>
                    </m:oMath>
                  </m:oMathPara>
                </a14:m>
              </a:p>
              <a:p>
                <a:pPr lvl="0" indent="0" marL="0">
                  <a:spcBef>
                    <a:spcPts val="3000"/>
                  </a:spcBef>
                  <a:buNone/>
                </a:pPr>
                <a:r>
                  <a:rPr b="1"/>
                  <a:t>Example 2 (R)</a:t>
                </a:r>
              </a:p>
              <a:p>
                <a:pPr lvl="0" indent="0" marL="0">
                  <a:buNone/>
                </a:pPr>
                <a:r>
                  <a:rPr/>
                  <a:t>Using R functions, calculate the sample variance and standard deviation for the following numbers: 16, 10, 49, 15, 6.</a:t>
                </a:r>
              </a:p>
              <a:p>
                <a:pPr lvl="0" indent="0">
                  <a:buNone/>
                </a:pPr>
                <a:r>
                  <a:rPr>
                    <a:latin typeface="Courier"/>
                  </a:rPr>
                  <a:t>[1] 293.7</a:t>
                </a:r>
              </a:p>
              <a:p>
                <a:pPr lvl="0" indent="0">
                  <a:buNone/>
                </a:pPr>
                <a:r>
                  <a:rPr>
                    <a:latin typeface="Courier"/>
                  </a:rPr>
                  <a:t>[1] 17.13768</a:t>
                </a:r>
              </a:p>
              <a:p>
                <a:pPr lvl="0" indent="0" marL="0">
                  <a:spcBef>
                    <a:spcPts val="3000"/>
                  </a:spcBef>
                  <a:buNone/>
                </a:pPr>
                <a:r>
                  <a:rPr b="1"/>
                  <a:t>Example 3</a:t>
                </a:r>
              </a:p>
              <a:p>
                <a:pPr lvl="0" indent="0" marL="0">
                  <a:buNone/>
                </a:pPr>
                <a:r>
                  <a:rPr/>
                  <a:t>Using R functions, calculate the standard deviation and variance of the murder rates across the 50 US states in 1973. The rates are found in the dataset </a:t>
                </a:r>
                <a:r>
                  <a:rPr>
                    <a:latin typeface="Courier"/>
                  </a:rPr>
                  <a:t>USArrests</a:t>
                </a:r>
                <a:r>
                  <a:rPr/>
                  <a:t> under the column </a:t>
                </a:r>
                <a:r>
                  <a:rPr>
                    <a:latin typeface="Courier"/>
                  </a:rPr>
                  <a:t>Murder</a:t>
                </a:r>
                <a:r>
                  <a:rPr/>
                  <a:t>.</a:t>
                </a:r>
              </a:p>
              <a:p>
                <a:pPr lvl="0" indent="0">
                  <a:buNone/>
                </a:pPr>
                <a:r>
                  <a:rPr>
                    <a:latin typeface="Courier"/>
                  </a:rPr>
                  <a:t>[1] 4.35551</a:t>
                </a:r>
              </a:p>
              <a:p>
                <a:pPr lvl="0" indent="0">
                  <a:buNone/>
                </a:pPr>
                <a:r>
                  <a:rPr>
                    <a:latin typeface="Courier"/>
                  </a:rPr>
                  <a:t>[1] 18.97047</a:t>
                </a:r>
              </a:p>
              <a:p>
                <a:pPr lvl="0" indent="0" marL="0">
                  <a:spcBef>
                    <a:spcPts val="3000"/>
                  </a:spcBef>
                  <a:buNone/>
                </a:pPr>
                <a:r>
                  <a:rPr b="1"/>
                  <a:t>Exercise</a:t>
                </a:r>
              </a:p>
              <a:p>
                <a:pPr lvl="0" indent="0" marL="0">
                  <a:buNone/>
                </a:pPr>
                <a:r>
                  <a:rPr/>
                  <a:t>The </a:t>
                </a:r>
                <a:r>
                  <a:rPr>
                    <a:latin typeface="Courier"/>
                  </a:rPr>
                  <a:t>faithful</a:t>
                </a:r>
                <a:r>
                  <a:rPr/>
                  <a:t> data set includes data on a sample of 272 eruptions of the Old Faithful geyser in Yellowstone National Park. The column </a:t>
                </a:r>
                <a:r>
                  <a:rPr>
                    <a:latin typeface="Courier"/>
                  </a:rPr>
                  <a:t>eruptions</a:t>
                </a:r>
                <a:r>
                  <a:rPr/>
                  <a:t> contains the eruption time in minutes.</a:t>
                </a:r>
              </a:p>
              <a:p>
                <a:pPr lvl="0" indent="0" marL="0">
                  <a:spcBef>
                    <a:spcPts val="3000"/>
                  </a:spcBef>
                  <a:buNone/>
                </a:pPr>
                <a:r>
                  <a:rPr b="1"/>
                  <a:t>Exercise</a:t>
                </a:r>
              </a:p>
              <a:p>
                <a:pPr lvl="0" indent="0" marL="0">
                  <a:buNone/>
                </a:pPr>
                <a:r>
                  <a:rPr/>
                  <a:t>Calculate the following using </a:t>
                </a:r>
                <a:r>
                  <a:rPr>
                    <a:latin typeface="Courier"/>
                  </a:rPr>
                  <a:t>R</a:t>
                </a:r>
                <a:r>
                  <a:rPr/>
                  <a:t> functions:</a:t>
                </a:r>
              </a:p>
              <a:p>
                <a:pPr lvl="0"/>
                <a:r>
                  <a:rPr/>
                  <a:t>Mean eruption time</a:t>
                </a:r>
              </a:p>
              <a:p>
                <a:pPr lvl="0"/>
                <a:r>
                  <a:rPr/>
                  <a:t>Eruption time variance</a:t>
                </a:r>
              </a:p>
              <a:p>
                <a:pPr lvl="0"/>
                <a:r>
                  <a:rPr/>
                  <a:t>Eruption time standard deviation</a:t>
                </a:r>
              </a:p>
              <a:p>
                <a:pPr lvl="0" indent="0" marL="0">
                  <a:spcBef>
                    <a:spcPts val="3000"/>
                  </a:spcBef>
                  <a:buNone/>
                </a:pPr>
                <a:r>
                  <a:rPr b="1"/>
                  <a:t>Answer</a:t>
                </a:r>
              </a:p>
              <a:p>
                <a:pPr lvl="0" indent="0" marL="0">
                  <a:buNone/>
                </a:pPr>
                <a:r>
                  <a:rPr/>
                  <a:t>Mean:</a:t>
                </a:r>
              </a:p>
              <a:p>
                <a:pPr lvl="0" indent="0">
                  <a:buNone/>
                </a:pPr>
                <a:r>
                  <a:rPr>
                    <a:latin typeface="Courier"/>
                  </a:rPr>
                  <a:t>[1] 3.487783</a:t>
                </a:r>
              </a:p>
              <a:p>
                <a:pPr lvl="0" indent="0" marL="0">
                  <a:buNone/>
                </a:pPr>
                <a:r>
                  <a:rPr/>
                  <a:t>Standard Deviation:</a:t>
                </a:r>
              </a:p>
              <a:p>
                <a:pPr lvl="0" indent="0">
                  <a:buNone/>
                </a:pPr>
                <a:r>
                  <a:rPr>
                    <a:latin typeface="Courier"/>
                  </a:rPr>
                  <a:t>[1] 1.141371</a:t>
                </a:r>
              </a:p>
              <a:p>
                <a:pPr lvl="0" indent="0" marL="0">
                  <a:buNone/>
                </a:pPr>
                <a:r>
                  <a:rPr/>
                  <a:t>Variance:</a:t>
                </a:r>
              </a:p>
              <a:p>
                <a:pPr lvl="0" indent="0">
                  <a:buNone/>
                </a:pPr>
                <a:r>
                  <a:rPr>
                    <a:latin typeface="Courier"/>
                  </a:rPr>
                  <a:t>[1] 1.302728</a:t>
                </a:r>
              </a:p>
            </p:txBody>
          </p:sp>
        </mc:Choice>
      </mc:AlternateContent>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Measure of Location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Percentiles</a:t>
                </a:r>
              </a:p>
              <a:p>
                <a:pPr lvl="0" indent="0" marL="1270000">
                  <a:buNone/>
                </a:pPr>
                <a:r>
                  <a:rPr sz="2000" b="1"/>
                  <a:t>Percentiles</a:t>
                </a:r>
              </a:p>
              <a:p>
                <a:pPr lvl="0" indent="0" marL="1270000">
                  <a:buNone/>
                </a:pPr>
                <a:r>
                  <a:rPr sz="2000"/>
                  <a:t>The </a:t>
                </a:r>
                <a14:m>
                  <m:oMath xmlns:m="http://schemas.openxmlformats.org/officeDocument/2006/math">
                    <m:r>
                      <m:t>p</m:t>
                    </m:r>
                  </m:oMath>
                </a14:m>
                <a:r>
                  <a:rPr sz="2000"/>
                  <a:t>th percentile is the value </a:t>
                </a:r>
                <a14:m>
                  <m:oMath xmlns:m="http://schemas.openxmlformats.org/officeDocument/2006/math">
                    <m:r>
                      <m:t>x</m:t>
                    </m:r>
                  </m:oMath>
                </a14:m>
                <a:r>
                  <a:rPr sz="2000"/>
                  <a:t> such that </a:t>
                </a:r>
                <a14:m>
                  <m:oMath xmlns:m="http://schemas.openxmlformats.org/officeDocument/2006/math">
                    <m:r>
                      <m:t>p</m:t>
                    </m:r>
                  </m:oMath>
                </a14:m>
                <a:r>
                  <a:rPr sz="2000"/>
                  <a:t>% of the data are less than </a:t>
                </a:r>
                <a14:m>
                  <m:oMath xmlns:m="http://schemas.openxmlformats.org/officeDocument/2006/math">
                    <m:r>
                      <m:t>x</m:t>
                    </m:r>
                  </m:oMath>
                </a14:m>
                <a:r>
                  <a:rPr sz="2000"/>
                  <a:t>. For example, the 10th percentile is the value such that 10% of the data is below this number.</a:t>
                </a:r>
              </a:p>
              <a:p>
                <a:pPr lvl="0" indent="0" marL="1270000">
                  <a:buNone/>
                </a:pPr>
                <a:r>
                  <a:rPr sz="2000" b="1"/>
                  <a:t>Note</a:t>
                </a:r>
              </a:p>
              <a:p>
                <a:pPr lvl="0" indent="0" marL="1270000">
                  <a:buNone/>
                </a:pPr>
                <a:r>
                  <a:rPr sz="2000"/>
                  <a:t>The 50th percentile is the median because half of the data (50%) is below the median. The maximum value is the 100th percentile, while the minimum value is the 0th percentile.</a:t>
                </a:r>
              </a:p>
              <a:p>
                <a:pPr lvl="0" indent="0" marL="1270000">
                  <a:buNone/>
                </a:pPr>
                <a:r>
                  <a:rPr sz="2000" b="1"/>
                  <a:t>Quartiles</a:t>
                </a:r>
              </a:p>
              <a:p>
                <a:pPr lvl="0" indent="0" marL="1270000">
                  <a:buNone/>
                </a:pPr>
                <a:r>
                  <a:rPr sz="2000"/>
                  <a:t>The 25th percentile is also known as the first quartile and denoted as </a:t>
                </a:r>
                <a14:m>
                  <m:oMath xmlns:m="http://schemas.openxmlformats.org/officeDocument/2006/math">
                    <m:sSub>
                      <m:e>
                        <m:r>
                          <m:t>Q</m:t>
                        </m:r>
                      </m:e>
                      <m:sub>
                        <m:r>
                          <m:t>1</m:t>
                        </m:r>
                      </m:sub>
                    </m:sSub>
                  </m:oMath>
                </a14:m>
                <a:r>
                  <a:rPr sz="2000"/>
                  <a:t>. The 75th percentile is known as the third quartile (</a:t>
                </a:r>
                <a14:m>
                  <m:oMath xmlns:m="http://schemas.openxmlformats.org/officeDocument/2006/math">
                    <m:sSub>
                      <m:e>
                        <m:r>
                          <m:t>Q</m:t>
                        </m:r>
                      </m:e>
                      <m:sub>
                        <m:r>
                          <m:t>3</m:t>
                        </m:r>
                      </m:sub>
                    </m:sSub>
                  </m:oMath>
                </a14:m>
                <a:r>
                  <a:rPr sz="2000"/>
                  <a:t>). The median is also known as the middle/second quartile (</a:t>
                </a:r>
                <a14:m>
                  <m:oMath xmlns:m="http://schemas.openxmlformats.org/officeDocument/2006/math">
                    <m:sSub>
                      <m:e>
                        <m:r>
                          <m:t>Q</m:t>
                        </m:r>
                      </m:e>
                      <m:sub>
                        <m:r>
                          <m:t>2</m:t>
                        </m:r>
                      </m:sub>
                    </m:sSub>
                  </m:oMath>
                </a14:m>
                <a:r>
                  <a:rPr sz="2000"/>
                  <a:t>). These numbers are important in describing the variability and skewness in the data.</a:t>
                </a:r>
              </a:p>
              <a:p>
                <a:pPr lvl="0" indent="0" marL="0">
                  <a:spcBef>
                    <a:spcPts val="3000"/>
                  </a:spcBef>
                  <a:buNone/>
                </a:pPr>
                <a:r>
                  <a:rPr b="1"/>
                  <a:t>Interquartile Range (Measure of Dispersion)</a:t>
                </a:r>
              </a:p>
              <a:p>
                <a:pPr lvl="0" indent="0" marL="0">
                  <a:buNone/>
                </a:pPr>
                <a:r>
                  <a:rPr/>
                  <a:t>The interquartile range (IQR) is a measure of variation based on the measures of location. The IQR can be calculated by taking the difference between </a:t>
                </a:r>
                <a14:m>
                  <m:oMath xmlns:m="http://schemas.openxmlformats.org/officeDocument/2006/math">
                    <m:sSub>
                      <m:e>
                        <m:r>
                          <m:t>Q</m:t>
                        </m:r>
                      </m:e>
                      <m:sub>
                        <m:r>
                          <m:t>3</m:t>
                        </m:r>
                      </m:sub>
                    </m:sSub>
                  </m:oMath>
                </a14:m>
                <a:r>
                  <a:rPr/>
                  <a:t> and </a:t>
                </a:r>
                <a14:m>
                  <m:oMath xmlns:m="http://schemas.openxmlformats.org/officeDocument/2006/math">
                    <m:sSub>
                      <m:e>
                        <m:r>
                          <m:t>Q</m:t>
                        </m:r>
                      </m:e>
                      <m:sub>
                        <m:r>
                          <m:t>1</m:t>
                        </m:r>
                      </m:sub>
                    </m:sSub>
                  </m:oMath>
                </a14:m>
                <a:r>
                  <a:rPr/>
                  <a:t>.</a:t>
                </a:r>
              </a:p>
              <a:p>
                <a:pPr lvl="0" indent="0" marL="0">
                  <a:buNone/>
                </a:pPr>
                <a14:m>
                  <m:oMathPara xmlns:m="http://schemas.openxmlformats.org/officeDocument/2006/math">
                    <m:oMathParaPr>
                      <m:jc m:val="center"/>
                    </m:oMathParaPr>
                    <m:oMath>
                      <m:r>
                        <m:t>I</m:t>
                      </m:r>
                      <m:r>
                        <m:t>Q</m:t>
                      </m:r>
                      <m:r>
                        <m:t>R</m:t>
                      </m:r>
                      <m:r>
                        <m:rPr>
                          <m:sty m:val="p"/>
                        </m:rPr>
                        <m:t>=</m:t>
                      </m:r>
                      <m:sSub>
                        <m:e>
                          <m:r>
                            <m:t>Q</m:t>
                          </m:r>
                        </m:e>
                        <m:sub>
                          <m:r>
                            <m:t>3</m:t>
                          </m:r>
                        </m:sub>
                      </m:sSub>
                      <m:r>
                        <m:rPr>
                          <m:sty m:val="p"/>
                        </m:rPr>
                        <m:t>−</m:t>
                      </m:r>
                      <m:sSub>
                        <m:e>
                          <m:r>
                            <m:t>Q</m:t>
                          </m:r>
                        </m:e>
                        <m:sub>
                          <m:r>
                            <m:t>1</m:t>
                          </m:r>
                        </m:sub>
                      </m:sSub>
                    </m:oMath>
                  </m:oMathPara>
                </a14:m>
              </a:p>
              <a:p>
                <a:pPr lvl="0" indent="0" marL="1270000">
                  <a:buNone/>
                </a:pPr>
                <a:r>
                  <a:rPr sz="2000" b="1"/>
                  <a:t>Note</a:t>
                </a:r>
              </a:p>
              <a:p>
                <a:pPr lvl="0" indent="0" marL="1270000">
                  <a:buNone/>
                </a:pPr>
                <a:r>
                  <a:rPr sz="2000"/>
                  <a:t>The main advantage of using IQR is its robustness to extreme values.</a:t>
                </a:r>
              </a:p>
              <a:p>
                <a:pPr lvl="0" indent="0" marL="0">
                  <a:spcBef>
                    <a:spcPts val="3000"/>
                  </a:spcBef>
                  <a:buNone/>
                </a:pPr>
                <a:r>
                  <a:rPr b="1"/>
                  <a:t>Percentiles and IQR: </a:t>
                </a:r>
                <a:r>
                  <a:rPr b="1">
                    <a:latin typeface="Courier"/>
                  </a:rPr>
                  <a:t>R</a:t>
                </a:r>
              </a:p>
              <a:p>
                <a:pPr lvl="0" indent="0" marL="0">
                  <a:buNone/>
                </a:pPr>
                <a:r>
                  <a:rPr/>
                  <a:t>You can calculate the </a:t>
                </a:r>
                <a14:m>
                  <m:oMath xmlns:m="http://schemas.openxmlformats.org/officeDocument/2006/math">
                    <m:r>
                      <m:t>p</m:t>
                    </m:r>
                  </m:oMath>
                </a14:m>
                <a:r>
                  <a:rPr/>
                  <a:t>th percentile of a set of values using the </a:t>
                </a:r>
                <a:r>
                  <a:rPr>
                    <a:latin typeface="Courier"/>
                  </a:rPr>
                  <a:t>quantile(vector,p/100)</a:t>
                </a:r>
                <a:r>
                  <a:rPr/>
                  <a:t> function. The IQR can be calculated using the </a:t>
                </a:r>
                <a:r>
                  <a:rPr>
                    <a:latin typeface="Courier"/>
                  </a:rPr>
                  <a:t>IQR(vector)</a:t>
                </a:r>
                <a:r>
                  <a:rPr/>
                  <a:t> function.</a:t>
                </a:r>
              </a:p>
              <a:p>
                <a:pPr lvl="0" indent="0" marL="0">
                  <a:spcBef>
                    <a:spcPts val="3000"/>
                  </a:spcBef>
                  <a:buNone/>
                </a:pPr>
                <a:r>
                  <a:rPr b="1"/>
                  <a:t>Example 1</a:t>
                </a:r>
              </a:p>
              <a:p>
                <a:pPr lvl="0" indent="0" marL="0">
                  <a:buNone/>
                </a:pPr>
                <a:r>
                  <a:rPr/>
                  <a:t>calculate the 25th percentile and 75th percentile of the eruption times (</a:t>
                </a:r>
                <a:r>
                  <a:rPr>
                    <a:latin typeface="Courier"/>
                  </a:rPr>
                  <a:t>eruptions</a:t>
                </a:r>
                <a:r>
                  <a:rPr/>
                  <a:t>) of Old Faithful using the </a:t>
                </a:r>
                <a:r>
                  <a:rPr>
                    <a:latin typeface="Courier"/>
                  </a:rPr>
                  <a:t>faithful</a:t>
                </a:r>
                <a:r>
                  <a:rPr/>
                  <a:t> data set.</a:t>
                </a:r>
              </a:p>
              <a:p>
                <a:pPr lvl="0" indent="0">
                  <a:buNone/>
                </a:pPr>
                <a:r>
                  <a:rPr>
                    <a:latin typeface="Courier"/>
                  </a:rPr>
                  <a:t>    25% 
2.16275 </a:t>
                </a:r>
              </a:p>
              <a:p>
                <a:pPr lvl="0" indent="0">
                  <a:buNone/>
                </a:pPr>
                <a:r>
                  <a:rPr>
                    <a:latin typeface="Courier"/>
                  </a:rPr>
                  <a:t>    75% 
4.45425 </a:t>
                </a:r>
              </a:p>
              <a:p>
                <a:pPr lvl="0" indent="0" marL="0">
                  <a:spcBef>
                    <a:spcPts val="3000"/>
                  </a:spcBef>
                  <a:buNone/>
                </a:pPr>
                <a:r>
                  <a:rPr b="1"/>
                  <a:t>Example 2</a:t>
                </a:r>
              </a:p>
              <a:p>
                <a:pPr lvl="0" indent="0" marL="0">
                  <a:buNone/>
                </a:pPr>
                <a:r>
                  <a:rPr/>
                  <a:t>Calculate the IQR of the eruption times (</a:t>
                </a:r>
                <a:r>
                  <a:rPr>
                    <a:latin typeface="Courier"/>
                  </a:rPr>
                  <a:t>eruptions</a:t>
                </a:r>
                <a:r>
                  <a:rPr/>
                  <a:t>) of Old Faithful using the </a:t>
                </a:r>
                <a:r>
                  <a:rPr>
                    <a:latin typeface="Courier"/>
                  </a:rPr>
                  <a:t>faithful</a:t>
                </a:r>
                <a:r>
                  <a:rPr/>
                  <a:t> data set.</a:t>
                </a:r>
              </a:p>
              <a:p>
                <a:pPr lvl="0" indent="0">
                  <a:buNone/>
                </a:pPr>
                <a:r>
                  <a:rPr>
                    <a:latin typeface="Courier"/>
                  </a:rPr>
                  <a:t>[1] 2.2915</a:t>
                </a:r>
              </a:p>
              <a:p>
                <a:pPr lvl="0" indent="0" marL="0">
                  <a:spcBef>
                    <a:spcPts val="3000"/>
                  </a:spcBef>
                  <a:buNone/>
                </a:pPr>
                <a:r>
                  <a:rPr b="1"/>
                  <a:t>Exercise</a:t>
                </a:r>
              </a:p>
              <a:p>
                <a:pPr lvl="0" indent="0" marL="0">
                  <a:buNone/>
                </a:pPr>
                <a:r>
                  <a:rPr/>
                  <a:t>The </a:t>
                </a:r>
                <a:r>
                  <a:rPr>
                    <a:latin typeface="Courier"/>
                  </a:rPr>
                  <a:t>infert</a:t>
                </a:r>
                <a:r>
                  <a:rPr/>
                  <a:t> data set includes data from a case-control study that investigates infertillity after spontaneous and induced abortion.</a:t>
                </a:r>
              </a:p>
              <a:p>
                <a:pPr lvl="0" indent="0" marL="0">
                  <a:spcBef>
                    <a:spcPts val="3000"/>
                  </a:spcBef>
                  <a:buNone/>
                </a:pPr>
                <a:r>
                  <a:rPr b="1"/>
                  <a:t>Exercise</a:t>
                </a:r>
              </a:p>
              <a:p>
                <a:pPr lvl="0"/>
                <a:r>
                  <a:rPr/>
                  <a:t>Use </a:t>
                </a:r>
                <a:r>
                  <a:rPr>
                    <a:latin typeface="Courier"/>
                  </a:rPr>
                  <a:t>glimpse()</a:t>
                </a:r>
                <a:r>
                  <a:rPr/>
                  <a:t> to determine the variables in the data set.</a:t>
                </a:r>
              </a:p>
              <a:p>
                <a:pPr lvl="0"/>
                <a:r>
                  <a:rPr/>
                  <a:t>Calculate the mean age for the entire sample.</a:t>
                </a:r>
              </a:p>
              <a:p>
                <a:pPr lvl="0"/>
                <a:r>
                  <a:rPr/>
                  <a:t>Calculate the standard deviation of the age for the entire sample.</a:t>
                </a:r>
              </a:p>
              <a:p>
                <a:pPr lvl="0"/>
                <a:r>
                  <a:rPr/>
                  <a:t>Calculate the variance of the age for the entire sample.</a:t>
                </a:r>
              </a:p>
              <a:p>
                <a:pPr lvl="0"/>
                <a:r>
                  <a:rPr/>
                  <a:t>Calculate the 90th percentile of the age for the entire sample.</a:t>
                </a:r>
              </a:p>
              <a:p>
                <a:pPr lvl="0"/>
                <a:r>
                  <a:rPr/>
                  <a:t>Calculate the IQR of the age for the entire sample.</a:t>
                </a:r>
              </a:p>
              <a:p>
                <a:pPr lvl="0" indent="0" marL="0">
                  <a:spcBef>
                    <a:spcPts val="3000"/>
                  </a:spcBef>
                  <a:buNone/>
                </a:pPr>
                <a:r>
                  <a:rPr b="1"/>
                  <a:t>Answers</a:t>
                </a:r>
              </a:p>
              <a:p>
                <a:pPr lvl="0" indent="0">
                  <a:buNone/>
                </a:pPr>
                <a:r>
                  <a:rPr>
                    <a:latin typeface="Courier"/>
                  </a:rPr>
                  <a:t>Rows: 248
Columns: 8
$ education      &lt;fct&gt; 0-5yrs, 0-5yrs, 0-5yrs, 0-5yrs, 6-11yrs, 6-11yrs, 6-11y…
$ age            &lt;dbl&gt; 26, 42, 39, 34, 35, 36, 23, 32, 21, 28, 29, 37, 31, 29,…
$ parity         &lt;dbl&gt; 6, 1, 6, 4, 3, 4, 1, 2, 1, 2, 2, 4, 1, 3, 2, 2, 5, 1, 3…
$ induced        &lt;dbl&gt; 1, 1, 2, 2, 1, 2, 0, 0, 0, 0, 1, 2, 1, 2, 1, 2, 2, 0, 2…
$ case           &lt;dbl&gt; 1, 1, 1, 1, 1, 1, 1, 1, 1, 1, 1, 1, 1, 1, 1, 1, 1, 1, 1…
$ spontaneous    &lt;dbl&gt; 2, 0, 0, 0, 1, 1, 0, 0, 1, 0, 0, 1, 0, 0, 1, 0, 1, 1, 1…
$ stratum        &lt;int&gt; 1, 2, 3, 4, 5, 6, 7, 8, 9, 10, 11, 12, 13, 14, 15, 16, …
$ pooled.stratum &lt;dbl&gt; 3, 1, 4, 2, 32, 36, 6, 22, 5, 19, 20, 37, 9, 29, 21, 18…</a:t>
                </a:r>
              </a:p>
              <a:p>
                <a:pPr lvl="0" indent="0">
                  <a:buNone/>
                </a:pPr>
                <a:r>
                  <a:rPr>
                    <a:latin typeface="Courier"/>
                  </a:rPr>
                  <a:t>[1] 31.50403</a:t>
                </a:r>
              </a:p>
              <a:p>
                <a:pPr lvl="0" indent="0">
                  <a:buNone/>
                </a:pPr>
                <a:r>
                  <a:rPr>
                    <a:latin typeface="Courier"/>
                  </a:rPr>
                  <a:t>[1] 5.251565</a:t>
                </a:r>
              </a:p>
              <a:p>
                <a:pPr lvl="0" indent="0">
                  <a:buNone/>
                </a:pPr>
                <a:r>
                  <a:rPr>
                    <a:latin typeface="Courier"/>
                  </a:rPr>
                  <a:t>[1] 27.57893</a:t>
                </a:r>
              </a:p>
              <a:p>
                <a:pPr lvl="0" indent="0">
                  <a:buNone/>
                </a:pPr>
                <a:r>
                  <a:rPr>
                    <a:latin typeface="Courier"/>
                  </a:rPr>
                  <a:t>90% 
 39 </a:t>
                </a:r>
              </a:p>
              <a:p>
                <a:pPr lvl="0" indent="0">
                  <a:buNone/>
                </a:pPr>
                <a:r>
                  <a:rPr>
                    <a:latin typeface="Courier"/>
                  </a:rPr>
                  <a:t>[1] 7.25</a:t>
                </a:r>
              </a:p>
              <a:p>
                <a:pPr lvl="0" indent="0" marL="0">
                  <a:buNone/>
                </a:pPr>
                <a:r>
                  <a:rPr/>
                  <a:t>Mean: 31.5, Standard Deviation: 5.25, Variance: 27.58, 90th percentile: 39, IQR: 7.25</a:t>
                </a:r>
              </a:p>
            </p:txBody>
          </p:sp>
        </mc:Choice>
      </mc:AlternateContent>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Skewness</a:t>
            </a:r>
          </a:p>
        </p:txBody>
      </p:sp>
      <p:sp>
        <p:nvSpPr>
          <p:cNvPr id="4" name="Text Placeholder 3"/>
          <p:cNvSpPr>
            <a:spLocks noGrp="1"/>
          </p:cNvSpPr>
          <p:nvPr>
            <p:ph idx="2" sz="half" type="body"/>
          </p:nvPr>
        </p:nvSpPr>
        <p:spPr/>
        <p:txBody>
          <a:bodyPr/>
          <a:lstStyle/>
          <a:p>
            <a:pPr lvl="0" indent="0" marL="0">
              <a:spcBef>
                <a:spcPts val="3000"/>
              </a:spcBef>
              <a:buNone/>
            </a:pPr>
            <a:r>
              <a:rPr b="1"/>
              <a:t>Skewness</a:t>
            </a:r>
          </a:p>
          <a:p>
            <a:pPr lvl="0" indent="0" marL="0">
              <a:buNone/>
            </a:pPr>
            <a:r>
              <a:rPr/>
              <a:t>The skewness provides information on the symmetry of data. If asymmetric, the data is said to be skewed.</a:t>
            </a:r>
          </a:p>
          <a:p>
            <a:pPr lvl="0" indent="0" marL="1270000">
              <a:buNone/>
            </a:pPr>
            <a:r>
              <a:rPr sz="2000" b="1"/>
              <a:t>Important</a:t>
            </a:r>
          </a:p>
          <a:p>
            <a:pPr lvl="0" indent="0" marL="1270000">
              <a:buNone/>
            </a:pPr>
            <a:r>
              <a:rPr sz="2000"/>
              <a:t>The direction of skewness depends on where the “tail” of the data is located.</a:t>
            </a:r>
          </a:p>
        </p:txBody>
      </p:sp>
      <p:pic>
        <p:nvPicPr>
          <p:cNvPr descr="figs/2-skewness.png" id="0" name="Picture 1"/>
          <p:cNvPicPr>
            <a:picLocks noGrp="1" noChangeAspect="1"/>
          </p:cNvPicPr>
          <p:nvPr/>
        </p:nvPicPr>
        <p:blipFill>
          <a:blip r:embed="rId2"/>
          <a:stretch>
            <a:fillRect/>
          </a:stretch>
        </p:blipFill>
        <p:spPr bwMode="auto">
          <a:xfrm>
            <a:off x="3568700" y="1524000"/>
            <a:ext cx="5105400" cy="17399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Kurtosis</a:t>
            </a:r>
          </a:p>
          <a:p>
            <a:pPr lvl="0" indent="0" marL="0">
              <a:buNone/>
            </a:pPr>
            <a:r>
              <a:rPr/>
              <a:t>Measures how flat/peaked a distribution is compared to a bell-shaped curve.</a:t>
            </a:r>
          </a:p>
          <a:p>
            <a:pPr lvl="0" indent="0" marL="1270000">
              <a:buNone/>
            </a:pPr>
            <a:r>
              <a:rPr sz="2000" b="1"/>
              <a:t>Important</a:t>
            </a:r>
          </a:p>
          <a:p>
            <a:pPr lvl="0" indent="0" marL="1270000">
              <a:buNone/>
            </a:pPr>
            <a:r>
              <a:rPr sz="2000"/>
              <a:t>Bell-shaped distributions are referred to as mesokurtic. Peaked distributions are referred to as leptokurtic. Flatter distributions are referred to as platykurtic.</a:t>
            </a:r>
          </a:p>
        </p:txBody>
      </p:sp>
      <p:pic>
        <p:nvPicPr>
          <p:cNvPr descr="figs/2-kurtosis.jpg" id="0" name="Picture 1"/>
          <p:cNvPicPr>
            <a:picLocks noGrp="1" noChangeAspect="1"/>
          </p:cNvPicPr>
          <p:nvPr/>
        </p:nvPicPr>
        <p:blipFill>
          <a:blip r:embed="rId2"/>
          <a:stretch>
            <a:fillRect/>
          </a:stretch>
        </p:blipFill>
        <p:spPr bwMode="auto">
          <a:xfrm>
            <a:off x="3568700" y="444500"/>
            <a:ext cx="5105400" cy="39116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Visualization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Grammar of Graphics</a:t>
                </a:r>
              </a:p>
              <a:p>
                <a:pPr lvl="0" indent="0" marL="0">
                  <a:buNone/>
                </a:pPr>
                <a:r>
                  <a:rPr/>
                  <a:t>The “grammar of graphics” defines a set of rules for constructing statistical graphics by combining different types of layers.</a:t>
                </a:r>
              </a:p>
              <a:p>
                <a:pPr lvl="0" indent="0" marL="0">
                  <a:buNone/>
                </a:pPr>
                <a:r>
                  <a:rPr/>
                  <a:t>We can break a graphic into the following essential components:</a:t>
                </a:r>
              </a:p>
              <a:p>
                <a:pPr lvl="0" indent="-342900" marL="342900">
                  <a:buAutoNum type="arabicPeriod"/>
                </a:pPr>
                <a:r>
                  <a:rPr>
                    <a:latin typeface="Courier"/>
                  </a:rPr>
                  <a:t>data</a:t>
                </a:r>
                <a:r>
                  <a:rPr/>
                  <a:t>: dataset containing the variables of interest</a:t>
                </a:r>
              </a:p>
              <a:p>
                <a:pPr lvl="0" indent="-342900" marL="342900">
                  <a:buAutoNum type="arabicPeriod"/>
                </a:pPr>
                <a:r>
                  <a:rPr>
                    <a:latin typeface="Courier"/>
                  </a:rPr>
                  <a:t>geom</a:t>
                </a:r>
                <a:r>
                  <a:rPr/>
                  <a:t>: the geometric object in question, related to the type of plot we want to make</a:t>
                </a:r>
              </a:p>
              <a:p>
                <a:pPr lvl="0" indent="-342900" marL="342900">
                  <a:buAutoNum type="arabicPeriod"/>
                </a:pPr>
                <a:r>
                  <a:rPr>
                    <a:latin typeface="Courier"/>
                  </a:rPr>
                  <a:t>aes</a:t>
                </a:r>
                <a:r>
                  <a:rPr/>
                  <a:t>: the aesthetic attributes of the geometric object, such as color, shape, size, fill, etc.</a:t>
                </a:r>
              </a:p>
              <a:p>
                <a:pPr lvl="0" indent="-342900" marL="342900">
                  <a:buAutoNum type="arabicPeriod"/>
                </a:pPr>
                <a:r>
                  <a:rPr>
                    <a:latin typeface="Courier"/>
                  </a:rPr>
                  <a:t>facet</a:t>
                </a:r>
                <a:r>
                  <a:rPr/>
                  <a:t>: breaks up a plot into subplots as defined by the values of another variable</a:t>
                </a:r>
              </a:p>
              <a:p>
                <a:pPr lvl="0" indent="0" marL="0">
                  <a:spcBef>
                    <a:spcPts val="3000"/>
                  </a:spcBef>
                  <a:buNone/>
                </a:pPr>
                <a:r>
                  <a:rPr b="1">
                    <a:latin typeface="Courier"/>
                  </a:rPr>
                  <a:t>ggplot2</a:t>
                </a:r>
                <a:r>
                  <a:rPr b="1"/>
                  <a:t> package</a:t>
                </a:r>
              </a:p>
              <a:p>
                <a:pPr lvl="0" indent="0" marL="0">
                  <a:buNone/>
                </a:pPr>
                <a:r>
                  <a:rPr/>
                  <a:t>The </a:t>
                </a:r>
                <a:r>
                  <a:rPr>
                    <a:latin typeface="Courier"/>
                  </a:rPr>
                  <a:t>ggplot2</a:t>
                </a:r>
                <a:r>
                  <a:rPr/>
                  <a:t> package includes the various components of the grammar of graphics.</a:t>
                </a:r>
              </a:p>
              <a:p>
                <a:pPr lvl="0" indent="0" marL="1270000">
                  <a:buNone/>
                </a:pPr>
                <a:r>
                  <a:rPr sz="2000" b="1"/>
                  <a:t>Note</a:t>
                </a:r>
              </a:p>
              <a:p>
                <a:pPr lvl="0" indent="0" marL="1270000">
                  <a:buNone/>
                </a:pPr>
                <a:r>
                  <a:rPr sz="2000"/>
                  <a:t>The </a:t>
                </a:r>
                <a:r>
                  <a:rPr sz="2000">
                    <a:latin typeface="Courier"/>
                  </a:rPr>
                  <a:t>ggplot()</a:t>
                </a:r>
                <a:r>
                  <a:rPr sz="2000"/>
                  <a:t> function is used to create a base for the plot which includes the following:</a:t>
                </a:r>
              </a:p>
              <a:p>
                <a:pPr lvl="0"/>
                <a:r>
                  <a:rPr sz="2000"/>
                  <a:t>The data frame where the variables to be plotted belong (</a:t>
                </a:r>
                <a:r>
                  <a:rPr sz="2000">
                    <a:latin typeface="Courier"/>
                  </a:rPr>
                  <a:t>data</a:t>
                </a:r>
                <a:r>
                  <a:rPr sz="2000"/>
                  <a:t>)</a:t>
                </a:r>
              </a:p>
              <a:p>
                <a:pPr lvl="0"/>
                <a:r>
                  <a:rPr sz="2000"/>
                  <a:t>The mapping of the </a:t>
                </a:r>
                <a:r>
                  <a:rPr sz="2000">
                    <a:latin typeface="Courier"/>
                  </a:rPr>
                  <a:t>aes</a:t>
                </a:r>
                <a:r>
                  <a:rPr sz="2000"/>
                  <a:t>thetic attributes of the plot.</a:t>
                </a:r>
              </a:p>
              <a:p>
                <a:pPr lvl="0" indent="0" marL="1270000">
                  <a:buNone/>
                </a:pPr>
                <a:r>
                  <a:rPr sz="2000"/>
                  <a:t>The geometry and type of plot will be added as layers to the </a:t>
                </a:r>
                <a:r>
                  <a:rPr sz="2000">
                    <a:latin typeface="Courier"/>
                  </a:rPr>
                  <a:t>ggplot()</a:t>
                </a:r>
                <a:r>
                  <a:rPr sz="2000"/>
                  <a:t> function using the </a:t>
                </a:r>
                <a:r>
                  <a:rPr sz="2000">
                    <a:latin typeface="Courier"/>
                  </a:rPr>
                  <a:t>+</a:t>
                </a:r>
                <a:r>
                  <a:rPr sz="2000"/>
                  <a:t> symbol.</a:t>
                </a:r>
              </a:p>
              <a:p>
                <a:pPr lvl="0" indent="0" marL="0">
                  <a:spcBef>
                    <a:spcPts val="3000"/>
                  </a:spcBef>
                  <a:buNone/>
                </a:pPr>
                <a:r>
                  <a:rPr b="1"/>
                  <a:t>Common Graphs</a:t>
                </a:r>
              </a:p>
              <a:p>
                <a:pPr lvl="0" indent="0" marL="0">
                  <a:buNone/>
                </a:pPr>
                <a:r>
                  <a:rPr/>
                  <a:t>Here are common plots used in exploring data:</a:t>
                </a:r>
              </a:p>
              <a:p>
                <a:pPr lvl="0"/>
                <a:r>
                  <a:rPr/>
                  <a:t>histograms</a:t>
                </a:r>
              </a:p>
              <a:p>
                <a:pPr lvl="0"/>
                <a:r>
                  <a:rPr/>
                  <a:t>bar plots</a:t>
                </a:r>
              </a:p>
              <a:p>
                <a:pPr lvl="0"/>
                <a:r>
                  <a:rPr/>
                  <a:t>boxplots</a:t>
                </a:r>
              </a:p>
              <a:p>
                <a:pPr lvl="0" indent="0" marL="0">
                  <a:spcBef>
                    <a:spcPts val="3000"/>
                  </a:spcBef>
                  <a:buNone/>
                </a:pPr>
                <a:r>
                  <a:rPr b="1"/>
                  <a:t>Histograms</a:t>
                </a:r>
              </a:p>
              <a:p>
                <a:pPr lvl="0" indent="0" marL="0">
                  <a:buNone/>
                </a:pPr>
                <a:r>
                  <a:rPr/>
                  <a:t>Histograms are plots that visualize the distribution of a numerical value.</a:t>
                </a:r>
              </a:p>
              <a:p>
                <a:pPr lvl="0" indent="0" marL="1270000">
                  <a:buNone/>
                </a:pPr>
                <a:r>
                  <a:rPr sz="2000" b="1"/>
                  <a:t>Note</a:t>
                </a:r>
              </a:p>
              <a:p>
                <a:pPr lvl="0" indent="0" marL="1270000">
                  <a:buNone/>
                </a:pPr>
                <a:r>
                  <a:rPr sz="2000"/>
                  <a:t>Histograms are graphical representations of the frequency table/distribution.</a:t>
                </a:r>
              </a:p>
              <a:p>
                <a:pPr lvl="0" indent="0" marL="0">
                  <a:spcBef>
                    <a:spcPts val="3000"/>
                  </a:spcBef>
                  <a:buNone/>
                </a:pPr>
                <a:r>
                  <a:rPr b="1"/>
                  <a:t>Histograms in </a:t>
                </a:r>
                <a:r>
                  <a:rPr b="1">
                    <a:latin typeface="Courier"/>
                  </a:rPr>
                  <a:t>ggplot()</a:t>
                </a:r>
              </a:p>
              <a:p>
                <a:pPr lvl="0" indent="0" marL="0">
                  <a:spcBef>
                    <a:spcPts val="3000"/>
                  </a:spcBef>
                  <a:buNone/>
                </a:pPr>
                <a:r>
                  <a:rPr b="1"/>
                  <a:t>Example</a:t>
                </a:r>
              </a:p>
              <a:p>
                <a:pPr lvl="0" indent="0" marL="0">
                  <a:buNone/>
                </a:pPr>
                <a:r>
                  <a:rPr/>
                  <a:t>Consider the </a:t>
                </a:r>
                <a:r>
                  <a:rPr>
                    <a:latin typeface="Courier"/>
                  </a:rPr>
                  <a:t>infert</a:t>
                </a:r>
                <a:r>
                  <a:rPr/>
                  <a:t> data set in </a:t>
                </a:r>
                <a:r>
                  <a:rPr>
                    <a:latin typeface="Courier"/>
                  </a:rPr>
                  <a:t>R</a:t>
                </a:r>
                <a:r>
                  <a:rPr/>
                  <a:t>. Suppose we want to visualize the distribution of the participant age in the case-control study.</a:t>
                </a:r>
              </a:p>
              <a:p>
                <a:pPr lvl="0" indent="0" marL="0">
                  <a:buNone/>
                </a:pPr>
              </a:p>
              <a:p>
                <a:pPr lvl="0" indent="-342900" marL="342900">
                  <a:buAutoNum type="arabicPeriod"/>
                </a:pPr>
                <a:r>
                  <a:rPr/>
                  <a:t>Base layer defining what the source data set is (</a:t>
                </a:r>
                <a:r>
                  <a:rPr>
                    <a:latin typeface="Courier"/>
                  </a:rPr>
                  <a:t>data=infert</a:t>
                </a:r>
                <a:r>
                  <a:rPr/>
                  <a:t>) and the aesthetic </a:t>
                </a:r>
                <a:r>
                  <a:rPr>
                    <a:latin typeface="Courier"/>
                  </a:rPr>
                  <a:t>aes(x=age)</a:t>
                </a:r>
                <a:r>
                  <a:rPr/>
                  <a:t>.</a:t>
                </a:r>
              </a:p>
              <a:p>
                <a:pPr lvl="0" indent="-342900" marL="342900">
                  <a:buAutoNum type="arabicPeriod"/>
                </a:pPr>
                <a:r>
                  <a:rPr>
                    <a:latin typeface="Courier"/>
                  </a:rPr>
                  <a:t>geom_histogram()</a:t>
                </a:r>
                <a:r>
                  <a:rPr/>
                  <a:t> adds the layer of a histogram on the base layer, using 40 bins.</a:t>
                </a:r>
              </a:p>
              <a:p>
                <a:pPr lvl="0" indent="0" marL="0">
                  <a:spcBef>
                    <a:spcPts val="3000"/>
                  </a:spcBef>
                  <a:buNone/>
                </a:pPr>
                <a:r>
                  <a:rPr b="1"/>
                  <a:t>Notes</a:t>
                </a:r>
              </a:p>
              <a:p>
                <a:pPr lvl="0" indent="0" marL="1270000">
                  <a:buNone/>
                </a:pPr>
                <a:r>
                  <a:rPr sz="2000" b="1"/>
                  <a:t>Note</a:t>
                </a:r>
              </a:p>
              <a:p>
                <a:pPr lvl="0" indent="0" marL="1270000">
                  <a:buNone/>
                </a:pPr>
                <a:r>
                  <a:rPr sz="2000"/>
                  <a:t>The </a:t>
                </a:r>
                <a:r>
                  <a:rPr sz="2000">
                    <a:latin typeface="Courier"/>
                  </a:rPr>
                  <a:t>geom_histogram()</a:t>
                </a:r>
                <a:r>
                  <a:rPr sz="2000"/>
                  <a:t> function creates a histogram layer on top of the base created by </a:t>
                </a:r>
                <a:r>
                  <a:rPr sz="2000">
                    <a:latin typeface="Courier"/>
                  </a:rPr>
                  <a:t>ggplot()</a:t>
                </a:r>
                <a:r>
                  <a:rPr sz="2000"/>
                  <a:t>. You can add other modifications to the histogram (e.g. color, fill, etc.) in the </a:t>
                </a:r>
                <a:r>
                  <a:rPr sz="2000">
                    <a:latin typeface="Courier"/>
                  </a:rPr>
                  <a:t>geom_histogram()</a:t>
                </a:r>
                <a:r>
                  <a:rPr sz="2000"/>
                  <a:t> function.</a:t>
                </a:r>
              </a:p>
              <a:p>
                <a:pPr lvl="0" indent="0" marL="0">
                  <a:buNone/>
                </a:pPr>
              </a:p>
              <a:p>
                <a:pPr lvl="0" indent="0" marL="0">
                  <a:spcBef>
                    <a:spcPts val="3000"/>
                  </a:spcBef>
                  <a:buNone/>
                </a:pPr>
                <a:r>
                  <a:rPr b="1"/>
                  <a:t>Bar plots in </a:t>
                </a:r>
                <a:r>
                  <a:rPr b="1">
                    <a:latin typeface="Courier"/>
                  </a:rPr>
                  <a:t>ggplot()</a:t>
                </a:r>
              </a:p>
              <a:p>
                <a:pPr lvl="0" indent="0" marL="0">
                  <a:buNone/>
                </a:pPr>
                <a:r>
                  <a:rPr/>
                  <a:t>Bar plots are typically used to visualize the frequency distribution for a categorical variable.</a:t>
                </a:r>
              </a:p>
              <a:p>
                <a:pPr lvl="0" indent="0" marL="1270000">
                  <a:buNone/>
                </a:pPr>
                <a:r>
                  <a:rPr sz="2000" b="1"/>
                  <a:t>Important</a:t>
                </a:r>
              </a:p>
              <a:p>
                <a:pPr lvl="0" indent="0" marL="1270000">
                  <a:buNone/>
                </a:pPr>
                <a:r>
                  <a:rPr sz="2000">
                    <a:latin typeface="Courier"/>
                  </a:rPr>
                  <a:t>geom_bar()</a:t>
                </a:r>
                <a:r>
                  <a:rPr sz="2000"/>
                  <a:t> is used to create bar plots in the </a:t>
                </a:r>
                <a:r>
                  <a:rPr sz="2000">
                    <a:latin typeface="Courier"/>
                  </a:rPr>
                  <a:t>ggplot2</a:t>
                </a:r>
                <a:r>
                  <a:rPr sz="2000"/>
                  <a:t> package.</a:t>
                </a:r>
              </a:p>
              <a:p>
                <a:pPr lvl="0" indent="0" marL="0">
                  <a:spcBef>
                    <a:spcPts val="3000"/>
                  </a:spcBef>
                  <a:buNone/>
                </a:pPr>
                <a:r>
                  <a:rPr b="1"/>
                  <a:t>Bar plots in </a:t>
                </a:r>
                <a:r>
                  <a:rPr b="1">
                    <a:latin typeface="Courier"/>
                  </a:rPr>
                  <a:t>ggplot()</a:t>
                </a:r>
              </a:p>
              <a:p>
                <a:pPr lvl="0" indent="0" marL="0">
                  <a:spcBef>
                    <a:spcPts val="3000"/>
                  </a:spcBef>
                  <a:buNone/>
                </a:pPr>
                <a:r>
                  <a:rPr b="1"/>
                  <a:t>Example</a:t>
                </a:r>
              </a:p>
              <a:p>
                <a:pPr lvl="0" indent="0" marL="0">
                  <a:buNone/>
                </a:pPr>
                <a:r>
                  <a:rPr/>
                  <a:t>Consider the </a:t>
                </a:r>
                <a:r>
                  <a:rPr>
                    <a:latin typeface="Courier"/>
                  </a:rPr>
                  <a:t>infert</a:t>
                </a:r>
                <a:r>
                  <a:rPr/>
                  <a:t> data set in </a:t>
                </a:r>
                <a:r>
                  <a:rPr>
                    <a:latin typeface="Courier"/>
                  </a:rPr>
                  <a:t>R</a:t>
                </a:r>
                <a:r>
                  <a:rPr/>
                  <a:t>. Suppose we want to visualize the distribution of the education level (in years) in the case-control study.</a:t>
                </a:r>
              </a:p>
              <a:p>
                <a:pPr lvl="0" indent="0" marL="0">
                  <a:buNone/>
                </a:pPr>
              </a:p>
              <a:p>
                <a:pPr lvl="0" indent="-342900" marL="342900">
                  <a:buAutoNum type="arabicPeriod"/>
                </a:pPr>
                <a:r>
                  <a:rPr/>
                  <a:t>Base layer defining what the source data set is (</a:t>
                </a:r>
                <a:r>
                  <a:rPr>
                    <a:latin typeface="Courier"/>
                  </a:rPr>
                  <a:t>data=infert</a:t>
                </a:r>
                <a:r>
                  <a:rPr/>
                  <a:t>) and the aesthetic </a:t>
                </a:r>
                <a:r>
                  <a:rPr>
                    <a:latin typeface="Courier"/>
                  </a:rPr>
                  <a:t>aes(x=education)</a:t>
                </a:r>
                <a:r>
                  <a:rPr/>
                  <a:t>.</a:t>
                </a:r>
              </a:p>
              <a:p>
                <a:pPr lvl="0" indent="-342900" marL="342900">
                  <a:buAutoNum type="arabicPeriod"/>
                </a:pPr>
                <a:r>
                  <a:rPr>
                    <a:latin typeface="Courier"/>
                  </a:rPr>
                  <a:t>geom_bar()</a:t>
                </a:r>
                <a:r>
                  <a:rPr/>
                  <a:t> adds the layer of a bar plot on the base layer.</a:t>
                </a:r>
              </a:p>
              <a:p>
                <a:pPr lvl="0" indent="0" marL="0">
                  <a:spcBef>
                    <a:spcPts val="3000"/>
                  </a:spcBef>
                  <a:buNone/>
                </a:pPr>
                <a:r>
                  <a:rPr b="1"/>
                  <a:t>Notes 1</a:t>
                </a:r>
              </a:p>
              <a:p>
                <a:pPr lvl="0" indent="0" marL="1270000">
                  <a:buNone/>
                </a:pPr>
                <a:r>
                  <a:rPr sz="2000" b="1"/>
                  <a:t>Note</a:t>
                </a:r>
              </a:p>
              <a:p>
                <a:pPr lvl="0" indent="0" marL="1270000">
                  <a:buNone/>
                </a:pPr>
                <a:r>
                  <a:rPr sz="2000"/>
                  <a:t>Like </a:t>
                </a:r>
                <a:r>
                  <a:rPr sz="2000">
                    <a:latin typeface="Courier"/>
                  </a:rPr>
                  <a:t>geom_histogram()</a:t>
                </a:r>
                <a:r>
                  <a:rPr sz="2000"/>
                  <a:t>, you can add other modifications to the histogram (e.g. color, fill, etc.) in the </a:t>
                </a:r>
                <a:r>
                  <a:rPr sz="2000">
                    <a:latin typeface="Courier"/>
                  </a:rPr>
                  <a:t>geom_bar()</a:t>
                </a:r>
                <a:r>
                  <a:rPr sz="2000"/>
                  <a:t> function.</a:t>
                </a:r>
              </a:p>
              <a:p>
                <a:pPr lvl="0" indent="0" marL="0">
                  <a:buNone/>
                </a:pPr>
              </a:p>
              <a:p>
                <a:pPr lvl="0" indent="0" marL="0">
                  <a:spcBef>
                    <a:spcPts val="3000"/>
                  </a:spcBef>
                  <a:buNone/>
                </a:pPr>
                <a:r>
                  <a:rPr b="1"/>
                  <a:t>Notes 2</a:t>
                </a:r>
              </a:p>
              <a:p>
                <a:pPr lvl="0" indent="0" marL="0">
                  <a:buNone/>
                </a:pPr>
                <a:r>
                  <a:rPr/>
                  <a:t>You can create side-by-side bar plots by facetting. </a:t>
                </a:r>
                <a:r>
                  <a:rPr>
                    <a:latin typeface="Courier"/>
                  </a:rPr>
                  <a:t>facet_wrap</a:t>
                </a:r>
                <a:r>
                  <a:rPr/>
                  <a:t> allows you to create bar plots across the levels of another variable of interest. Suppose we want to visualize the distribution of education level for the case (1) and control (0) groups.</a:t>
                </a:r>
              </a:p>
              <a:p>
                <a:pPr lvl="0" indent="0" marL="0">
                  <a:buNone/>
                </a:pPr>
              </a:p>
              <a:p>
                <a:pPr lvl="0" indent="0" marL="0">
                  <a:spcBef>
                    <a:spcPts val="3000"/>
                  </a:spcBef>
                  <a:buNone/>
                </a:pPr>
                <a:r>
                  <a:rPr b="1"/>
                  <a:t>Boxplots</a:t>
                </a:r>
              </a:p>
              <a:p>
                <a:pPr lvl="0" indent="0" marL="0">
                  <a:buNone/>
                </a:pPr>
                <a:r>
                  <a:rPr/>
                  <a:t>Boxplots are another way to visualize the distribution of a numerical value. Boxplots are constructed from the information provided in the five-number summary.</a:t>
                </a:r>
              </a:p>
              <a:p>
                <a:pPr lvl="0" indent="0" marL="1270000">
                  <a:buNone/>
                </a:pPr>
                <a:r>
                  <a:rPr sz="2000" b="1"/>
                  <a:t>Five-Number Summary</a:t>
                </a:r>
              </a:p>
              <a:p>
                <a:pPr lvl="0" indent="0" marL="1270000">
                  <a:buNone/>
                </a:pPr>
                <a:r>
                  <a:rPr sz="2000"/>
                  <a:t>The five-number summary of a set of values include the following statistics:</a:t>
                </a:r>
              </a:p>
              <a:p>
                <a:pPr lvl="0"/>
                <a:r>
                  <a:rPr sz="2000"/>
                  <a:t>Minimum</a:t>
                </a:r>
              </a:p>
              <a:p>
                <a:pPr lvl="0"/>
                <a:r>
                  <a:rPr sz="2000"/>
                  <a:t>First Quartile</a:t>
                </a:r>
              </a:p>
              <a:p>
                <a:pPr lvl="0"/>
                <a:r>
                  <a:rPr sz="2000"/>
                  <a:t>Median</a:t>
                </a:r>
              </a:p>
              <a:p>
                <a:pPr lvl="0"/>
                <a:r>
                  <a:rPr sz="2000"/>
                  <a:t>Third Quartile</a:t>
                </a:r>
              </a:p>
              <a:p>
                <a:pPr lvl="0"/>
                <a:r>
                  <a:rPr sz="2000"/>
                  <a:t>Maximum</a:t>
                </a:r>
              </a:p>
              <a:p>
                <a:pPr lvl="0" indent="0" marL="0">
                  <a:spcBef>
                    <a:spcPts val="3000"/>
                  </a:spcBef>
                  <a:buNone/>
                </a:pPr>
                <a:r>
                  <a:rPr b="1"/>
                  <a:t>Boxplots in </a:t>
                </a:r>
                <a:r>
                  <a:rPr b="1">
                    <a:latin typeface="Courier"/>
                  </a:rPr>
                  <a:t>ggplot()</a:t>
                </a:r>
              </a:p>
              <a:p>
                <a:pPr lvl="0" indent="0" marL="1270000">
                  <a:buNone/>
                </a:pPr>
                <a:r>
                  <a:rPr sz="2000" b="1"/>
                  <a:t>Note</a:t>
                </a:r>
              </a:p>
              <a:p>
                <a:pPr lvl="0" indent="0" marL="1270000">
                  <a:buNone/>
                </a:pPr>
                <a:r>
                  <a:rPr sz="2000"/>
                  <a:t>The function </a:t>
                </a:r>
                <a:r>
                  <a:rPr sz="2000">
                    <a:latin typeface="Courier"/>
                  </a:rPr>
                  <a:t>geom_boxplot()</a:t>
                </a:r>
                <a:r>
                  <a:rPr sz="2000"/>
                  <a:t> is used to create boxplots in the </a:t>
                </a:r>
                <a:r>
                  <a:rPr sz="2000">
                    <a:latin typeface="Courier"/>
                  </a:rPr>
                  <a:t>ggplot2</a:t>
                </a:r>
                <a:r>
                  <a:rPr sz="2000"/>
                  <a:t> package.</a:t>
                </a:r>
              </a:p>
              <a:p>
                <a:pPr lvl="0" indent="0" marL="0">
                  <a:buNone/>
                </a:pPr>
                <a:r>
                  <a:rPr/>
                  <a:t>Boxplots can also provide information on how skewed the data distribution is by the location of the median with respect to the “box”.</a:t>
                </a:r>
              </a:p>
              <a:p>
                <a:pPr lvl="0" indent="0" marL="1270000">
                  <a:buNone/>
                </a:pPr>
                <a:r>
                  <a:rPr sz="2000" b="1"/>
                  <a:t>Important</a:t>
                </a:r>
              </a:p>
              <a:p>
                <a:pPr lvl="0" indent="0" marL="1270000">
                  <a:buNone/>
                </a:pPr>
                <a:r>
                  <a:rPr sz="2000"/>
                  <a:t>If the median is closer to the first quartile, the data is right-skewed. If the median is closer to the third quartile, the data is left-skewed. If the median is in the middle, then the data is symmetric/unskewed.</a:t>
                </a:r>
              </a:p>
              <a:p>
                <a:pPr lvl="0" indent="0" marL="0">
                  <a:spcBef>
                    <a:spcPts val="3000"/>
                  </a:spcBef>
                  <a:buNone/>
                </a:pPr>
                <a:r>
                  <a:rPr b="1"/>
                  <a:t>Boxplots in </a:t>
                </a:r>
                <a:r>
                  <a:rPr b="1">
                    <a:latin typeface="Courier"/>
                  </a:rPr>
                  <a:t>ggplot()</a:t>
                </a:r>
              </a:p>
              <a:p>
                <a:pPr lvl="0" indent="0" marL="0">
                  <a:spcBef>
                    <a:spcPts val="3000"/>
                  </a:spcBef>
                  <a:buNone/>
                </a:pPr>
                <a:r>
                  <a:rPr b="1"/>
                  <a:t>Example</a:t>
                </a:r>
              </a:p>
              <a:p>
                <a:pPr lvl="0" indent="0" marL="0">
                  <a:buNone/>
                </a:pPr>
                <a:r>
                  <a:rPr/>
                  <a:t>Consider the </a:t>
                </a:r>
                <a:r>
                  <a:rPr>
                    <a:latin typeface="Courier"/>
                  </a:rPr>
                  <a:t>USArrests</a:t>
                </a:r>
                <a:r>
                  <a:rPr/>
                  <a:t> data set. Create a box plot for the arrest rate for assault as given by the </a:t>
                </a:r>
                <a:r>
                  <a:rPr>
                    <a:latin typeface="Courier"/>
                  </a:rPr>
                  <a:t>Assault</a:t>
                </a:r>
                <a:r>
                  <a:rPr/>
                  <a:t> variable.</a:t>
                </a:r>
              </a:p>
              <a:p>
                <a:pPr lvl="0" indent="0" marL="0">
                  <a:buNone/>
                </a:pPr>
              </a:p>
              <a:p>
                <a:pPr lvl="0" indent="0" marL="0">
                  <a:buNone/>
                </a:pPr>
                <a:r>
                  <a:rPr/>
                  <a:t>The data appears to be slightly right-skewed because the median is closer to </a:t>
                </a:r>
                <a14:m>
                  <m:oMath xmlns:m="http://schemas.openxmlformats.org/officeDocument/2006/math">
                    <m:sSub>
                      <m:e>
                        <m:r>
                          <m:t>Q</m:t>
                        </m:r>
                      </m:e>
                      <m:sub>
                        <m:r>
                          <m:t>1</m:t>
                        </m:r>
                      </m:sub>
                    </m:sSub>
                  </m:oMath>
                </a14:m>
                <a:r>
                  <a:rPr/>
                  <a:t> than </a:t>
                </a:r>
                <a14:m>
                  <m:oMath xmlns:m="http://schemas.openxmlformats.org/officeDocument/2006/math">
                    <m:sSub>
                      <m:e>
                        <m:r>
                          <m:t>Q</m:t>
                        </m:r>
                      </m:e>
                      <m:sub>
                        <m:r>
                          <m:t>3</m:t>
                        </m:r>
                      </m:sub>
                    </m:sSub>
                  </m:oMath>
                </a14:m>
                <a:r>
                  <a:rPr/>
                  <a:t>.</a:t>
                </a:r>
              </a:p>
              <a:p>
                <a:pPr lvl="0" indent="0" marL="0">
                  <a:spcBef>
                    <a:spcPts val="3000"/>
                  </a:spcBef>
                  <a:buNone/>
                </a:pPr>
                <a:r>
                  <a:rPr b="1"/>
                  <a:t>Notes 1</a:t>
                </a:r>
              </a:p>
              <a:p>
                <a:pPr lvl="0" indent="0" marL="0">
                  <a:buNone/>
                </a:pPr>
                <a:r>
                  <a:rPr/>
                  <a:t>You can also orient boxplots horizontally and overlay the data points using </a:t>
                </a:r>
                <a:r>
                  <a:rPr>
                    <a:latin typeface="Courier"/>
                  </a:rPr>
                  <a:t>geom_point()</a:t>
                </a:r>
                <a:r>
                  <a:rPr/>
                  <a:t>.</a:t>
                </a:r>
              </a:p>
              <a:p>
                <a:pPr lvl="0" indent="0" marL="0">
                  <a:buNone/>
                </a:pPr>
              </a:p>
              <a:p>
                <a:pPr lvl="0" indent="0" marL="0">
                  <a:spcBef>
                    <a:spcPts val="3000"/>
                  </a:spcBef>
                  <a:buNone/>
                </a:pPr>
                <a:r>
                  <a:rPr b="1"/>
                  <a:t>Notes 2</a:t>
                </a:r>
              </a:p>
              <a:p>
                <a:pPr lvl="0" indent="0" marL="0">
                  <a:buNone/>
                </a:pPr>
                <a:r>
                  <a:rPr/>
                  <a:t>You can also create separate boxplots for different groups as dictated by a separate variable. Consider the </a:t>
                </a:r>
                <a:r>
                  <a:rPr>
                    <a:latin typeface="Courier"/>
                  </a:rPr>
                  <a:t>iris</a:t>
                </a:r>
                <a:r>
                  <a:rPr/>
                  <a:t> data set. I can create side-by-side boxplots of petal lengths corresponding to each species.</a:t>
                </a:r>
              </a:p>
              <a:p>
                <a:pPr lvl="0" indent="0" marL="0">
                  <a:buNone/>
                </a:pPr>
              </a:p>
              <a:p>
                <a:pPr lvl="0" indent="0" marL="0">
                  <a:spcBef>
                    <a:spcPts val="3000"/>
                  </a:spcBef>
                  <a:buNone/>
                </a:pPr>
                <a:r>
                  <a:rPr b="1"/>
                  <a:t>Importing files</a:t>
                </a:r>
              </a:p>
              <a:p>
                <a:pPr lvl="0" indent="0" marL="0">
                  <a:buNone/>
                </a:pPr>
                <a:r>
                  <a:rPr/>
                  <a:t>There are multiple ways to import files into </a:t>
                </a:r>
                <a:r>
                  <a:rPr>
                    <a:latin typeface="Courier"/>
                  </a:rPr>
                  <a:t>R</a:t>
                </a:r>
                <a:r>
                  <a:rPr/>
                  <a:t>. The most common data set format is the </a:t>
                </a:r>
                <a:r>
                  <a:rPr>
                    <a:latin typeface="Courier"/>
                  </a:rPr>
                  <a:t>.csv</a:t>
                </a:r>
                <a:r>
                  <a:rPr/>
                  <a:t> file. You can import CSV files using the </a:t>
                </a:r>
                <a:r>
                  <a:rPr>
                    <a:latin typeface="Courier"/>
                  </a:rPr>
                  <a:t>read.csv(filename)</a:t>
                </a:r>
                <a:r>
                  <a:rPr/>
                  <a:t> function.</a:t>
                </a:r>
              </a:p>
              <a:p>
                <a:pPr lvl="0" indent="0" marL="0">
                  <a:buNone/>
                </a:pPr>
                <a:r>
                  <a:rPr/>
                  <a:t>First, download the file </a:t>
                </a:r>
                <a:r>
                  <a:rPr>
                    <a:latin typeface="Courier"/>
                  </a:rPr>
                  <a:t>SleepHealthData.csv</a:t>
                </a:r>
                <a:r>
                  <a:rPr/>
                  <a:t> from Canvas in the same folder as your R source code.</a:t>
                </a:r>
              </a:p>
              <a:p>
                <a:pPr lvl="0" indent="0">
                  <a:buNone/>
                </a:pPr>
                <a:r>
                  <a:rPr>
                    <a:latin typeface="Courier"/>
                  </a:rPr>
                  <a:t>[1] "C:/Users/migsf/OneDrive/Documents/GitHub/EAB703-Slides-2025"</a:t>
                </a:r>
              </a:p>
              <a:p>
                <a:pPr lvl="0" indent="0">
                  <a:buNone/>
                </a:pPr>
                <a:r>
                  <a:rPr>
                    <a:latin typeface="Courier"/>
                  </a:rPr>
                  <a:t>Rows: 374
Columns: 13
$ person_id               &lt;int&gt; 1, 2, 3, 4, 5, 6, 7, 8, 9, 10, 11, 12, 13, 14,…
$ gender                  &lt;chr&gt; "Male", "Male", "Male", "Male", "Male", "Male"…
$ age                     &lt;int&gt; 27, 28, 28, 28, 28, 28, 29, 29, 29, 29, 29, 29…
$ occupation              &lt;chr&gt; "Software Engineer", "Doctor", "Doctor", "Sale…
$ sleep_duration          &lt;dbl&gt; 6.1, 6.2, 6.2, 5.9, 5.9, 5.9, 6.3, 7.8, 7.8, 7…
$ quality_of_sleep        &lt;int&gt; 6, 6, 6, 4, 4, 4, 6, 7, 7, 7, 6, 7, 6, 6, 6, 6…
$ physical_activity_level &lt;int&gt; 42, 60, 60, 30, 30, 30, 40, 75, 75, 75, 30, 75…
$ stress_level            &lt;int&gt; 6, 8, 8, 8, 8, 8, 7, 6, 6, 6, 8, 6, 8, 8, 8, 8…
$ bmi_category            &lt;chr&gt; "Overweight", "Normal", "Normal", "Obese", "Ob…
$ blood_pressure          &lt;chr&gt; "126/83", "125/80", "125/80", "140/90", "140/9…
$ heart_rate              &lt;int&gt; 77, 75, 75, 85, 85, 85, 82, 70, 70, 70, 70, 70…
$ daily_steps             &lt;int&gt; 4200, 10000, 10000, 3000, 3000, 3000, 3500, 80…
$ sleep_disorder          &lt;chr&gt; "None", "None", "None", "Sleep Apnea", "Sleep …</a:t>
                </a:r>
              </a:p>
              <a:p>
                <a:pPr lvl="0" indent="0" marL="0">
                  <a:spcBef>
                    <a:spcPts val="3000"/>
                  </a:spcBef>
                  <a:buNone/>
                </a:pPr>
                <a:r>
                  <a:rPr b="1"/>
                  <a:t>Exercise</a:t>
                </a:r>
              </a:p>
              <a:p>
                <a:pPr lvl="0" indent="0" marL="0">
                  <a:buNone/>
                </a:pPr>
                <a:r>
                  <a:rPr/>
                  <a:t>We will use the </a:t>
                </a:r>
                <a:r>
                  <a:rPr>
                    <a:latin typeface="Courier"/>
                  </a:rPr>
                  <a:t>sleep</a:t>
                </a:r>
                <a:r>
                  <a:rPr/>
                  <a:t> data set we just imported into </a:t>
                </a:r>
                <a:r>
                  <a:rPr>
                    <a:latin typeface="Courier"/>
                  </a:rPr>
                  <a:t>R</a:t>
                </a:r>
                <a:r>
                  <a:rPr/>
                  <a:t> from the </a:t>
                </a:r>
                <a:r>
                  <a:rPr>
                    <a:latin typeface="Courier"/>
                  </a:rPr>
                  <a:t>csv</a:t>
                </a:r>
                <a:r>
                  <a:rPr/>
                  <a:t> file.</a:t>
                </a:r>
              </a:p>
              <a:p>
                <a:pPr lvl="0" indent="0" marL="0">
                  <a:spcBef>
                    <a:spcPts val="3000"/>
                  </a:spcBef>
                  <a:buNone/>
                </a:pPr>
                <a:r>
                  <a:rPr b="1"/>
                  <a:t>Exercise</a:t>
                </a:r>
              </a:p>
              <a:p>
                <a:pPr lvl="0" indent="0" marL="0">
                  <a:buNone/>
                </a:pPr>
                <a:r>
                  <a:rPr/>
                  <a:t>Create a plot that shows the distribution of sleep duration (</a:t>
                </a:r>
                <a:r>
                  <a:rPr>
                    <a:latin typeface="Courier"/>
                  </a:rPr>
                  <a:t>sleep_duration</a:t>
                </a:r>
                <a:r>
                  <a:rPr/>
                  <a:t>) for different sleep disorders (</a:t>
                </a:r>
                <a:r>
                  <a:rPr>
                    <a:latin typeface="Courier"/>
                  </a:rPr>
                  <a:t>sleep_disorder</a:t>
                </a:r>
                <a:r>
                  <a:rPr/>
                  <a:t>).</a:t>
                </a:r>
              </a:p>
              <a:p>
                <a:pPr lvl="0" indent="0" marL="0">
                  <a:spcBef>
                    <a:spcPts val="3000"/>
                  </a:spcBef>
                  <a:buNone/>
                </a:pPr>
                <a:r>
                  <a:rPr b="1"/>
                  <a:t>Answer</a:t>
                </a:r>
              </a:p>
              <a:p>
                <a:pPr lvl="0" indent="0" marL="0">
                  <a:buNone/>
                </a:pPr>
              </a:p>
            </p:txBody>
          </p:sp>
        </mc:Choice>
      </mc:AlternateContent>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Descriptive Statistics</dc:title>
  <dc:creator>Miguel Fudolig</dc:creator>
  <cp:keywords/>
  <dcterms:created xsi:type="dcterms:W3CDTF">2026-01-14T19:50:30Z</dcterms:created>
  <dcterms:modified xsi:type="dcterms:W3CDTF">2026-01-14T19:50:30Z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header-includes">
    <vt:lpwstr/>
  </property>
  <property fmtid="{D5CDD505-2E9C-101B-9397-08002B2CF9AE}" pid="6" name="include-after">
    <vt:lpwstr/>
  </property>
  <property fmtid="{D5CDD505-2E9C-101B-9397-08002B2CF9AE}" pid="7" name="include-before">
    <vt:lpwstr/>
  </property>
  <property fmtid="{D5CDD505-2E9C-101B-9397-08002B2CF9AE}" pid="8" name="labels">
    <vt:lpwstr/>
  </property>
  <property fmtid="{D5CDD505-2E9C-101B-9397-08002B2CF9AE}" pid="9" name="subtitle">
    <vt:lpwstr>Lecture 2</vt:lpwstr>
  </property>
  <property fmtid="{D5CDD505-2E9C-101B-9397-08002B2CF9AE}" pid="10" name="toc-title">
    <vt:lpwstr>Table of contents</vt:lpwstr>
  </property>
</Properties>
</file>